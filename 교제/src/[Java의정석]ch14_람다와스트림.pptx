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283" r:id="rId2"/>
    <p:sldId id="481" r:id="rId3"/>
    <p:sldId id="480" r:id="rId4"/>
    <p:sldId id="482" r:id="rId5"/>
    <p:sldId id="483" r:id="rId6"/>
    <p:sldId id="486" r:id="rId7"/>
    <p:sldId id="488" r:id="rId8"/>
    <p:sldId id="491" r:id="rId9"/>
    <p:sldId id="489" r:id="rId10"/>
    <p:sldId id="490" r:id="rId11"/>
    <p:sldId id="496" r:id="rId12"/>
    <p:sldId id="492" r:id="rId13"/>
    <p:sldId id="493" r:id="rId14"/>
    <p:sldId id="494" r:id="rId15"/>
    <p:sldId id="495" r:id="rId16"/>
    <p:sldId id="497" r:id="rId17"/>
    <p:sldId id="502" r:id="rId18"/>
    <p:sldId id="499" r:id="rId19"/>
    <p:sldId id="504" r:id="rId20"/>
    <p:sldId id="505" r:id="rId21"/>
    <p:sldId id="485" r:id="rId22"/>
    <p:sldId id="536" r:id="rId23"/>
    <p:sldId id="537" r:id="rId24"/>
    <p:sldId id="507" r:id="rId25"/>
    <p:sldId id="509" r:id="rId26"/>
    <p:sldId id="510" r:id="rId27"/>
    <p:sldId id="511" r:id="rId28"/>
    <p:sldId id="512" r:id="rId29"/>
    <p:sldId id="513" r:id="rId30"/>
    <p:sldId id="514" r:id="rId31"/>
    <p:sldId id="515" r:id="rId32"/>
    <p:sldId id="516" r:id="rId33"/>
    <p:sldId id="517" r:id="rId34"/>
    <p:sldId id="535" r:id="rId35"/>
    <p:sldId id="518" r:id="rId36"/>
    <p:sldId id="524" r:id="rId37"/>
    <p:sldId id="519" r:id="rId38"/>
    <p:sldId id="527" r:id="rId39"/>
    <p:sldId id="526" r:id="rId40"/>
    <p:sldId id="529" r:id="rId41"/>
    <p:sldId id="530" r:id="rId42"/>
    <p:sldId id="531" r:id="rId43"/>
    <p:sldId id="533" r:id="rId44"/>
    <p:sldId id="528" r:id="rId45"/>
    <p:sldId id="534" r:id="rId46"/>
    <p:sldId id="522" r:id="rId47"/>
    <p:sldId id="523" r:id="rId48"/>
    <p:sldId id="520" r:id="rId49"/>
  </p:sldIdLst>
  <p:sldSz cx="9144000" cy="6858000" type="screen4x3"/>
  <p:notesSz cx="7104063" cy="10234613"/>
  <p:defaultTextStyle>
    <a:defPPr>
      <a:defRPr lang="ko-KR"/>
    </a:defPPr>
    <a:lvl1pPr algn="l" rtl="0" fontAlgn="base" latinLnBrk="1">
      <a:spcBef>
        <a:spcPct val="50000"/>
      </a:spcBef>
      <a:spcAft>
        <a:spcPct val="0"/>
      </a:spcAft>
      <a:defRPr kumimoji="1" kern="1200">
        <a:solidFill>
          <a:schemeClr val="tx1"/>
        </a:solidFill>
        <a:latin typeface="견명조" pitchFamily="18" charset="-127"/>
        <a:ea typeface="견명조" pitchFamily="18" charset="-127"/>
        <a:cs typeface="+mn-cs"/>
      </a:defRPr>
    </a:lvl1pPr>
    <a:lvl2pPr marL="457200" algn="l" rtl="0" fontAlgn="base" latinLnBrk="1">
      <a:spcBef>
        <a:spcPct val="50000"/>
      </a:spcBef>
      <a:spcAft>
        <a:spcPct val="0"/>
      </a:spcAft>
      <a:defRPr kumimoji="1" kern="1200">
        <a:solidFill>
          <a:schemeClr val="tx1"/>
        </a:solidFill>
        <a:latin typeface="견명조" pitchFamily="18" charset="-127"/>
        <a:ea typeface="견명조" pitchFamily="18" charset="-127"/>
        <a:cs typeface="+mn-cs"/>
      </a:defRPr>
    </a:lvl2pPr>
    <a:lvl3pPr marL="914400" algn="l" rtl="0" fontAlgn="base" latinLnBrk="1">
      <a:spcBef>
        <a:spcPct val="50000"/>
      </a:spcBef>
      <a:spcAft>
        <a:spcPct val="0"/>
      </a:spcAft>
      <a:defRPr kumimoji="1" kern="1200">
        <a:solidFill>
          <a:schemeClr val="tx1"/>
        </a:solidFill>
        <a:latin typeface="견명조" pitchFamily="18" charset="-127"/>
        <a:ea typeface="견명조" pitchFamily="18" charset="-127"/>
        <a:cs typeface="+mn-cs"/>
      </a:defRPr>
    </a:lvl3pPr>
    <a:lvl4pPr marL="1371600" algn="l" rtl="0" fontAlgn="base" latinLnBrk="1">
      <a:spcBef>
        <a:spcPct val="50000"/>
      </a:spcBef>
      <a:spcAft>
        <a:spcPct val="0"/>
      </a:spcAft>
      <a:defRPr kumimoji="1" kern="1200">
        <a:solidFill>
          <a:schemeClr val="tx1"/>
        </a:solidFill>
        <a:latin typeface="견명조" pitchFamily="18" charset="-127"/>
        <a:ea typeface="견명조" pitchFamily="18" charset="-127"/>
        <a:cs typeface="+mn-cs"/>
      </a:defRPr>
    </a:lvl4pPr>
    <a:lvl5pPr marL="1828800" algn="l" rtl="0" fontAlgn="base" latinLnBrk="1">
      <a:spcBef>
        <a:spcPct val="50000"/>
      </a:spcBef>
      <a:spcAft>
        <a:spcPct val="0"/>
      </a:spcAft>
      <a:defRPr kumimoji="1" kern="1200">
        <a:solidFill>
          <a:schemeClr val="tx1"/>
        </a:solidFill>
        <a:latin typeface="견명조" pitchFamily="18" charset="-127"/>
        <a:ea typeface="견명조" pitchFamily="18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견명조" pitchFamily="18" charset="-127"/>
        <a:ea typeface="견명조" pitchFamily="18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견명조" pitchFamily="18" charset="-127"/>
        <a:ea typeface="견명조" pitchFamily="18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견명조" pitchFamily="18" charset="-127"/>
        <a:ea typeface="견명조" pitchFamily="18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견명조" pitchFamily="18" charset="-127"/>
        <a:ea typeface="견명조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5">
          <p15:clr>
            <a:srgbClr val="A4A3A4"/>
          </p15:clr>
        </p15:guide>
        <p15:guide id="2" pos="575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342F8"/>
    <a:srgbClr val="99FF66"/>
    <a:srgbClr val="99FF33"/>
    <a:srgbClr val="CCFF33"/>
    <a:srgbClr val="FFFF66"/>
    <a:srgbClr val="FAFA40"/>
    <a:srgbClr val="817051"/>
    <a:srgbClr val="DAD2C4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82" autoAdjust="0"/>
    <p:restoredTop sz="94492" autoAdjust="0"/>
  </p:normalViewPr>
  <p:slideViewPr>
    <p:cSldViewPr>
      <p:cViewPr varScale="1">
        <p:scale>
          <a:sx n="66" d="100"/>
          <a:sy n="66" d="100"/>
        </p:scale>
        <p:origin x="1552" y="44"/>
      </p:cViewPr>
      <p:guideLst>
        <p:guide orient="horz" pos="4315"/>
        <p:guide pos="575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2"/>
            <a:ext cx="3078428" cy="511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136" tIns="48067" rIns="96136" bIns="48067" numCol="1" anchor="t" anchorCtr="0" compatLnSpc="1">
            <a:prstTxWarp prst="textNoShape">
              <a:avLst/>
            </a:prstTxWarp>
          </a:bodyPr>
          <a:lstStyle>
            <a:lvl1pPr defTabSz="961124">
              <a:spcBef>
                <a:spcPct val="0"/>
              </a:spcBef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3992" y="2"/>
            <a:ext cx="3078428" cy="511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136" tIns="48067" rIns="96136" bIns="48067" numCol="1" anchor="t" anchorCtr="0" compatLnSpc="1">
            <a:prstTxWarp prst="textNoShape">
              <a:avLst/>
            </a:prstTxWarp>
          </a:bodyPr>
          <a:lstStyle>
            <a:lvl1pPr algn="r" defTabSz="961124">
              <a:spcBef>
                <a:spcPct val="0"/>
              </a:spcBef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84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6950" y="769938"/>
            <a:ext cx="5114925" cy="38369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8766" y="4859706"/>
            <a:ext cx="5686539" cy="4606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136" tIns="48067" rIns="96136" bIns="480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829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721027"/>
            <a:ext cx="3078428" cy="511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136" tIns="48067" rIns="96136" bIns="48067" numCol="1" anchor="b" anchorCtr="0" compatLnSpc="1">
            <a:prstTxWarp prst="textNoShape">
              <a:avLst/>
            </a:prstTxWarp>
          </a:bodyPr>
          <a:lstStyle>
            <a:lvl1pPr defTabSz="961124">
              <a:spcBef>
                <a:spcPct val="0"/>
              </a:spcBef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29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3992" y="9721027"/>
            <a:ext cx="3078428" cy="511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136" tIns="48067" rIns="96136" bIns="48067" numCol="1" anchor="b" anchorCtr="0" compatLnSpc="1">
            <a:prstTxWarp prst="textNoShape">
              <a:avLst/>
            </a:prstTxWarp>
          </a:bodyPr>
          <a:lstStyle>
            <a:lvl1pPr algn="r" defTabSz="961124">
              <a:spcBef>
                <a:spcPct val="0"/>
              </a:spcBef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1840F2BE-530A-4E29-AA99-74D89923F50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90929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2C953AA-B714-40FD-BFC5-4F534617F192}" type="slidenum">
              <a:rPr lang="en-US" altLang="ko-KR" smtClean="0">
                <a:latin typeface="굴림" charset="-127"/>
                <a:ea typeface="굴림" charset="-127"/>
              </a:rPr>
              <a:pPr/>
              <a:t>1</a:t>
            </a:fld>
            <a:endParaRPr lang="en-US" altLang="ko-KR" smtClean="0">
              <a:latin typeface="굴림" charset="-127"/>
              <a:ea typeface="굴림" charset="-127"/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21174087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7A0B7C0-4A75-4256-A2B7-63B4AE5F6C5C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2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3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63507D4-D4AC-4C71-AE1A-F63A1BF2E2C1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2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075" tIns="48038" rIns="96075" bIns="48038"/>
          <a:lstStyle/>
          <a:p>
            <a:pPr eaLnBrk="1" hangingPunct="1"/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41226987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7A0B7C0-4A75-4256-A2B7-63B4AE5F6C5C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3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3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63507D4-D4AC-4C71-AE1A-F63A1BF2E2C1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3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075" tIns="48038" rIns="96075" bIns="48038"/>
          <a:lstStyle/>
          <a:p>
            <a:pPr eaLnBrk="1" hangingPunct="1"/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39816890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7A0B7C0-4A75-4256-A2B7-63B4AE5F6C5C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4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3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63507D4-D4AC-4C71-AE1A-F63A1BF2E2C1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4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075" tIns="48038" rIns="96075" bIns="48038"/>
          <a:lstStyle/>
          <a:p>
            <a:pPr eaLnBrk="1" hangingPunct="1"/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22907983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7A0B7C0-4A75-4256-A2B7-63B4AE5F6C5C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5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3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63507D4-D4AC-4C71-AE1A-F63A1BF2E2C1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5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075" tIns="48038" rIns="96075" bIns="48038"/>
          <a:lstStyle/>
          <a:p>
            <a:pPr eaLnBrk="1" hangingPunct="1"/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25974586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7A0B7C0-4A75-4256-A2B7-63B4AE5F6C5C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6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3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63507D4-D4AC-4C71-AE1A-F63A1BF2E2C1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6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075" tIns="48038" rIns="96075" bIns="48038"/>
          <a:lstStyle/>
          <a:p>
            <a:pPr eaLnBrk="1" hangingPunct="1"/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5056036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7A0B7C0-4A75-4256-A2B7-63B4AE5F6C5C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7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3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63507D4-D4AC-4C71-AE1A-F63A1BF2E2C1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7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075" tIns="48038" rIns="96075" bIns="48038"/>
          <a:lstStyle/>
          <a:p>
            <a:pPr eaLnBrk="1" hangingPunct="1"/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25625916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7A0B7C0-4A75-4256-A2B7-63B4AE5F6C5C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8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3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63507D4-D4AC-4C71-AE1A-F63A1BF2E2C1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8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075" tIns="48038" rIns="96075" bIns="48038"/>
          <a:lstStyle/>
          <a:p>
            <a:pPr eaLnBrk="1" hangingPunct="1"/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28579397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7A0B7C0-4A75-4256-A2B7-63B4AE5F6C5C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9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3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63507D4-D4AC-4C71-AE1A-F63A1BF2E2C1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9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075" tIns="48038" rIns="96075" bIns="48038"/>
          <a:lstStyle/>
          <a:p>
            <a:pPr eaLnBrk="1" hangingPunct="1"/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37574117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7A0B7C0-4A75-4256-A2B7-63B4AE5F6C5C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10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3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63507D4-D4AC-4C71-AE1A-F63A1BF2E2C1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10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075" tIns="48038" rIns="96075" bIns="48038"/>
          <a:lstStyle/>
          <a:p>
            <a:pPr eaLnBrk="1" hangingPunct="1"/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34699303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7A0B7C0-4A75-4256-A2B7-63B4AE5F6C5C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11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3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63507D4-D4AC-4C71-AE1A-F63A1BF2E2C1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11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075" tIns="48038" rIns="96075" bIns="48038"/>
          <a:lstStyle/>
          <a:p>
            <a:pPr eaLnBrk="1" hangingPunct="1"/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23691405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7A0B7C0-4A75-4256-A2B7-63B4AE5F6C5C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12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3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63507D4-D4AC-4C71-AE1A-F63A1BF2E2C1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12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075" tIns="48038" rIns="96075" bIns="48038"/>
          <a:lstStyle/>
          <a:p>
            <a:pPr eaLnBrk="1" hangingPunct="1"/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15414559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7A0B7C0-4A75-4256-A2B7-63B4AE5F6C5C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13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3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63507D4-D4AC-4C71-AE1A-F63A1BF2E2C1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13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075" tIns="48038" rIns="96075" bIns="48038"/>
          <a:lstStyle/>
          <a:p>
            <a:pPr eaLnBrk="1" hangingPunct="1"/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40610852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7A0B7C0-4A75-4256-A2B7-63B4AE5F6C5C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14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3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63507D4-D4AC-4C71-AE1A-F63A1BF2E2C1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14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075" tIns="48038" rIns="96075" bIns="48038"/>
          <a:lstStyle/>
          <a:p>
            <a:pPr eaLnBrk="1" hangingPunct="1"/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21696186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7A0B7C0-4A75-4256-A2B7-63B4AE5F6C5C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15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3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63507D4-D4AC-4C71-AE1A-F63A1BF2E2C1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15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075" tIns="48038" rIns="96075" bIns="48038"/>
          <a:lstStyle/>
          <a:p>
            <a:pPr eaLnBrk="1" hangingPunct="1"/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493000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7A0B7C0-4A75-4256-A2B7-63B4AE5F6C5C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16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3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63507D4-D4AC-4C71-AE1A-F63A1BF2E2C1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16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075" tIns="48038" rIns="96075" bIns="48038"/>
          <a:lstStyle/>
          <a:p>
            <a:pPr eaLnBrk="1" hangingPunct="1"/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2974300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7A0B7C0-4A75-4256-A2B7-63B4AE5F6C5C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17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3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63507D4-D4AC-4C71-AE1A-F63A1BF2E2C1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17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075" tIns="48038" rIns="96075" bIns="48038"/>
          <a:lstStyle/>
          <a:p>
            <a:pPr eaLnBrk="1" hangingPunct="1"/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11505247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7A0B7C0-4A75-4256-A2B7-63B4AE5F6C5C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18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3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63507D4-D4AC-4C71-AE1A-F63A1BF2E2C1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18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075" tIns="48038" rIns="96075" bIns="48038"/>
          <a:lstStyle/>
          <a:p>
            <a:pPr eaLnBrk="1" hangingPunct="1"/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19893485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7A0B7C0-4A75-4256-A2B7-63B4AE5F6C5C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19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3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63507D4-D4AC-4C71-AE1A-F63A1BF2E2C1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19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075" tIns="48038" rIns="96075" bIns="48038"/>
          <a:lstStyle/>
          <a:p>
            <a:pPr eaLnBrk="1" hangingPunct="1"/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378100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7A0B7C0-4A75-4256-A2B7-63B4AE5F6C5C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20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3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63507D4-D4AC-4C71-AE1A-F63A1BF2E2C1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20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075" tIns="48038" rIns="96075" bIns="48038"/>
          <a:lstStyle/>
          <a:p>
            <a:pPr eaLnBrk="1" hangingPunct="1"/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28341134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7A0B7C0-4A75-4256-A2B7-63B4AE5F6C5C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21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3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63507D4-D4AC-4C71-AE1A-F63A1BF2E2C1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21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075" tIns="48038" rIns="96075" bIns="48038"/>
          <a:lstStyle/>
          <a:p>
            <a:pPr eaLnBrk="1" hangingPunct="1"/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30771407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7A0B7C0-4A75-4256-A2B7-63B4AE5F6C5C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22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3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63507D4-D4AC-4C71-AE1A-F63A1BF2E2C1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22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075" tIns="48038" rIns="96075" bIns="48038"/>
          <a:lstStyle/>
          <a:p>
            <a:pPr eaLnBrk="1" hangingPunct="1"/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12217190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7A0B7C0-4A75-4256-A2B7-63B4AE5F6C5C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23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3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63507D4-D4AC-4C71-AE1A-F63A1BF2E2C1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23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075" tIns="48038" rIns="96075" bIns="48038"/>
          <a:lstStyle/>
          <a:p>
            <a:pPr eaLnBrk="1" hangingPunct="1"/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31314331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7A0B7C0-4A75-4256-A2B7-63B4AE5F6C5C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24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3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63507D4-D4AC-4C71-AE1A-F63A1BF2E2C1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24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075" tIns="48038" rIns="96075" bIns="48038"/>
          <a:lstStyle/>
          <a:p>
            <a:pPr eaLnBrk="1" hangingPunct="1"/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2465845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7A0B7C0-4A75-4256-A2B7-63B4AE5F6C5C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25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3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63507D4-D4AC-4C71-AE1A-F63A1BF2E2C1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25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075" tIns="48038" rIns="96075" bIns="48038"/>
          <a:lstStyle/>
          <a:p>
            <a:pPr eaLnBrk="1" hangingPunct="1"/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9573736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7A0B7C0-4A75-4256-A2B7-63B4AE5F6C5C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26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3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63507D4-D4AC-4C71-AE1A-F63A1BF2E2C1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26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075" tIns="48038" rIns="96075" bIns="48038"/>
          <a:lstStyle/>
          <a:p>
            <a:pPr eaLnBrk="1" hangingPunct="1"/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35428462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7A0B7C0-4A75-4256-A2B7-63B4AE5F6C5C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27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3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63507D4-D4AC-4C71-AE1A-F63A1BF2E2C1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27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075" tIns="48038" rIns="96075" bIns="48038"/>
          <a:lstStyle/>
          <a:p>
            <a:pPr eaLnBrk="1" hangingPunct="1"/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16394814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7A0B7C0-4A75-4256-A2B7-63B4AE5F6C5C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28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3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63507D4-D4AC-4C71-AE1A-F63A1BF2E2C1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28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075" tIns="48038" rIns="96075" bIns="48038"/>
          <a:lstStyle/>
          <a:p>
            <a:pPr eaLnBrk="1" hangingPunct="1"/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16745774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7A0B7C0-4A75-4256-A2B7-63B4AE5F6C5C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29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3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63507D4-D4AC-4C71-AE1A-F63A1BF2E2C1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29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075" tIns="48038" rIns="96075" bIns="48038"/>
          <a:lstStyle/>
          <a:p>
            <a:pPr eaLnBrk="1" hangingPunct="1"/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368473479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7A0B7C0-4A75-4256-A2B7-63B4AE5F6C5C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30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3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63507D4-D4AC-4C71-AE1A-F63A1BF2E2C1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30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075" tIns="48038" rIns="96075" bIns="48038"/>
          <a:lstStyle/>
          <a:p>
            <a:pPr eaLnBrk="1" hangingPunct="1"/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346830202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7A0B7C0-4A75-4256-A2B7-63B4AE5F6C5C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31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3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63507D4-D4AC-4C71-AE1A-F63A1BF2E2C1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31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075" tIns="48038" rIns="96075" bIns="48038"/>
          <a:lstStyle/>
          <a:p>
            <a:pPr eaLnBrk="1" hangingPunct="1"/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60165372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7A0B7C0-4A75-4256-A2B7-63B4AE5F6C5C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32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3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63507D4-D4AC-4C71-AE1A-F63A1BF2E2C1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32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075" tIns="48038" rIns="96075" bIns="48038"/>
          <a:lstStyle/>
          <a:p>
            <a:pPr eaLnBrk="1" hangingPunct="1"/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358368213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7A0B7C0-4A75-4256-A2B7-63B4AE5F6C5C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33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3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63507D4-D4AC-4C71-AE1A-F63A1BF2E2C1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33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075" tIns="48038" rIns="96075" bIns="48038"/>
          <a:lstStyle/>
          <a:p>
            <a:pPr eaLnBrk="1" hangingPunct="1"/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110523183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7A0B7C0-4A75-4256-A2B7-63B4AE5F6C5C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34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3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63507D4-D4AC-4C71-AE1A-F63A1BF2E2C1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34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075" tIns="48038" rIns="96075" bIns="48038"/>
          <a:lstStyle/>
          <a:p>
            <a:pPr eaLnBrk="1" hangingPunct="1"/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380834033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7A0B7C0-4A75-4256-A2B7-63B4AE5F6C5C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35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3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63507D4-D4AC-4C71-AE1A-F63A1BF2E2C1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35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075" tIns="48038" rIns="96075" bIns="48038"/>
          <a:lstStyle/>
          <a:p>
            <a:pPr eaLnBrk="1" hangingPunct="1"/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296886308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7A0B7C0-4A75-4256-A2B7-63B4AE5F6C5C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36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3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63507D4-D4AC-4C71-AE1A-F63A1BF2E2C1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36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075" tIns="48038" rIns="96075" bIns="48038"/>
          <a:lstStyle/>
          <a:p>
            <a:pPr eaLnBrk="1" hangingPunct="1"/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186401024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7A0B7C0-4A75-4256-A2B7-63B4AE5F6C5C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37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3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63507D4-D4AC-4C71-AE1A-F63A1BF2E2C1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37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075" tIns="48038" rIns="96075" bIns="48038"/>
          <a:lstStyle/>
          <a:p>
            <a:pPr eaLnBrk="1" hangingPunct="1"/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243856293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7A0B7C0-4A75-4256-A2B7-63B4AE5F6C5C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38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3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63507D4-D4AC-4C71-AE1A-F63A1BF2E2C1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38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075" tIns="48038" rIns="96075" bIns="48038"/>
          <a:lstStyle/>
          <a:p>
            <a:pPr eaLnBrk="1" hangingPunct="1"/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122307034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7A0B7C0-4A75-4256-A2B7-63B4AE5F6C5C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39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3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63507D4-D4AC-4C71-AE1A-F63A1BF2E2C1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39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075" tIns="48038" rIns="96075" bIns="48038"/>
          <a:lstStyle/>
          <a:p>
            <a:pPr eaLnBrk="1" hangingPunct="1"/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385981260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7A0B7C0-4A75-4256-A2B7-63B4AE5F6C5C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40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3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63507D4-D4AC-4C71-AE1A-F63A1BF2E2C1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40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075" tIns="48038" rIns="96075" bIns="48038"/>
          <a:lstStyle/>
          <a:p>
            <a:pPr eaLnBrk="1" hangingPunct="1"/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316263494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7A0B7C0-4A75-4256-A2B7-63B4AE5F6C5C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41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3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63507D4-D4AC-4C71-AE1A-F63A1BF2E2C1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41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075" tIns="48038" rIns="96075" bIns="48038"/>
          <a:lstStyle/>
          <a:p>
            <a:pPr eaLnBrk="1" hangingPunct="1"/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16417336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7A0B7C0-4A75-4256-A2B7-63B4AE5F6C5C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42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3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63507D4-D4AC-4C71-AE1A-F63A1BF2E2C1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42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075" tIns="48038" rIns="96075" bIns="48038"/>
          <a:lstStyle/>
          <a:p>
            <a:pPr eaLnBrk="1" hangingPunct="1"/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402295742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7A0B7C0-4A75-4256-A2B7-63B4AE5F6C5C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43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3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63507D4-D4AC-4C71-AE1A-F63A1BF2E2C1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43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075" tIns="48038" rIns="96075" bIns="48038"/>
          <a:lstStyle/>
          <a:p>
            <a:pPr eaLnBrk="1" hangingPunct="1"/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198631408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7A0B7C0-4A75-4256-A2B7-63B4AE5F6C5C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44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3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63507D4-D4AC-4C71-AE1A-F63A1BF2E2C1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44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075" tIns="48038" rIns="96075" bIns="48038"/>
          <a:lstStyle/>
          <a:p>
            <a:pPr eaLnBrk="1" hangingPunct="1"/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336413866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7A0B7C0-4A75-4256-A2B7-63B4AE5F6C5C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45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3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63507D4-D4AC-4C71-AE1A-F63A1BF2E2C1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45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075" tIns="48038" rIns="96075" bIns="48038"/>
          <a:lstStyle/>
          <a:p>
            <a:pPr eaLnBrk="1" hangingPunct="1"/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359118267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7A0B7C0-4A75-4256-A2B7-63B4AE5F6C5C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46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3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63507D4-D4AC-4C71-AE1A-F63A1BF2E2C1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46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075" tIns="48038" rIns="96075" bIns="48038"/>
          <a:lstStyle/>
          <a:p>
            <a:pPr eaLnBrk="1" hangingPunct="1"/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335560954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7A0B7C0-4A75-4256-A2B7-63B4AE5F6C5C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47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3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63507D4-D4AC-4C71-AE1A-F63A1BF2E2C1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47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075" tIns="48038" rIns="96075" bIns="48038"/>
          <a:lstStyle/>
          <a:p>
            <a:pPr eaLnBrk="1" hangingPunct="1"/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305065023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7A0B7C0-4A75-4256-A2B7-63B4AE5F6C5C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48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3" name="Rectangle 7"/>
          <p:cNvSpPr txBox="1">
            <a:spLocks noGrp="1" noChangeArrowheads="1"/>
          </p:cNvSpPr>
          <p:nvPr/>
        </p:nvSpPr>
        <p:spPr bwMode="auto">
          <a:xfrm>
            <a:off x="4023992" y="9722644"/>
            <a:ext cx="3078428" cy="510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075" tIns="48038" rIns="96075" bIns="48038" anchor="b"/>
          <a:lstStyle/>
          <a:p>
            <a:pPr algn="r" defTabSz="948115">
              <a:spcBef>
                <a:spcPct val="0"/>
              </a:spcBef>
            </a:pPr>
            <a:fld id="{C63507D4-D4AC-4C71-AE1A-F63A1BF2E2C1}" type="slidenum">
              <a:rPr lang="en-US" altLang="ko-KR" sz="1200">
                <a:latin typeface="굴림" charset="-127"/>
                <a:ea typeface="굴림" charset="-127"/>
              </a:rPr>
              <a:pPr algn="r" defTabSz="948115">
                <a:spcBef>
                  <a:spcPct val="0"/>
                </a:spcBef>
              </a:pPr>
              <a:t>48</a:t>
            </a:fld>
            <a:endParaRPr lang="en-US" altLang="ko-KR" sz="1200" dirty="0">
              <a:latin typeface="굴림" charset="-127"/>
              <a:ea typeface="굴림" charset="-127"/>
            </a:endParaRPr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075" tIns="48038" rIns="96075" bIns="48038"/>
          <a:lstStyle/>
          <a:p>
            <a:pPr eaLnBrk="1" hangingPunct="1"/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908449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C87891-B86D-4A94-A9E4-688E2FCCBDC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EFEDA5-4CCA-47A4-B806-697BC75FA9D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DBF6F9-3194-441D-B2D0-325B089E868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FEDFE4-9564-4B85-919E-2798084DDDE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297769-35B0-4F57-9562-2C858393762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56B21C-0984-42A4-9340-E0005403B2C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6D3C4E-3773-4558-94CB-1C2FCA06726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8F8128-6D8F-43DB-8756-B5F3C6550C6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26191A-1897-4D0C-B507-299E6F28906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ABB393-FEC8-4CFD-8537-8ADAB74D4EC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9D15AD-B15D-4E5A-9792-7CDE8B4B613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fld id="{86574D01-1D4C-4979-87E5-A80A3CA1128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mailto:castello@naver.com" TargetMode="Externa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863600"/>
          </a:xfrm>
          <a:prstGeom prst="rect">
            <a:avLst/>
          </a:prstGeom>
          <a:solidFill>
            <a:srgbClr val="E4D394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 sz="1400">
              <a:latin typeface="Courier New" pitchFamily="49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0" y="576263"/>
            <a:ext cx="8388350" cy="53975"/>
          </a:xfrm>
          <a:prstGeom prst="rect">
            <a:avLst/>
          </a:prstGeom>
          <a:solidFill>
            <a:srgbClr val="81705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 sz="1400">
              <a:latin typeface="Courier New" pitchFamily="49" charset="0"/>
            </a:endParaRPr>
          </a:p>
        </p:txBody>
      </p:sp>
      <p:grpSp>
        <p:nvGrpSpPr>
          <p:cNvPr id="2052" name="Group 4"/>
          <p:cNvGrpSpPr>
            <a:grpSpLocks/>
          </p:cNvGrpSpPr>
          <p:nvPr/>
        </p:nvGrpSpPr>
        <p:grpSpPr bwMode="auto">
          <a:xfrm>
            <a:off x="7883525" y="42863"/>
            <a:ext cx="1368425" cy="722312"/>
            <a:chOff x="3787" y="1570"/>
            <a:chExt cx="862" cy="455"/>
          </a:xfrm>
        </p:grpSpPr>
        <p:sp>
          <p:nvSpPr>
            <p:cNvPr id="2060" name="Text Box 5"/>
            <p:cNvSpPr txBox="1">
              <a:spLocks noChangeArrowheads="1"/>
            </p:cNvSpPr>
            <p:nvPr/>
          </p:nvSpPr>
          <p:spPr bwMode="auto">
            <a:xfrm>
              <a:off x="3787" y="1570"/>
              <a:ext cx="7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2800">
                  <a:latin typeface="Elephant" pitchFamily="18" charset="0"/>
                  <a:ea typeface="굴림" charset="-127"/>
                </a:rPr>
                <a:t>Java</a:t>
              </a:r>
            </a:p>
          </p:txBody>
        </p:sp>
        <p:sp>
          <p:nvSpPr>
            <p:cNvPr id="2061" name="Text Box 6"/>
            <p:cNvSpPr txBox="1">
              <a:spLocks noChangeArrowheads="1"/>
            </p:cNvSpPr>
            <p:nvPr/>
          </p:nvSpPr>
          <p:spPr bwMode="auto">
            <a:xfrm>
              <a:off x="4308" y="1643"/>
              <a:ext cx="34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1600">
                  <a:latin typeface="HY견고딕" pitchFamily="18" charset="-127"/>
                  <a:ea typeface="HY견고딕" pitchFamily="18" charset="-127"/>
                </a:rPr>
                <a:t>의</a:t>
              </a:r>
            </a:p>
          </p:txBody>
        </p:sp>
        <p:sp>
          <p:nvSpPr>
            <p:cNvPr id="2062" name="Text Box 7"/>
            <p:cNvSpPr txBox="1">
              <a:spLocks noChangeArrowheads="1"/>
            </p:cNvSpPr>
            <p:nvPr/>
          </p:nvSpPr>
          <p:spPr bwMode="auto">
            <a:xfrm>
              <a:off x="4121" y="1775"/>
              <a:ext cx="5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2000">
                  <a:latin typeface="바탕" pitchFamily="18" charset="-127"/>
                  <a:ea typeface="HY견고딕" pitchFamily="18" charset="-127"/>
                </a:rPr>
                <a:t>정석</a:t>
              </a:r>
            </a:p>
          </p:txBody>
        </p:sp>
      </p:grpSp>
      <p:sp>
        <p:nvSpPr>
          <p:cNvPr id="2053" name="Text Box 8"/>
          <p:cNvSpPr txBox="1">
            <a:spLocks noChangeArrowheads="1"/>
          </p:cNvSpPr>
          <p:nvPr/>
        </p:nvSpPr>
        <p:spPr bwMode="auto">
          <a:xfrm>
            <a:off x="6443663" y="620713"/>
            <a:ext cx="2016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 err="1">
                <a:latin typeface="Courier New" pitchFamily="49" charset="0"/>
                <a:ea typeface="굴림" charset="-127"/>
              </a:rPr>
              <a:t>http://</a:t>
            </a:r>
            <a:r>
              <a:rPr lang="en-US" altLang="ko-KR" sz="1000" b="1" dirty="0" err="1" smtClean="0">
                <a:latin typeface="Courier New" pitchFamily="49" charset="0"/>
                <a:ea typeface="굴림" charset="-127"/>
              </a:rPr>
              <a:t>www.codechobo.com</a:t>
            </a:r>
            <a:endParaRPr lang="en-US" altLang="ko-KR" sz="1000" b="1" dirty="0">
              <a:latin typeface="Courier New" pitchFamily="49" charset="0"/>
              <a:ea typeface="굴림" charset="-127"/>
            </a:endParaRPr>
          </a:p>
        </p:txBody>
      </p:sp>
      <p:sp>
        <p:nvSpPr>
          <p:cNvPr id="2054" name="Text Box 9"/>
          <p:cNvSpPr txBox="1">
            <a:spLocks noChangeArrowheads="1"/>
          </p:cNvSpPr>
          <p:nvPr/>
        </p:nvSpPr>
        <p:spPr bwMode="auto">
          <a:xfrm>
            <a:off x="146050" y="188913"/>
            <a:ext cx="5686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Chapter 14. 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람다와 스트림</a:t>
            </a: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(Lambda &amp; Stream)</a:t>
            </a:r>
          </a:p>
        </p:txBody>
      </p:sp>
      <p:sp>
        <p:nvSpPr>
          <p:cNvPr id="2055" name="Text Box 19"/>
          <p:cNvSpPr txBox="1">
            <a:spLocks noChangeArrowheads="1"/>
          </p:cNvSpPr>
          <p:nvPr/>
        </p:nvSpPr>
        <p:spPr bwMode="auto">
          <a:xfrm>
            <a:off x="1476375" y="1774825"/>
            <a:ext cx="63722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ko-KR" sz="6000" b="1" dirty="0"/>
              <a:t>Java</a:t>
            </a:r>
            <a:r>
              <a:rPr lang="ko-KR" altLang="en-US" sz="6000" b="1" dirty="0"/>
              <a:t>의 정석</a:t>
            </a:r>
          </a:p>
        </p:txBody>
      </p:sp>
      <p:sp>
        <p:nvSpPr>
          <p:cNvPr id="2057" name="Text Box 21"/>
          <p:cNvSpPr txBox="1">
            <a:spLocks noChangeArrowheads="1"/>
          </p:cNvSpPr>
          <p:nvPr/>
        </p:nvSpPr>
        <p:spPr bwMode="auto">
          <a:xfrm>
            <a:off x="935038" y="3068638"/>
            <a:ext cx="730885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ko-KR" altLang="en-US" sz="3200" b="1" dirty="0"/>
              <a:t>제 </a:t>
            </a:r>
            <a:r>
              <a:rPr lang="en-US" altLang="ko-KR" sz="3200" b="1" dirty="0"/>
              <a:t>14 </a:t>
            </a:r>
            <a:r>
              <a:rPr lang="ko-KR" altLang="en-US" sz="3200" b="1" dirty="0"/>
              <a:t>장 </a:t>
            </a:r>
          </a:p>
          <a:p>
            <a:pPr algn="ctr"/>
            <a:r>
              <a:rPr lang="ko-KR" altLang="en-US" sz="3200" b="1" dirty="0"/>
              <a:t>람다와 </a:t>
            </a:r>
            <a:r>
              <a:rPr lang="ko-KR" altLang="en-US" sz="3200" b="1" dirty="0" err="1"/>
              <a:t>스트림</a:t>
            </a:r>
            <a:endParaRPr lang="en-US" altLang="ko-KR" sz="3200" b="1" dirty="0"/>
          </a:p>
        </p:txBody>
      </p:sp>
      <p:sp>
        <p:nvSpPr>
          <p:cNvPr id="2059" name="Text Box 21"/>
          <p:cNvSpPr txBox="1">
            <a:spLocks noChangeArrowheads="1"/>
          </p:cNvSpPr>
          <p:nvPr/>
        </p:nvSpPr>
        <p:spPr bwMode="auto">
          <a:xfrm>
            <a:off x="935038" y="4254500"/>
            <a:ext cx="73088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ko-KR" sz="3200" b="1" dirty="0"/>
              <a:t>(Lambda &amp; Stream)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863600"/>
          </a:xfrm>
          <a:prstGeom prst="rect">
            <a:avLst/>
          </a:prstGeom>
          <a:solidFill>
            <a:srgbClr val="E4D394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576263"/>
            <a:ext cx="8388350" cy="53975"/>
          </a:xfrm>
          <a:prstGeom prst="rect">
            <a:avLst/>
          </a:prstGeom>
          <a:solidFill>
            <a:srgbClr val="81705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883525" y="42863"/>
            <a:ext cx="1368425" cy="722312"/>
            <a:chOff x="3787" y="1570"/>
            <a:chExt cx="862" cy="455"/>
          </a:xfrm>
        </p:grpSpPr>
        <p:sp>
          <p:nvSpPr>
            <p:cNvPr id="3090" name="Text Box 5"/>
            <p:cNvSpPr txBox="1">
              <a:spLocks noChangeArrowheads="1"/>
            </p:cNvSpPr>
            <p:nvPr/>
          </p:nvSpPr>
          <p:spPr bwMode="auto">
            <a:xfrm>
              <a:off x="3787" y="1570"/>
              <a:ext cx="7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2800">
                  <a:latin typeface="Elephant" pitchFamily="18" charset="0"/>
                  <a:ea typeface="굴림" charset="-127"/>
                </a:rPr>
                <a:t>Java</a:t>
              </a:r>
            </a:p>
          </p:txBody>
        </p:sp>
        <p:sp>
          <p:nvSpPr>
            <p:cNvPr id="3091" name="Text Box 6"/>
            <p:cNvSpPr txBox="1">
              <a:spLocks noChangeArrowheads="1"/>
            </p:cNvSpPr>
            <p:nvPr/>
          </p:nvSpPr>
          <p:spPr bwMode="auto">
            <a:xfrm>
              <a:off x="4308" y="1643"/>
              <a:ext cx="34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1600">
                  <a:latin typeface="HY견고딕" pitchFamily="18" charset="-127"/>
                  <a:ea typeface="HY견고딕" pitchFamily="18" charset="-127"/>
                </a:rPr>
                <a:t>의</a:t>
              </a:r>
            </a:p>
          </p:txBody>
        </p:sp>
        <p:sp>
          <p:nvSpPr>
            <p:cNvPr id="3092" name="Text Box 7"/>
            <p:cNvSpPr txBox="1">
              <a:spLocks noChangeArrowheads="1"/>
            </p:cNvSpPr>
            <p:nvPr/>
          </p:nvSpPr>
          <p:spPr bwMode="auto">
            <a:xfrm>
              <a:off x="4121" y="1775"/>
              <a:ext cx="5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2000">
                  <a:latin typeface="바탕" pitchFamily="18" charset="-127"/>
                  <a:ea typeface="HY견고딕" pitchFamily="18" charset="-127"/>
                </a:rPr>
                <a:t>정석</a:t>
              </a:r>
            </a:p>
          </p:txBody>
        </p:sp>
      </p:grp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443663" y="620713"/>
            <a:ext cx="2016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 err="1">
                <a:latin typeface="Courier New" pitchFamily="49" charset="0"/>
                <a:ea typeface="굴림" charset="-127"/>
              </a:rPr>
              <a:t>http://</a:t>
            </a:r>
            <a:r>
              <a:rPr lang="en-US" altLang="ko-KR" sz="1000" b="1" dirty="0" err="1" smtClean="0">
                <a:latin typeface="Courier New" pitchFamily="49" charset="0"/>
                <a:ea typeface="굴림" charset="-127"/>
              </a:rPr>
              <a:t>www.codechobo.com</a:t>
            </a:r>
            <a:endParaRPr lang="en-US" altLang="ko-KR" sz="1000" b="1" dirty="0">
              <a:latin typeface="Courier New" pitchFamily="49" charset="0"/>
              <a:ea typeface="굴림" charset="-127"/>
            </a:endParaRPr>
          </a:p>
        </p:txBody>
      </p:sp>
      <p:sp>
        <p:nvSpPr>
          <p:cNvPr id="3078" name="Text Box 19"/>
          <p:cNvSpPr txBox="1">
            <a:spLocks noChangeArrowheads="1"/>
          </p:cNvSpPr>
          <p:nvPr/>
        </p:nvSpPr>
        <p:spPr bwMode="auto">
          <a:xfrm>
            <a:off x="358775" y="1016000"/>
            <a:ext cx="8569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800" b="1" dirty="0"/>
              <a:t>1.1  </a:t>
            </a:r>
            <a:r>
              <a:rPr lang="ko-KR" altLang="en-US" sz="2800" b="1" dirty="0" err="1" smtClean="0"/>
              <a:t>람다식</a:t>
            </a:r>
            <a:r>
              <a:rPr lang="en-US" altLang="ko-KR" sz="2800" b="1" dirty="0" smtClean="0"/>
              <a:t>(Lambda Expression)</a:t>
            </a:r>
            <a:r>
              <a:rPr lang="ko-KR" altLang="en-US" sz="2800" b="1" dirty="0" smtClean="0"/>
              <a:t>이란</a:t>
            </a:r>
            <a:r>
              <a:rPr lang="en-US" altLang="ko-KR" sz="2800" b="1" dirty="0" smtClean="0"/>
              <a:t>?</a:t>
            </a:r>
            <a:endParaRPr lang="en-US" altLang="ko-KR" sz="2800" b="1" dirty="0"/>
          </a:p>
        </p:txBody>
      </p:sp>
      <p:sp>
        <p:nvSpPr>
          <p:cNvPr id="5" name="Text Box 20"/>
          <p:cNvSpPr txBox="1">
            <a:spLocks noChangeArrowheads="1"/>
          </p:cNvSpPr>
          <p:nvPr/>
        </p:nvSpPr>
        <p:spPr bwMode="auto">
          <a:xfrm>
            <a:off x="468313" y="1676376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smtClean="0"/>
              <a:t>함수</a:t>
            </a:r>
            <a:r>
              <a:rPr lang="en-US" altLang="ko-KR" b="1" dirty="0" smtClean="0"/>
              <a:t>(</a:t>
            </a:r>
            <a:r>
              <a:rPr lang="ko-KR" altLang="en-US" b="1" dirty="0" err="1" smtClean="0"/>
              <a:t>메서드</a:t>
            </a:r>
            <a:r>
              <a:rPr lang="en-US" altLang="ko-KR" b="1" dirty="0" smtClean="0"/>
              <a:t>)</a:t>
            </a:r>
            <a:r>
              <a:rPr lang="ko-KR" altLang="en-US" b="1" dirty="0" smtClean="0"/>
              <a:t>를 간단한 </a:t>
            </a:r>
            <a:r>
              <a:rPr lang="en-US" altLang="ko-KR" b="1" dirty="0" smtClean="0"/>
              <a:t>‘</a:t>
            </a:r>
            <a:r>
              <a:rPr lang="ko-KR" altLang="en-US" b="1" dirty="0" smtClean="0"/>
              <a:t>식</a:t>
            </a:r>
            <a:r>
              <a:rPr lang="en-US" altLang="ko-KR" b="1" dirty="0" smtClean="0"/>
              <a:t>(Expression)’</a:t>
            </a:r>
            <a:r>
              <a:rPr lang="ko-KR" altLang="en-US" b="1" dirty="0" smtClean="0"/>
              <a:t>으로 표현하는 방법</a:t>
            </a:r>
            <a:endParaRPr lang="en-US" altLang="ko-KR" b="1" dirty="0"/>
          </a:p>
        </p:txBody>
      </p:sp>
      <p:sp>
        <p:nvSpPr>
          <p:cNvPr id="3089" name="Text Box 9"/>
          <p:cNvSpPr txBox="1">
            <a:spLocks noChangeArrowheads="1"/>
          </p:cNvSpPr>
          <p:nvPr/>
        </p:nvSpPr>
        <p:spPr bwMode="auto">
          <a:xfrm>
            <a:off x="146050" y="188913"/>
            <a:ext cx="5686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Chapter 14. 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람다와 스트림</a:t>
            </a: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(Lambda &amp; Stream)</a:t>
            </a:r>
          </a:p>
        </p:txBody>
      </p:sp>
      <p:sp>
        <p:nvSpPr>
          <p:cNvPr id="21" name="Text Box 20"/>
          <p:cNvSpPr txBox="1">
            <a:spLocks noChangeArrowheads="1"/>
          </p:cNvSpPr>
          <p:nvPr/>
        </p:nvSpPr>
        <p:spPr bwMode="auto">
          <a:xfrm>
            <a:off x="482544" y="3538539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smtClean="0"/>
              <a:t>익명 함수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이름이 없는 함수</a:t>
            </a:r>
            <a:r>
              <a:rPr lang="en-US" altLang="ko-KR" b="1" dirty="0" smtClean="0"/>
              <a:t>, anonymous function)</a:t>
            </a:r>
            <a:endParaRPr lang="en-US" altLang="ko-KR" b="1" dirty="0"/>
          </a:p>
        </p:txBody>
      </p:sp>
      <p:grpSp>
        <p:nvGrpSpPr>
          <p:cNvPr id="3" name="그룹 46"/>
          <p:cNvGrpSpPr/>
          <p:nvPr/>
        </p:nvGrpSpPr>
        <p:grpSpPr>
          <a:xfrm>
            <a:off x="774648" y="2114533"/>
            <a:ext cx="3432222" cy="1241442"/>
            <a:chOff x="559454" y="3355974"/>
            <a:chExt cx="3797352" cy="1460520"/>
          </a:xfrm>
        </p:grpSpPr>
        <p:sp>
          <p:nvSpPr>
            <p:cNvPr id="31" name="모서리가 둥근 직사각형 30"/>
            <p:cNvSpPr/>
            <p:nvPr/>
          </p:nvSpPr>
          <p:spPr bwMode="auto">
            <a:xfrm>
              <a:off x="559454" y="3355974"/>
              <a:ext cx="3797352" cy="146052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628596" y="3502026"/>
              <a:ext cx="3614787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max(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a,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b) {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  return 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a &gt; b ? a : b;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}</a:t>
              </a:r>
            </a:p>
          </p:txBody>
        </p:sp>
      </p:grpSp>
      <p:grpSp>
        <p:nvGrpSpPr>
          <p:cNvPr id="4" name="그룹 57"/>
          <p:cNvGrpSpPr/>
          <p:nvPr/>
        </p:nvGrpSpPr>
        <p:grpSpPr>
          <a:xfrm>
            <a:off x="4097331" y="2260584"/>
            <a:ext cx="4345047" cy="912825"/>
            <a:chOff x="4206870" y="2479662"/>
            <a:chExt cx="4345047" cy="912825"/>
          </a:xfrm>
        </p:grpSpPr>
        <p:sp>
          <p:nvSpPr>
            <p:cNvPr id="34" name="모서리가 둥근 직사각형 33"/>
            <p:cNvSpPr/>
            <p:nvPr/>
          </p:nvSpPr>
          <p:spPr bwMode="auto">
            <a:xfrm>
              <a:off x="4681539" y="2479662"/>
              <a:ext cx="3797352" cy="912825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4937130" y="2771766"/>
              <a:ext cx="361478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 smtClean="0">
                  <a:latin typeface="Courier New" pitchFamily="49" charset="0"/>
                  <a:cs typeface="Courier New" pitchFamily="49" charset="0"/>
                </a:rPr>
                <a:t>(a, b) -&gt; a &gt; b ? a : b</a:t>
              </a:r>
              <a:endParaRPr lang="en-US" b="1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56" name="자유형 55"/>
            <p:cNvSpPr/>
            <p:nvPr/>
          </p:nvSpPr>
          <p:spPr bwMode="auto">
            <a:xfrm flipV="1">
              <a:off x="4206870" y="2808279"/>
              <a:ext cx="730260" cy="307777"/>
            </a:xfrm>
            <a:custGeom>
              <a:avLst/>
              <a:gdLst>
                <a:gd name="connsiteX0" fmla="*/ 0 w 1898676"/>
                <a:gd name="connsiteY0" fmla="*/ 152847 h 611386"/>
                <a:gd name="connsiteX1" fmla="*/ 1471066 w 1898676"/>
                <a:gd name="connsiteY1" fmla="*/ 152847 h 611386"/>
                <a:gd name="connsiteX2" fmla="*/ 1471066 w 1898676"/>
                <a:gd name="connsiteY2" fmla="*/ 0 h 611386"/>
                <a:gd name="connsiteX3" fmla="*/ 1898676 w 1898676"/>
                <a:gd name="connsiteY3" fmla="*/ 305693 h 611386"/>
                <a:gd name="connsiteX4" fmla="*/ 1471066 w 1898676"/>
                <a:gd name="connsiteY4" fmla="*/ 611386 h 611386"/>
                <a:gd name="connsiteX5" fmla="*/ 1471066 w 1898676"/>
                <a:gd name="connsiteY5" fmla="*/ 458540 h 611386"/>
                <a:gd name="connsiteX6" fmla="*/ 0 w 1898676"/>
                <a:gd name="connsiteY6" fmla="*/ 458540 h 611386"/>
                <a:gd name="connsiteX7" fmla="*/ 0 w 1898676"/>
                <a:gd name="connsiteY7" fmla="*/ 152847 h 611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8676" h="611386">
                  <a:moveTo>
                    <a:pt x="0" y="152847"/>
                  </a:moveTo>
                  <a:lnTo>
                    <a:pt x="1471066" y="152847"/>
                  </a:lnTo>
                  <a:lnTo>
                    <a:pt x="1471066" y="0"/>
                  </a:lnTo>
                  <a:lnTo>
                    <a:pt x="1898676" y="305693"/>
                  </a:lnTo>
                  <a:lnTo>
                    <a:pt x="1471066" y="611386"/>
                  </a:lnTo>
                  <a:lnTo>
                    <a:pt x="1471066" y="458540"/>
                  </a:lnTo>
                  <a:lnTo>
                    <a:pt x="0" y="458540"/>
                  </a:lnTo>
                  <a:lnTo>
                    <a:pt x="0" y="152847"/>
                  </a:lnTo>
                  <a:close/>
                </a:path>
              </a:pathLst>
            </a:custGeom>
            <a:solidFill>
              <a:schemeClr val="bg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</p:grpSp>
      <p:sp>
        <p:nvSpPr>
          <p:cNvPr id="59" name="Text Box 20"/>
          <p:cNvSpPr txBox="1">
            <a:spLocks noChangeArrowheads="1"/>
          </p:cNvSpPr>
          <p:nvPr/>
        </p:nvSpPr>
        <p:spPr bwMode="auto">
          <a:xfrm>
            <a:off x="482544" y="5437215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smtClean="0"/>
              <a:t>함수와 </a:t>
            </a:r>
            <a:r>
              <a:rPr lang="ko-KR" altLang="en-US" b="1" dirty="0" err="1" smtClean="0"/>
              <a:t>메서드의</a:t>
            </a:r>
            <a:r>
              <a:rPr lang="ko-KR" altLang="en-US" b="1" dirty="0" smtClean="0"/>
              <a:t> 차이</a:t>
            </a:r>
            <a:endParaRPr lang="en-US" altLang="ko-KR" b="1" dirty="0"/>
          </a:p>
        </p:txBody>
      </p:sp>
      <p:sp>
        <p:nvSpPr>
          <p:cNvPr id="60" name="Text Box 20"/>
          <p:cNvSpPr txBox="1">
            <a:spLocks noChangeArrowheads="1"/>
          </p:cNvSpPr>
          <p:nvPr/>
        </p:nvSpPr>
        <p:spPr bwMode="auto">
          <a:xfrm>
            <a:off x="539750" y="5802345"/>
            <a:ext cx="86042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/>
              <a:t>  - </a:t>
            </a:r>
            <a:r>
              <a:rPr lang="ko-KR" altLang="en-US" b="1" dirty="0" smtClean="0"/>
              <a:t>근본적으로 동일</a:t>
            </a:r>
            <a:r>
              <a:rPr lang="en-US" altLang="ko-KR" b="1" dirty="0" smtClean="0"/>
              <a:t>. </a:t>
            </a:r>
            <a:r>
              <a:rPr lang="ko-KR" altLang="en-US" b="1" dirty="0" smtClean="0"/>
              <a:t>함수는 일반적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용어</a:t>
            </a:r>
            <a:r>
              <a:rPr lang="en-US" altLang="ko-KR" b="1" dirty="0" smtClean="0"/>
              <a:t>, </a:t>
            </a:r>
            <a:r>
              <a:rPr lang="ko-KR" altLang="en-US" b="1" dirty="0" err="1" smtClean="0"/>
              <a:t>메서드는</a:t>
            </a:r>
            <a:r>
              <a:rPr lang="ko-KR" altLang="en-US" b="1" dirty="0" smtClean="0"/>
              <a:t> 객체지향개</a:t>
            </a:r>
            <a:r>
              <a:rPr lang="ko-KR" altLang="en-US" b="1" dirty="0"/>
              <a:t>념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용어</a:t>
            </a:r>
            <a:r>
              <a:rPr lang="en-US" altLang="ko-KR" b="1" dirty="0" smtClean="0"/>
              <a:t> </a:t>
            </a:r>
            <a:endParaRPr lang="en-US" altLang="ko-KR" b="1" dirty="0"/>
          </a:p>
        </p:txBody>
      </p:sp>
      <p:sp>
        <p:nvSpPr>
          <p:cNvPr id="61" name="Text Box 20"/>
          <p:cNvSpPr txBox="1">
            <a:spLocks noChangeArrowheads="1"/>
          </p:cNvSpPr>
          <p:nvPr/>
        </p:nvSpPr>
        <p:spPr bwMode="auto">
          <a:xfrm>
            <a:off x="531875" y="6165893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/>
              <a:t>  - </a:t>
            </a:r>
            <a:r>
              <a:rPr lang="ko-KR" altLang="en-US" b="1" dirty="0" smtClean="0"/>
              <a:t>함수는 클래스에 독립적</a:t>
            </a:r>
            <a:r>
              <a:rPr lang="en-US" altLang="ko-KR" b="1" dirty="0" smtClean="0"/>
              <a:t>, </a:t>
            </a:r>
            <a:r>
              <a:rPr lang="ko-KR" altLang="en-US" b="1" dirty="0" err="1" smtClean="0"/>
              <a:t>메서드는</a:t>
            </a:r>
            <a:r>
              <a:rPr lang="ko-KR" altLang="en-US" b="1" dirty="0" smtClean="0"/>
              <a:t> 클래스에 종속적</a:t>
            </a:r>
            <a:endParaRPr lang="en-US" altLang="ko-KR" b="1" dirty="0"/>
          </a:p>
        </p:txBody>
      </p:sp>
      <p:grpSp>
        <p:nvGrpSpPr>
          <p:cNvPr id="6" name="그룹 61"/>
          <p:cNvGrpSpPr/>
          <p:nvPr/>
        </p:nvGrpSpPr>
        <p:grpSpPr>
          <a:xfrm>
            <a:off x="774648" y="4013208"/>
            <a:ext cx="3432222" cy="1241442"/>
            <a:chOff x="559454" y="3355974"/>
            <a:chExt cx="3797352" cy="1460520"/>
          </a:xfrm>
        </p:grpSpPr>
        <p:sp>
          <p:nvSpPr>
            <p:cNvPr id="63" name="모서리가 둥근 직사각형 62"/>
            <p:cNvSpPr/>
            <p:nvPr/>
          </p:nvSpPr>
          <p:spPr bwMode="auto">
            <a:xfrm>
              <a:off x="559454" y="3355974"/>
              <a:ext cx="3797352" cy="146052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64" name="직사각형 63"/>
            <p:cNvSpPr/>
            <p:nvPr/>
          </p:nvSpPr>
          <p:spPr>
            <a:xfrm>
              <a:off x="628596" y="3502026"/>
              <a:ext cx="3614787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max(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a,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b) {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  return 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a &gt; b ? a : b;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}</a:t>
              </a:r>
            </a:p>
          </p:txBody>
        </p:sp>
      </p:grpSp>
      <p:grpSp>
        <p:nvGrpSpPr>
          <p:cNvPr id="7" name="그룹 56"/>
          <p:cNvGrpSpPr/>
          <p:nvPr/>
        </p:nvGrpSpPr>
        <p:grpSpPr>
          <a:xfrm>
            <a:off x="4060818" y="3940182"/>
            <a:ext cx="4272021" cy="1314468"/>
            <a:chOff x="4170357" y="4451364"/>
            <a:chExt cx="4272021" cy="1460520"/>
          </a:xfrm>
        </p:grpSpPr>
        <p:sp>
          <p:nvSpPr>
            <p:cNvPr id="53" name="모서리가 둥근 직사각형 52"/>
            <p:cNvSpPr/>
            <p:nvPr/>
          </p:nvSpPr>
          <p:spPr bwMode="auto">
            <a:xfrm>
              <a:off x="4608513" y="4451364"/>
              <a:ext cx="3797352" cy="146052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827591" y="4597416"/>
              <a:ext cx="3614787" cy="11969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strike="sngStrike" dirty="0" err="1" smtClean="0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600" b="1" strike="sngStrike" dirty="0" smtClean="0">
                  <a:latin typeface="Courier New" pitchFamily="49" charset="0"/>
                  <a:cs typeface="Courier New" pitchFamily="49" charset="0"/>
                </a:rPr>
                <a:t> max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600" b="1" dirty="0" err="1" smtClean="0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a, </a:t>
              </a:r>
              <a:r>
                <a:rPr lang="en-US" sz="1600" b="1" dirty="0" err="1" smtClean="0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b) </a:t>
              </a:r>
              <a:r>
                <a:rPr lang="en-US" sz="16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-&gt; 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{</a:t>
              </a:r>
            </a:p>
            <a:p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   return a &gt; b ? a : b;</a:t>
              </a:r>
            </a:p>
            <a:p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}</a:t>
              </a:r>
              <a:endParaRPr lang="en-US" sz="1600" b="1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55" name="자유형 54"/>
            <p:cNvSpPr/>
            <p:nvPr/>
          </p:nvSpPr>
          <p:spPr bwMode="auto">
            <a:xfrm flipV="1">
              <a:off x="4170357" y="5035572"/>
              <a:ext cx="730260" cy="307777"/>
            </a:xfrm>
            <a:custGeom>
              <a:avLst/>
              <a:gdLst>
                <a:gd name="connsiteX0" fmla="*/ 0 w 1898676"/>
                <a:gd name="connsiteY0" fmla="*/ 152847 h 611386"/>
                <a:gd name="connsiteX1" fmla="*/ 1471066 w 1898676"/>
                <a:gd name="connsiteY1" fmla="*/ 152847 h 611386"/>
                <a:gd name="connsiteX2" fmla="*/ 1471066 w 1898676"/>
                <a:gd name="connsiteY2" fmla="*/ 0 h 611386"/>
                <a:gd name="connsiteX3" fmla="*/ 1898676 w 1898676"/>
                <a:gd name="connsiteY3" fmla="*/ 305693 h 611386"/>
                <a:gd name="connsiteX4" fmla="*/ 1471066 w 1898676"/>
                <a:gd name="connsiteY4" fmla="*/ 611386 h 611386"/>
                <a:gd name="connsiteX5" fmla="*/ 1471066 w 1898676"/>
                <a:gd name="connsiteY5" fmla="*/ 458540 h 611386"/>
                <a:gd name="connsiteX6" fmla="*/ 0 w 1898676"/>
                <a:gd name="connsiteY6" fmla="*/ 458540 h 611386"/>
                <a:gd name="connsiteX7" fmla="*/ 0 w 1898676"/>
                <a:gd name="connsiteY7" fmla="*/ 152847 h 611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8676" h="611386">
                  <a:moveTo>
                    <a:pt x="0" y="152847"/>
                  </a:moveTo>
                  <a:lnTo>
                    <a:pt x="1471066" y="152847"/>
                  </a:lnTo>
                  <a:lnTo>
                    <a:pt x="1471066" y="0"/>
                  </a:lnTo>
                  <a:lnTo>
                    <a:pt x="1898676" y="305693"/>
                  </a:lnTo>
                  <a:lnTo>
                    <a:pt x="1471066" y="611386"/>
                  </a:lnTo>
                  <a:lnTo>
                    <a:pt x="1471066" y="458540"/>
                  </a:lnTo>
                  <a:lnTo>
                    <a:pt x="0" y="458540"/>
                  </a:lnTo>
                  <a:lnTo>
                    <a:pt x="0" y="152847"/>
                  </a:lnTo>
                  <a:close/>
                </a:path>
              </a:pathLst>
            </a:custGeom>
            <a:solidFill>
              <a:schemeClr val="bg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1" grpId="0"/>
      <p:bldP spid="59" grpId="0"/>
      <p:bldP spid="60" grpId="0"/>
      <p:bldP spid="6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863600"/>
          </a:xfrm>
          <a:prstGeom prst="rect">
            <a:avLst/>
          </a:prstGeom>
          <a:solidFill>
            <a:srgbClr val="E4D394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576263"/>
            <a:ext cx="8388350" cy="53975"/>
          </a:xfrm>
          <a:prstGeom prst="rect">
            <a:avLst/>
          </a:prstGeom>
          <a:solidFill>
            <a:srgbClr val="81705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883525" y="42863"/>
            <a:ext cx="1368425" cy="722312"/>
            <a:chOff x="3787" y="1570"/>
            <a:chExt cx="862" cy="455"/>
          </a:xfrm>
        </p:grpSpPr>
        <p:sp>
          <p:nvSpPr>
            <p:cNvPr id="3090" name="Text Box 5"/>
            <p:cNvSpPr txBox="1">
              <a:spLocks noChangeArrowheads="1"/>
            </p:cNvSpPr>
            <p:nvPr/>
          </p:nvSpPr>
          <p:spPr bwMode="auto">
            <a:xfrm>
              <a:off x="3787" y="1570"/>
              <a:ext cx="7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2800">
                  <a:latin typeface="Elephant" pitchFamily="18" charset="0"/>
                  <a:ea typeface="굴림" charset="-127"/>
                </a:rPr>
                <a:t>Java</a:t>
              </a:r>
            </a:p>
          </p:txBody>
        </p:sp>
        <p:sp>
          <p:nvSpPr>
            <p:cNvPr id="3091" name="Text Box 6"/>
            <p:cNvSpPr txBox="1">
              <a:spLocks noChangeArrowheads="1"/>
            </p:cNvSpPr>
            <p:nvPr/>
          </p:nvSpPr>
          <p:spPr bwMode="auto">
            <a:xfrm>
              <a:off x="4308" y="1643"/>
              <a:ext cx="34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1600">
                  <a:latin typeface="HY견고딕" pitchFamily="18" charset="-127"/>
                  <a:ea typeface="HY견고딕" pitchFamily="18" charset="-127"/>
                </a:rPr>
                <a:t>의</a:t>
              </a:r>
            </a:p>
          </p:txBody>
        </p:sp>
        <p:sp>
          <p:nvSpPr>
            <p:cNvPr id="3092" name="Text Box 7"/>
            <p:cNvSpPr txBox="1">
              <a:spLocks noChangeArrowheads="1"/>
            </p:cNvSpPr>
            <p:nvPr/>
          </p:nvSpPr>
          <p:spPr bwMode="auto">
            <a:xfrm>
              <a:off x="4121" y="1775"/>
              <a:ext cx="5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2000">
                  <a:latin typeface="바탕" pitchFamily="18" charset="-127"/>
                  <a:ea typeface="HY견고딕" pitchFamily="18" charset="-127"/>
                </a:rPr>
                <a:t>정석</a:t>
              </a:r>
            </a:p>
          </p:txBody>
        </p:sp>
      </p:grp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443663" y="620713"/>
            <a:ext cx="2016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 err="1">
                <a:latin typeface="Courier New" pitchFamily="49" charset="0"/>
                <a:ea typeface="굴림" charset="-127"/>
              </a:rPr>
              <a:t>http://</a:t>
            </a:r>
            <a:r>
              <a:rPr lang="en-US" altLang="ko-KR" sz="1000" b="1" dirty="0" err="1" smtClean="0">
                <a:latin typeface="Courier New" pitchFamily="49" charset="0"/>
                <a:ea typeface="굴림" charset="-127"/>
              </a:rPr>
              <a:t>www.codechobo.com</a:t>
            </a:r>
            <a:endParaRPr lang="en-US" altLang="ko-KR" sz="1000" b="1" dirty="0">
              <a:latin typeface="Courier New" pitchFamily="49" charset="0"/>
              <a:ea typeface="굴림" charset="-127"/>
            </a:endParaRPr>
          </a:p>
        </p:txBody>
      </p:sp>
      <p:sp>
        <p:nvSpPr>
          <p:cNvPr id="3078" name="Text Box 19"/>
          <p:cNvSpPr txBox="1">
            <a:spLocks noChangeArrowheads="1"/>
          </p:cNvSpPr>
          <p:nvPr/>
        </p:nvSpPr>
        <p:spPr bwMode="auto">
          <a:xfrm>
            <a:off x="358775" y="1016000"/>
            <a:ext cx="8569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800" b="1" dirty="0" smtClean="0"/>
              <a:t>1.2  </a:t>
            </a:r>
            <a:r>
              <a:rPr lang="ko-KR" altLang="en-US" sz="2800" b="1" dirty="0" err="1" smtClean="0"/>
              <a:t>람다식</a:t>
            </a:r>
            <a:r>
              <a:rPr lang="en-US" altLang="ko-KR" sz="2800" b="1" dirty="0" smtClean="0"/>
              <a:t> </a:t>
            </a:r>
            <a:r>
              <a:rPr lang="ko-KR" altLang="en-US" sz="2800" b="1" dirty="0" smtClean="0"/>
              <a:t>작성하기</a:t>
            </a:r>
            <a:endParaRPr lang="en-US" altLang="ko-KR" sz="2800" b="1" dirty="0"/>
          </a:p>
        </p:txBody>
      </p:sp>
      <p:sp>
        <p:nvSpPr>
          <p:cNvPr id="5" name="Text Box 20"/>
          <p:cNvSpPr txBox="1">
            <a:spLocks noChangeArrowheads="1"/>
          </p:cNvSpPr>
          <p:nvPr/>
        </p:nvSpPr>
        <p:spPr bwMode="auto">
          <a:xfrm>
            <a:off x="468313" y="1676376"/>
            <a:ext cx="86042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b="1" dirty="0" err="1" smtClean="0"/>
              <a:t>메서드의</a:t>
            </a:r>
            <a:r>
              <a:rPr lang="ko-KR" altLang="en-US" b="1" dirty="0" smtClean="0"/>
              <a:t> 이름과 반환타입을 제거하고 </a:t>
            </a:r>
            <a:r>
              <a:rPr lang="en-US" altLang="ko-KR" b="1" dirty="0" smtClean="0"/>
              <a:t>‘-&gt;’</a:t>
            </a:r>
            <a:r>
              <a:rPr lang="ko-KR" altLang="en-US" b="1" dirty="0" smtClean="0"/>
              <a:t>를 블록</a:t>
            </a:r>
            <a:r>
              <a:rPr lang="en-US" altLang="ko-KR" b="1" dirty="0" smtClean="0"/>
              <a:t>{}</a:t>
            </a:r>
            <a:r>
              <a:rPr lang="ko-KR" altLang="en-US" b="1" dirty="0" smtClean="0"/>
              <a:t> 앞에 추가한다</a:t>
            </a:r>
            <a:r>
              <a:rPr lang="en-US" altLang="ko-KR" b="1" dirty="0" smtClean="0"/>
              <a:t>.</a:t>
            </a:r>
          </a:p>
        </p:txBody>
      </p:sp>
      <p:sp>
        <p:nvSpPr>
          <p:cNvPr id="3089" name="Text Box 9"/>
          <p:cNvSpPr txBox="1">
            <a:spLocks noChangeArrowheads="1"/>
          </p:cNvSpPr>
          <p:nvPr/>
        </p:nvSpPr>
        <p:spPr bwMode="auto">
          <a:xfrm>
            <a:off x="146050" y="188913"/>
            <a:ext cx="5686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Chapter 14. 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람다와 스트림</a:t>
            </a: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(Lambda &amp; Stream)</a:t>
            </a:r>
          </a:p>
        </p:txBody>
      </p:sp>
      <p:sp>
        <p:nvSpPr>
          <p:cNvPr id="21" name="Text Box 20"/>
          <p:cNvSpPr txBox="1">
            <a:spLocks noChangeArrowheads="1"/>
          </p:cNvSpPr>
          <p:nvPr/>
        </p:nvSpPr>
        <p:spPr bwMode="auto">
          <a:xfrm>
            <a:off x="482543" y="3538539"/>
            <a:ext cx="90552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66700" indent="-266700"/>
            <a:r>
              <a:rPr lang="en-US" altLang="ko-KR" b="1" dirty="0" smtClean="0"/>
              <a:t>2. </a:t>
            </a:r>
            <a:r>
              <a:rPr lang="ko-KR" altLang="en-US" b="1" dirty="0" err="1" smtClean="0"/>
              <a:t>반환값이</a:t>
            </a:r>
            <a:r>
              <a:rPr lang="ko-KR" altLang="en-US" b="1" dirty="0" smtClean="0"/>
              <a:t> 있는 경우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식이나 값만 적고</a:t>
            </a:r>
            <a:r>
              <a:rPr lang="en-US" altLang="ko-KR" b="1" dirty="0"/>
              <a:t> </a:t>
            </a:r>
            <a:r>
              <a:rPr lang="en-US" altLang="ko-KR" b="1" dirty="0" smtClean="0"/>
              <a:t>return</a:t>
            </a:r>
            <a:r>
              <a:rPr lang="ko-KR" altLang="en-US" b="1" dirty="0" smtClean="0"/>
              <a:t>문 생략 가능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끝에</a:t>
            </a:r>
            <a:r>
              <a:rPr lang="en-US" altLang="ko-KR" b="1" dirty="0" smtClean="0"/>
              <a:t>‘;’</a:t>
            </a:r>
            <a:r>
              <a:rPr lang="ko-KR" altLang="en-US" b="1" dirty="0" smtClean="0"/>
              <a:t>안 붙임</a:t>
            </a:r>
            <a:r>
              <a:rPr lang="en-US" altLang="ko-KR" b="1" dirty="0" smtClean="0"/>
              <a:t>)</a:t>
            </a:r>
            <a:endParaRPr lang="en-US" altLang="ko-KR" b="1" dirty="0"/>
          </a:p>
        </p:txBody>
      </p:sp>
      <p:grpSp>
        <p:nvGrpSpPr>
          <p:cNvPr id="6" name="그룹 61"/>
          <p:cNvGrpSpPr/>
          <p:nvPr/>
        </p:nvGrpSpPr>
        <p:grpSpPr>
          <a:xfrm>
            <a:off x="774648" y="2114532"/>
            <a:ext cx="3432222" cy="1241442"/>
            <a:chOff x="559454" y="3355974"/>
            <a:chExt cx="3797352" cy="1460520"/>
          </a:xfrm>
        </p:grpSpPr>
        <p:sp>
          <p:nvSpPr>
            <p:cNvPr id="63" name="모서리가 둥근 직사각형 62"/>
            <p:cNvSpPr/>
            <p:nvPr/>
          </p:nvSpPr>
          <p:spPr bwMode="auto">
            <a:xfrm>
              <a:off x="559454" y="3355974"/>
              <a:ext cx="3797352" cy="146052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64" name="직사각형 63"/>
            <p:cNvSpPr/>
            <p:nvPr/>
          </p:nvSpPr>
          <p:spPr>
            <a:xfrm>
              <a:off x="628596" y="3502026"/>
              <a:ext cx="3614787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max(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a,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b) {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  return 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a &gt; b ? a : b;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}</a:t>
              </a:r>
            </a:p>
          </p:txBody>
        </p:sp>
      </p:grpSp>
      <p:grpSp>
        <p:nvGrpSpPr>
          <p:cNvPr id="41" name="그룹 40"/>
          <p:cNvGrpSpPr/>
          <p:nvPr/>
        </p:nvGrpSpPr>
        <p:grpSpPr>
          <a:xfrm>
            <a:off x="4060818" y="2041506"/>
            <a:ext cx="4272021" cy="1314468"/>
            <a:chOff x="4060818" y="2041506"/>
            <a:chExt cx="4272021" cy="1314468"/>
          </a:xfrm>
        </p:grpSpPr>
        <p:sp>
          <p:nvSpPr>
            <p:cNvPr id="53" name="모서리가 둥근 직사각형 52"/>
            <p:cNvSpPr/>
            <p:nvPr/>
          </p:nvSpPr>
          <p:spPr bwMode="auto">
            <a:xfrm>
              <a:off x="4498974" y="2041506"/>
              <a:ext cx="3797352" cy="1314468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718052" y="2172953"/>
              <a:ext cx="3614787" cy="10772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strike="sngStrike" dirty="0" err="1" smtClean="0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600" b="1" strike="sngStrike" dirty="0" smtClean="0">
                  <a:latin typeface="Courier New" pitchFamily="49" charset="0"/>
                  <a:cs typeface="Courier New" pitchFamily="49" charset="0"/>
                </a:rPr>
                <a:t> max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600" b="1" dirty="0" err="1" smtClean="0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a, </a:t>
              </a:r>
              <a:r>
                <a:rPr lang="en-US" sz="1600" b="1" dirty="0" err="1" smtClean="0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b) </a:t>
              </a:r>
              <a:r>
                <a:rPr lang="en-US" sz="16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-&gt; 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{</a:t>
              </a:r>
            </a:p>
            <a:p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   return a &gt; b ? a : b;</a:t>
              </a:r>
            </a:p>
            <a:p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}</a:t>
              </a:r>
              <a:endParaRPr lang="en-US" sz="1600" b="1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55" name="자유형 54"/>
            <p:cNvSpPr/>
            <p:nvPr/>
          </p:nvSpPr>
          <p:spPr bwMode="auto">
            <a:xfrm flipV="1">
              <a:off x="4060818" y="2567293"/>
              <a:ext cx="730260" cy="276999"/>
            </a:xfrm>
            <a:custGeom>
              <a:avLst/>
              <a:gdLst>
                <a:gd name="connsiteX0" fmla="*/ 0 w 1898676"/>
                <a:gd name="connsiteY0" fmla="*/ 152847 h 611386"/>
                <a:gd name="connsiteX1" fmla="*/ 1471066 w 1898676"/>
                <a:gd name="connsiteY1" fmla="*/ 152847 h 611386"/>
                <a:gd name="connsiteX2" fmla="*/ 1471066 w 1898676"/>
                <a:gd name="connsiteY2" fmla="*/ 0 h 611386"/>
                <a:gd name="connsiteX3" fmla="*/ 1898676 w 1898676"/>
                <a:gd name="connsiteY3" fmla="*/ 305693 h 611386"/>
                <a:gd name="connsiteX4" fmla="*/ 1471066 w 1898676"/>
                <a:gd name="connsiteY4" fmla="*/ 611386 h 611386"/>
                <a:gd name="connsiteX5" fmla="*/ 1471066 w 1898676"/>
                <a:gd name="connsiteY5" fmla="*/ 458540 h 611386"/>
                <a:gd name="connsiteX6" fmla="*/ 0 w 1898676"/>
                <a:gd name="connsiteY6" fmla="*/ 458540 h 611386"/>
                <a:gd name="connsiteX7" fmla="*/ 0 w 1898676"/>
                <a:gd name="connsiteY7" fmla="*/ 152847 h 611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8676" h="611386">
                  <a:moveTo>
                    <a:pt x="0" y="152847"/>
                  </a:moveTo>
                  <a:lnTo>
                    <a:pt x="1471066" y="152847"/>
                  </a:lnTo>
                  <a:lnTo>
                    <a:pt x="1471066" y="0"/>
                  </a:lnTo>
                  <a:lnTo>
                    <a:pt x="1898676" y="305693"/>
                  </a:lnTo>
                  <a:lnTo>
                    <a:pt x="1471066" y="611386"/>
                  </a:lnTo>
                  <a:lnTo>
                    <a:pt x="1471066" y="458540"/>
                  </a:lnTo>
                  <a:lnTo>
                    <a:pt x="0" y="458540"/>
                  </a:lnTo>
                  <a:lnTo>
                    <a:pt x="0" y="152847"/>
                  </a:lnTo>
                  <a:close/>
                </a:path>
              </a:pathLst>
            </a:custGeom>
            <a:solidFill>
              <a:schemeClr val="bg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</p:grpSp>
      <p:grpSp>
        <p:nvGrpSpPr>
          <p:cNvPr id="30" name="그룹 46"/>
          <p:cNvGrpSpPr/>
          <p:nvPr/>
        </p:nvGrpSpPr>
        <p:grpSpPr>
          <a:xfrm>
            <a:off x="774648" y="3940182"/>
            <a:ext cx="3432222" cy="1241442"/>
            <a:chOff x="559454" y="3355974"/>
            <a:chExt cx="3797352" cy="1460520"/>
          </a:xfrm>
        </p:grpSpPr>
        <p:sp>
          <p:nvSpPr>
            <p:cNvPr id="32" name="모서리가 둥근 직사각형 31"/>
            <p:cNvSpPr/>
            <p:nvPr/>
          </p:nvSpPr>
          <p:spPr bwMode="auto">
            <a:xfrm>
              <a:off x="559454" y="3355974"/>
              <a:ext cx="3797352" cy="146052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628596" y="3502026"/>
              <a:ext cx="3614787" cy="126731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600" b="1" dirty="0" err="1" smtClean="0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a,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b) </a:t>
              </a:r>
              <a:r>
                <a:rPr lang="en-US" sz="16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-&gt;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{</a:t>
              </a:r>
              <a:endParaRPr lang="en-US" sz="1600" b="1" dirty="0"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  </a:t>
              </a:r>
              <a:r>
                <a:rPr lang="en-US" sz="16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return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a &gt; b ? a : b</a:t>
              </a:r>
              <a:r>
                <a:rPr lang="en-US" sz="1600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}</a:t>
              </a:r>
            </a:p>
          </p:txBody>
        </p:sp>
      </p:grpSp>
      <p:grpSp>
        <p:nvGrpSpPr>
          <p:cNvPr id="36" name="그룹 57"/>
          <p:cNvGrpSpPr/>
          <p:nvPr/>
        </p:nvGrpSpPr>
        <p:grpSpPr>
          <a:xfrm>
            <a:off x="4097331" y="4086233"/>
            <a:ext cx="4559216" cy="912825"/>
            <a:chOff x="4206870" y="2479662"/>
            <a:chExt cx="4272021" cy="912825"/>
          </a:xfrm>
        </p:grpSpPr>
        <p:sp>
          <p:nvSpPr>
            <p:cNvPr id="37" name="모서리가 둥근 직사각형 36"/>
            <p:cNvSpPr/>
            <p:nvPr/>
          </p:nvSpPr>
          <p:spPr bwMode="auto">
            <a:xfrm>
              <a:off x="4681539" y="2479662"/>
              <a:ext cx="3797352" cy="912825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4856916" y="2771766"/>
              <a:ext cx="3614787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600" b="1" dirty="0" err="1" smtClean="0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a, </a:t>
              </a:r>
              <a:r>
                <a:rPr lang="en-US" sz="1600" b="1" dirty="0" err="1" smtClean="0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b)</a:t>
              </a:r>
              <a:r>
                <a:rPr lang="en-US" sz="16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-&gt;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a &gt; b ? a : b</a:t>
              </a:r>
              <a:endParaRPr lang="en-US" sz="1600" b="1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39" name="자유형 38"/>
            <p:cNvSpPr/>
            <p:nvPr/>
          </p:nvSpPr>
          <p:spPr bwMode="auto">
            <a:xfrm flipV="1">
              <a:off x="4206870" y="2808279"/>
              <a:ext cx="730260" cy="307777"/>
            </a:xfrm>
            <a:custGeom>
              <a:avLst/>
              <a:gdLst>
                <a:gd name="connsiteX0" fmla="*/ 0 w 1898676"/>
                <a:gd name="connsiteY0" fmla="*/ 152847 h 611386"/>
                <a:gd name="connsiteX1" fmla="*/ 1471066 w 1898676"/>
                <a:gd name="connsiteY1" fmla="*/ 152847 h 611386"/>
                <a:gd name="connsiteX2" fmla="*/ 1471066 w 1898676"/>
                <a:gd name="connsiteY2" fmla="*/ 0 h 611386"/>
                <a:gd name="connsiteX3" fmla="*/ 1898676 w 1898676"/>
                <a:gd name="connsiteY3" fmla="*/ 305693 h 611386"/>
                <a:gd name="connsiteX4" fmla="*/ 1471066 w 1898676"/>
                <a:gd name="connsiteY4" fmla="*/ 611386 h 611386"/>
                <a:gd name="connsiteX5" fmla="*/ 1471066 w 1898676"/>
                <a:gd name="connsiteY5" fmla="*/ 458540 h 611386"/>
                <a:gd name="connsiteX6" fmla="*/ 0 w 1898676"/>
                <a:gd name="connsiteY6" fmla="*/ 458540 h 611386"/>
                <a:gd name="connsiteX7" fmla="*/ 0 w 1898676"/>
                <a:gd name="connsiteY7" fmla="*/ 152847 h 611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8676" h="611386">
                  <a:moveTo>
                    <a:pt x="0" y="152847"/>
                  </a:moveTo>
                  <a:lnTo>
                    <a:pt x="1471066" y="152847"/>
                  </a:lnTo>
                  <a:lnTo>
                    <a:pt x="1471066" y="0"/>
                  </a:lnTo>
                  <a:lnTo>
                    <a:pt x="1898676" y="305693"/>
                  </a:lnTo>
                  <a:lnTo>
                    <a:pt x="1471066" y="611386"/>
                  </a:lnTo>
                  <a:lnTo>
                    <a:pt x="1471066" y="458540"/>
                  </a:lnTo>
                  <a:lnTo>
                    <a:pt x="0" y="458540"/>
                  </a:lnTo>
                  <a:lnTo>
                    <a:pt x="0" y="152847"/>
                  </a:lnTo>
                  <a:close/>
                </a:path>
              </a:pathLst>
            </a:custGeom>
            <a:solidFill>
              <a:schemeClr val="bg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</p:grpSp>
      <p:sp>
        <p:nvSpPr>
          <p:cNvPr id="40" name="Text Box 20"/>
          <p:cNvSpPr txBox="1">
            <a:spLocks noChangeArrowheads="1"/>
          </p:cNvSpPr>
          <p:nvPr/>
        </p:nvSpPr>
        <p:spPr bwMode="auto">
          <a:xfrm>
            <a:off x="482544" y="5327676"/>
            <a:ext cx="86042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3. </a:t>
            </a:r>
            <a:r>
              <a:rPr lang="ko-KR" altLang="en-US" b="1" dirty="0" smtClean="0"/>
              <a:t>매개변수의 타입이 추론 가능하면 생략가능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대부분의 경우 생략가능</a:t>
            </a:r>
            <a:r>
              <a:rPr lang="en-US" altLang="ko-KR" b="1" dirty="0" smtClean="0"/>
              <a:t>)</a:t>
            </a:r>
            <a:endParaRPr lang="en-US" altLang="ko-KR" b="1" dirty="0"/>
          </a:p>
        </p:txBody>
      </p:sp>
      <p:grpSp>
        <p:nvGrpSpPr>
          <p:cNvPr id="52" name="그룹 51"/>
          <p:cNvGrpSpPr/>
          <p:nvPr/>
        </p:nvGrpSpPr>
        <p:grpSpPr>
          <a:xfrm>
            <a:off x="770047" y="5765832"/>
            <a:ext cx="3911491" cy="912825"/>
            <a:chOff x="770046" y="5765832"/>
            <a:chExt cx="4090821" cy="912825"/>
          </a:xfrm>
        </p:grpSpPr>
        <p:sp>
          <p:nvSpPr>
            <p:cNvPr id="49" name="모서리가 둥근 직사각형 48"/>
            <p:cNvSpPr/>
            <p:nvPr/>
          </p:nvSpPr>
          <p:spPr bwMode="auto">
            <a:xfrm>
              <a:off x="770046" y="5765832"/>
              <a:ext cx="4052636" cy="912825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774646" y="6057936"/>
              <a:ext cx="4086221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6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a, </a:t>
              </a:r>
              <a:r>
                <a:rPr lang="en-US" sz="16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b)</a:t>
              </a:r>
              <a:r>
                <a:rPr lang="en-US" sz="16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-&gt;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a &gt; b ? a : b</a:t>
              </a:r>
              <a:endParaRPr lang="en-US" sz="1600" b="1" dirty="0">
                <a:latin typeface="Courier New" pitchFamily="49" charset="0"/>
                <a:cs typeface="Courier New" pitchFamily="49" charset="0"/>
              </a:endParaRPr>
            </a:p>
          </p:txBody>
        </p:sp>
      </p:grpSp>
      <p:grpSp>
        <p:nvGrpSpPr>
          <p:cNvPr id="58" name="그룹 57"/>
          <p:cNvGrpSpPr/>
          <p:nvPr/>
        </p:nvGrpSpPr>
        <p:grpSpPr>
          <a:xfrm>
            <a:off x="4572000" y="5765832"/>
            <a:ext cx="3646391" cy="912825"/>
            <a:chOff x="4572000" y="5765832"/>
            <a:chExt cx="3646391" cy="912825"/>
          </a:xfrm>
        </p:grpSpPr>
        <p:grpSp>
          <p:nvGrpSpPr>
            <p:cNvPr id="57" name="그룹 56"/>
            <p:cNvGrpSpPr/>
            <p:nvPr/>
          </p:nvGrpSpPr>
          <p:grpSpPr>
            <a:xfrm>
              <a:off x="5046669" y="5765832"/>
              <a:ext cx="3171722" cy="912825"/>
              <a:chOff x="4603911" y="5765832"/>
              <a:chExt cx="4099834" cy="912825"/>
            </a:xfrm>
          </p:grpSpPr>
          <p:sp>
            <p:nvSpPr>
              <p:cNvPr id="45" name="모서리가 둥근 직사각형 44"/>
              <p:cNvSpPr/>
              <p:nvPr/>
            </p:nvSpPr>
            <p:spPr bwMode="auto">
              <a:xfrm>
                <a:off x="4603911" y="5765832"/>
                <a:ext cx="4052636" cy="912825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49263" marR="0" indent="-449263" algn="l" defTabSz="914400" rtl="0" eaLnBrk="1" fontAlgn="base" latin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urier New" pitchFamily="49" charset="0"/>
                  <a:ea typeface="견명조" pitchFamily="18" charset="-127"/>
                </a:endParaRPr>
              </a:p>
            </p:txBody>
          </p:sp>
          <p:sp>
            <p:nvSpPr>
              <p:cNvPr id="46" name="직사각형 45"/>
              <p:cNvSpPr/>
              <p:nvPr/>
            </p:nvSpPr>
            <p:spPr>
              <a:xfrm>
                <a:off x="4745505" y="6057936"/>
                <a:ext cx="3958240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b="1" dirty="0" smtClean="0">
                    <a:latin typeface="Courier New" pitchFamily="49" charset="0"/>
                    <a:cs typeface="Courier New" pitchFamily="49" charset="0"/>
                  </a:rPr>
                  <a:t> (a, b)</a:t>
                </a:r>
                <a:r>
                  <a:rPr lang="en-US" sz="1600" b="1" dirty="0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-&gt;</a:t>
                </a:r>
                <a:r>
                  <a:rPr lang="en-US" sz="1600" b="1" dirty="0" smtClean="0">
                    <a:latin typeface="Courier New" pitchFamily="49" charset="0"/>
                    <a:cs typeface="Courier New" pitchFamily="49" charset="0"/>
                  </a:rPr>
                  <a:t> a &gt; b ? a : b</a:t>
                </a:r>
                <a:endParaRPr lang="en-US" sz="1600" b="1" dirty="0"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  <p:sp>
          <p:nvSpPr>
            <p:cNvPr id="47" name="자유형 46"/>
            <p:cNvSpPr/>
            <p:nvPr/>
          </p:nvSpPr>
          <p:spPr bwMode="auto">
            <a:xfrm flipV="1">
              <a:off x="4572000" y="6094449"/>
              <a:ext cx="779353" cy="307777"/>
            </a:xfrm>
            <a:custGeom>
              <a:avLst/>
              <a:gdLst>
                <a:gd name="connsiteX0" fmla="*/ 0 w 1898676"/>
                <a:gd name="connsiteY0" fmla="*/ 152847 h 611386"/>
                <a:gd name="connsiteX1" fmla="*/ 1471066 w 1898676"/>
                <a:gd name="connsiteY1" fmla="*/ 152847 h 611386"/>
                <a:gd name="connsiteX2" fmla="*/ 1471066 w 1898676"/>
                <a:gd name="connsiteY2" fmla="*/ 0 h 611386"/>
                <a:gd name="connsiteX3" fmla="*/ 1898676 w 1898676"/>
                <a:gd name="connsiteY3" fmla="*/ 305693 h 611386"/>
                <a:gd name="connsiteX4" fmla="*/ 1471066 w 1898676"/>
                <a:gd name="connsiteY4" fmla="*/ 611386 h 611386"/>
                <a:gd name="connsiteX5" fmla="*/ 1471066 w 1898676"/>
                <a:gd name="connsiteY5" fmla="*/ 458540 h 611386"/>
                <a:gd name="connsiteX6" fmla="*/ 0 w 1898676"/>
                <a:gd name="connsiteY6" fmla="*/ 458540 h 611386"/>
                <a:gd name="connsiteX7" fmla="*/ 0 w 1898676"/>
                <a:gd name="connsiteY7" fmla="*/ 152847 h 611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8676" h="611386">
                  <a:moveTo>
                    <a:pt x="0" y="152847"/>
                  </a:moveTo>
                  <a:lnTo>
                    <a:pt x="1471066" y="152847"/>
                  </a:lnTo>
                  <a:lnTo>
                    <a:pt x="1471066" y="0"/>
                  </a:lnTo>
                  <a:lnTo>
                    <a:pt x="1898676" y="305693"/>
                  </a:lnTo>
                  <a:lnTo>
                    <a:pt x="1471066" y="611386"/>
                  </a:lnTo>
                  <a:lnTo>
                    <a:pt x="1471066" y="458540"/>
                  </a:lnTo>
                  <a:lnTo>
                    <a:pt x="0" y="458540"/>
                  </a:lnTo>
                  <a:lnTo>
                    <a:pt x="0" y="152847"/>
                  </a:lnTo>
                  <a:close/>
                </a:path>
              </a:pathLst>
            </a:custGeom>
            <a:solidFill>
              <a:schemeClr val="bg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1" grpId="0"/>
      <p:bldP spid="4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863600"/>
          </a:xfrm>
          <a:prstGeom prst="rect">
            <a:avLst/>
          </a:prstGeom>
          <a:solidFill>
            <a:srgbClr val="E4D394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576263"/>
            <a:ext cx="8388350" cy="53975"/>
          </a:xfrm>
          <a:prstGeom prst="rect">
            <a:avLst/>
          </a:prstGeom>
          <a:solidFill>
            <a:srgbClr val="81705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883525" y="42863"/>
            <a:ext cx="1368425" cy="722312"/>
            <a:chOff x="3787" y="1570"/>
            <a:chExt cx="862" cy="455"/>
          </a:xfrm>
        </p:grpSpPr>
        <p:sp>
          <p:nvSpPr>
            <p:cNvPr id="3090" name="Text Box 5"/>
            <p:cNvSpPr txBox="1">
              <a:spLocks noChangeArrowheads="1"/>
            </p:cNvSpPr>
            <p:nvPr/>
          </p:nvSpPr>
          <p:spPr bwMode="auto">
            <a:xfrm>
              <a:off x="3787" y="1570"/>
              <a:ext cx="7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2800">
                  <a:latin typeface="Elephant" pitchFamily="18" charset="0"/>
                  <a:ea typeface="굴림" charset="-127"/>
                </a:rPr>
                <a:t>Java</a:t>
              </a:r>
            </a:p>
          </p:txBody>
        </p:sp>
        <p:sp>
          <p:nvSpPr>
            <p:cNvPr id="3091" name="Text Box 6"/>
            <p:cNvSpPr txBox="1">
              <a:spLocks noChangeArrowheads="1"/>
            </p:cNvSpPr>
            <p:nvPr/>
          </p:nvSpPr>
          <p:spPr bwMode="auto">
            <a:xfrm>
              <a:off x="4308" y="1643"/>
              <a:ext cx="34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1600">
                  <a:latin typeface="HY견고딕" pitchFamily="18" charset="-127"/>
                  <a:ea typeface="HY견고딕" pitchFamily="18" charset="-127"/>
                </a:rPr>
                <a:t>의</a:t>
              </a:r>
            </a:p>
          </p:txBody>
        </p:sp>
        <p:sp>
          <p:nvSpPr>
            <p:cNvPr id="3092" name="Text Box 7"/>
            <p:cNvSpPr txBox="1">
              <a:spLocks noChangeArrowheads="1"/>
            </p:cNvSpPr>
            <p:nvPr/>
          </p:nvSpPr>
          <p:spPr bwMode="auto">
            <a:xfrm>
              <a:off x="4121" y="1775"/>
              <a:ext cx="5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2000">
                  <a:latin typeface="바탕" pitchFamily="18" charset="-127"/>
                  <a:ea typeface="HY견고딕" pitchFamily="18" charset="-127"/>
                </a:rPr>
                <a:t>정석</a:t>
              </a:r>
            </a:p>
          </p:txBody>
        </p:sp>
      </p:grp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443663" y="620713"/>
            <a:ext cx="2016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 err="1">
                <a:latin typeface="Courier New" pitchFamily="49" charset="0"/>
                <a:ea typeface="굴림" charset="-127"/>
              </a:rPr>
              <a:t>http://</a:t>
            </a:r>
            <a:r>
              <a:rPr lang="en-US" altLang="ko-KR" sz="1000" b="1" dirty="0" err="1" smtClean="0">
                <a:latin typeface="Courier New" pitchFamily="49" charset="0"/>
                <a:ea typeface="굴림" charset="-127"/>
              </a:rPr>
              <a:t>www.codechobo.com</a:t>
            </a:r>
            <a:endParaRPr lang="en-US" altLang="ko-KR" sz="1000" b="1" dirty="0">
              <a:latin typeface="Courier New" pitchFamily="49" charset="0"/>
              <a:ea typeface="굴림" charset="-127"/>
            </a:endParaRPr>
          </a:p>
        </p:txBody>
      </p:sp>
      <p:sp>
        <p:nvSpPr>
          <p:cNvPr id="3078" name="Text Box 19"/>
          <p:cNvSpPr txBox="1">
            <a:spLocks noChangeArrowheads="1"/>
          </p:cNvSpPr>
          <p:nvPr/>
        </p:nvSpPr>
        <p:spPr bwMode="auto">
          <a:xfrm>
            <a:off x="358775" y="1016000"/>
            <a:ext cx="8569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800" b="1" dirty="0" smtClean="0"/>
              <a:t>1.2  </a:t>
            </a:r>
            <a:r>
              <a:rPr lang="ko-KR" altLang="en-US" sz="2800" b="1" dirty="0" err="1" smtClean="0"/>
              <a:t>람다식</a:t>
            </a:r>
            <a:r>
              <a:rPr lang="en-US" altLang="ko-KR" sz="2800" b="1" dirty="0" smtClean="0"/>
              <a:t> </a:t>
            </a:r>
            <a:r>
              <a:rPr lang="ko-KR" altLang="en-US" sz="2800" b="1" dirty="0" smtClean="0"/>
              <a:t>작성하기</a:t>
            </a:r>
            <a:r>
              <a:rPr lang="en-US" altLang="ko-KR" sz="2800" b="1" dirty="0" smtClean="0"/>
              <a:t> - </a:t>
            </a:r>
            <a:r>
              <a:rPr lang="ko-KR" altLang="en-US" sz="2800" b="1" dirty="0" smtClean="0"/>
              <a:t>주의사항</a:t>
            </a:r>
            <a:endParaRPr lang="en-US" altLang="ko-KR" sz="2800" b="1" dirty="0"/>
          </a:p>
        </p:txBody>
      </p:sp>
      <p:sp>
        <p:nvSpPr>
          <p:cNvPr id="5" name="Text Box 20"/>
          <p:cNvSpPr txBox="1">
            <a:spLocks noChangeArrowheads="1"/>
          </p:cNvSpPr>
          <p:nvPr/>
        </p:nvSpPr>
        <p:spPr bwMode="auto">
          <a:xfrm>
            <a:off x="468313" y="1676376"/>
            <a:ext cx="86042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b="1" dirty="0" smtClean="0"/>
              <a:t>매개변수가 하나인 경우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괄호</a:t>
            </a:r>
            <a:r>
              <a:rPr lang="en-US" altLang="ko-KR" b="1" dirty="0" smtClean="0"/>
              <a:t>() </a:t>
            </a:r>
            <a:r>
              <a:rPr lang="ko-KR" altLang="en-US" b="1" dirty="0" smtClean="0"/>
              <a:t>생략가능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타입이 없을 때만</a:t>
            </a:r>
            <a:r>
              <a:rPr lang="en-US" altLang="ko-KR" b="1" dirty="0" smtClean="0"/>
              <a:t>)</a:t>
            </a:r>
          </a:p>
        </p:txBody>
      </p:sp>
      <p:sp>
        <p:nvSpPr>
          <p:cNvPr id="3089" name="Text Box 9"/>
          <p:cNvSpPr txBox="1">
            <a:spLocks noChangeArrowheads="1"/>
          </p:cNvSpPr>
          <p:nvPr/>
        </p:nvSpPr>
        <p:spPr bwMode="auto">
          <a:xfrm>
            <a:off x="146050" y="188913"/>
            <a:ext cx="5686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Chapter 14. 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람다와 스트림</a:t>
            </a: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(Lambda &amp; Stream)</a:t>
            </a:r>
          </a:p>
        </p:txBody>
      </p:sp>
      <p:sp>
        <p:nvSpPr>
          <p:cNvPr id="21" name="Text Box 20"/>
          <p:cNvSpPr txBox="1">
            <a:spLocks noChangeArrowheads="1"/>
          </p:cNvSpPr>
          <p:nvPr/>
        </p:nvSpPr>
        <p:spPr bwMode="auto">
          <a:xfrm>
            <a:off x="482544" y="3337633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2. </a:t>
            </a:r>
            <a:r>
              <a:rPr lang="ko-KR" altLang="en-US" b="1" dirty="0" smtClean="0"/>
              <a:t>블록</a:t>
            </a:r>
            <a:r>
              <a:rPr lang="en-US" altLang="ko-KR" b="1" dirty="0"/>
              <a:t> </a:t>
            </a:r>
            <a:r>
              <a:rPr lang="ko-KR" altLang="en-US" b="1" dirty="0" smtClean="0"/>
              <a:t>안의 문장이 하나뿐 일 때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괄호</a:t>
            </a:r>
            <a:r>
              <a:rPr lang="en-US" altLang="ko-KR" b="1" dirty="0" smtClean="0"/>
              <a:t>{}</a:t>
            </a:r>
            <a:r>
              <a:rPr lang="ko-KR" altLang="en-US" b="1" dirty="0" smtClean="0"/>
              <a:t>생략가능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끝에 </a:t>
            </a:r>
            <a:r>
              <a:rPr lang="en-US" altLang="ko-KR" b="1" dirty="0" smtClean="0"/>
              <a:t>‘;’ </a:t>
            </a:r>
            <a:r>
              <a:rPr lang="ko-KR" altLang="en-US" b="1" dirty="0" smtClean="0"/>
              <a:t>안 붙임</a:t>
            </a:r>
            <a:r>
              <a:rPr lang="en-US" altLang="ko-KR" b="1" dirty="0" smtClean="0"/>
              <a:t>)</a:t>
            </a:r>
            <a:endParaRPr lang="en-US" altLang="ko-KR" b="1" dirty="0"/>
          </a:p>
        </p:txBody>
      </p:sp>
      <p:grpSp>
        <p:nvGrpSpPr>
          <p:cNvPr id="3" name="그룹 61"/>
          <p:cNvGrpSpPr/>
          <p:nvPr/>
        </p:nvGrpSpPr>
        <p:grpSpPr>
          <a:xfrm>
            <a:off x="774648" y="2114532"/>
            <a:ext cx="3432222" cy="949338"/>
            <a:chOff x="559454" y="3355974"/>
            <a:chExt cx="3797352" cy="1460520"/>
          </a:xfrm>
        </p:grpSpPr>
        <p:sp>
          <p:nvSpPr>
            <p:cNvPr id="63" name="모서리가 둥근 직사각형 62"/>
            <p:cNvSpPr/>
            <p:nvPr/>
          </p:nvSpPr>
          <p:spPr bwMode="auto">
            <a:xfrm>
              <a:off x="559454" y="3355974"/>
              <a:ext cx="3797352" cy="146052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64" name="직사각형 63"/>
            <p:cNvSpPr/>
            <p:nvPr/>
          </p:nvSpPr>
          <p:spPr>
            <a:xfrm>
              <a:off x="628596" y="3502026"/>
              <a:ext cx="3203044" cy="10890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1600" b="1" dirty="0" smtClean="0">
                  <a:latin typeface="Courier New" pitchFamily="49" charset="0"/>
                  <a:cs typeface="Courier New" pitchFamily="49" charset="0"/>
                </a:rPr>
                <a:t>   </a:t>
              </a:r>
              <a:r>
                <a:rPr lang="pt-BR" sz="16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pt-BR" sz="1600" b="1" dirty="0">
                  <a:latin typeface="Courier New" pitchFamily="49" charset="0"/>
                  <a:cs typeface="Courier New" pitchFamily="49" charset="0"/>
                </a:rPr>
                <a:t>a</a:t>
              </a:r>
              <a:r>
                <a:rPr lang="pt-BR" sz="1600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)</a:t>
              </a:r>
              <a:r>
                <a:rPr lang="pt-BR" sz="1600" b="1" dirty="0">
                  <a:latin typeface="Courier New" pitchFamily="49" charset="0"/>
                  <a:cs typeface="Courier New" pitchFamily="49" charset="0"/>
                </a:rPr>
                <a:t> -&gt; a * </a:t>
              </a:r>
              <a:r>
                <a:rPr lang="pt-BR" sz="1600" b="1" dirty="0" smtClean="0">
                  <a:latin typeface="Courier New" pitchFamily="49" charset="0"/>
                  <a:cs typeface="Courier New" pitchFamily="49" charset="0"/>
                </a:rPr>
                <a:t>a</a:t>
              </a:r>
            </a:p>
            <a:p>
              <a:pPr algn="ctr"/>
              <a:r>
                <a:rPr lang="pt-BR" sz="16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pt-BR" sz="1600" b="1" dirty="0" smtClean="0">
                  <a:latin typeface="Courier New" pitchFamily="49" charset="0"/>
                  <a:cs typeface="Courier New" pitchFamily="49" charset="0"/>
                </a:rPr>
                <a:t>int a</a:t>
              </a:r>
              <a:r>
                <a:rPr lang="pt-BR" sz="16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)</a:t>
              </a:r>
              <a:r>
                <a:rPr lang="pt-BR" sz="1600" b="1" dirty="0" smtClean="0">
                  <a:latin typeface="Courier New" pitchFamily="49" charset="0"/>
                  <a:cs typeface="Courier New" pitchFamily="49" charset="0"/>
                </a:rPr>
                <a:t>-&gt; a * a</a:t>
              </a:r>
              <a:endParaRPr lang="pt-BR" sz="1600" b="1" dirty="0">
                <a:latin typeface="Courier New" pitchFamily="49" charset="0"/>
                <a:cs typeface="Courier New" pitchFamily="49" charset="0"/>
              </a:endParaRPr>
            </a:p>
          </p:txBody>
        </p:sp>
      </p:grpSp>
      <p:grpSp>
        <p:nvGrpSpPr>
          <p:cNvPr id="31" name="그룹 30"/>
          <p:cNvGrpSpPr/>
          <p:nvPr/>
        </p:nvGrpSpPr>
        <p:grpSpPr>
          <a:xfrm>
            <a:off x="4060818" y="2114533"/>
            <a:ext cx="4272021" cy="949338"/>
            <a:chOff x="4060818" y="2114533"/>
            <a:chExt cx="4272021" cy="949338"/>
          </a:xfrm>
        </p:grpSpPr>
        <p:grpSp>
          <p:nvGrpSpPr>
            <p:cNvPr id="36" name="그룹 35"/>
            <p:cNvGrpSpPr/>
            <p:nvPr/>
          </p:nvGrpSpPr>
          <p:grpSpPr>
            <a:xfrm>
              <a:off x="4498974" y="2114533"/>
              <a:ext cx="3833865" cy="949338"/>
              <a:chOff x="4498974" y="2041506"/>
              <a:chExt cx="3833865" cy="1314468"/>
            </a:xfrm>
          </p:grpSpPr>
          <p:sp>
            <p:nvSpPr>
              <p:cNvPr id="53" name="모서리가 둥근 직사각형 52"/>
              <p:cNvSpPr/>
              <p:nvPr/>
            </p:nvSpPr>
            <p:spPr bwMode="auto">
              <a:xfrm>
                <a:off x="4498974" y="2041506"/>
                <a:ext cx="3797352" cy="1314468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49263" marR="0" indent="-449263" algn="l" defTabSz="914400" rtl="0" eaLnBrk="1" fontAlgn="base" latin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urier New" pitchFamily="49" charset="0"/>
                  <a:ea typeface="견명조" pitchFamily="18" charset="-127"/>
                </a:endParaRPr>
              </a:p>
            </p:txBody>
          </p:sp>
          <p:sp>
            <p:nvSpPr>
              <p:cNvPr id="54" name="직사각형 53"/>
              <p:cNvSpPr/>
              <p:nvPr/>
            </p:nvSpPr>
            <p:spPr>
              <a:xfrm>
                <a:off x="4718052" y="2172953"/>
                <a:ext cx="3614787" cy="9801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600" b="1" dirty="0" smtClean="0">
                    <a:latin typeface="Courier New" pitchFamily="49" charset="0"/>
                    <a:cs typeface="Courier New" pitchFamily="49" charset="0"/>
                  </a:rPr>
                  <a:t>  a -&gt; a * a  // OK</a:t>
                </a:r>
              </a:p>
              <a:p>
                <a:pPr algn="ctr"/>
                <a:r>
                  <a:rPr lang="pt-BR" sz="1600" b="1" dirty="0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int</a:t>
                </a:r>
                <a:r>
                  <a:rPr lang="pt-BR" sz="1600" b="1" dirty="0" smtClean="0">
                    <a:latin typeface="Courier New" pitchFamily="49" charset="0"/>
                    <a:cs typeface="Courier New" pitchFamily="49" charset="0"/>
                  </a:rPr>
                  <a:t> a -&gt; a * a  // </a:t>
                </a:r>
                <a:r>
                  <a:rPr lang="ko-KR" altLang="en-US" sz="1600" b="1" dirty="0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에러</a:t>
                </a:r>
                <a:endParaRPr lang="en-US" sz="1600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  <p:sp>
          <p:nvSpPr>
            <p:cNvPr id="55" name="자유형 54"/>
            <p:cNvSpPr/>
            <p:nvPr/>
          </p:nvSpPr>
          <p:spPr bwMode="auto">
            <a:xfrm flipV="1">
              <a:off x="4060818" y="2443149"/>
              <a:ext cx="730260" cy="276999"/>
            </a:xfrm>
            <a:custGeom>
              <a:avLst/>
              <a:gdLst>
                <a:gd name="connsiteX0" fmla="*/ 0 w 1898676"/>
                <a:gd name="connsiteY0" fmla="*/ 152847 h 611386"/>
                <a:gd name="connsiteX1" fmla="*/ 1471066 w 1898676"/>
                <a:gd name="connsiteY1" fmla="*/ 152847 h 611386"/>
                <a:gd name="connsiteX2" fmla="*/ 1471066 w 1898676"/>
                <a:gd name="connsiteY2" fmla="*/ 0 h 611386"/>
                <a:gd name="connsiteX3" fmla="*/ 1898676 w 1898676"/>
                <a:gd name="connsiteY3" fmla="*/ 305693 h 611386"/>
                <a:gd name="connsiteX4" fmla="*/ 1471066 w 1898676"/>
                <a:gd name="connsiteY4" fmla="*/ 611386 h 611386"/>
                <a:gd name="connsiteX5" fmla="*/ 1471066 w 1898676"/>
                <a:gd name="connsiteY5" fmla="*/ 458540 h 611386"/>
                <a:gd name="connsiteX6" fmla="*/ 0 w 1898676"/>
                <a:gd name="connsiteY6" fmla="*/ 458540 h 611386"/>
                <a:gd name="connsiteX7" fmla="*/ 0 w 1898676"/>
                <a:gd name="connsiteY7" fmla="*/ 152847 h 611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8676" h="611386">
                  <a:moveTo>
                    <a:pt x="0" y="152847"/>
                  </a:moveTo>
                  <a:lnTo>
                    <a:pt x="1471066" y="152847"/>
                  </a:lnTo>
                  <a:lnTo>
                    <a:pt x="1471066" y="0"/>
                  </a:lnTo>
                  <a:lnTo>
                    <a:pt x="1898676" y="305693"/>
                  </a:lnTo>
                  <a:lnTo>
                    <a:pt x="1471066" y="611386"/>
                  </a:lnTo>
                  <a:lnTo>
                    <a:pt x="1471066" y="458540"/>
                  </a:lnTo>
                  <a:lnTo>
                    <a:pt x="0" y="458540"/>
                  </a:lnTo>
                  <a:lnTo>
                    <a:pt x="0" y="152847"/>
                  </a:lnTo>
                  <a:close/>
                </a:path>
              </a:pathLst>
            </a:custGeom>
            <a:solidFill>
              <a:schemeClr val="bg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</p:grpSp>
      <p:sp>
        <p:nvSpPr>
          <p:cNvPr id="40" name="Text Box 20"/>
          <p:cNvSpPr txBox="1">
            <a:spLocks noChangeArrowheads="1"/>
          </p:cNvSpPr>
          <p:nvPr/>
        </p:nvSpPr>
        <p:spPr bwMode="auto">
          <a:xfrm>
            <a:off x="665109" y="5268620"/>
            <a:ext cx="708352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66700" indent="-266700"/>
            <a:r>
              <a:rPr lang="ko-KR" altLang="en-US" b="1" dirty="0" smtClean="0"/>
              <a:t>단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하나뿐인 문장이 </a:t>
            </a:r>
            <a:r>
              <a:rPr lang="en-US" altLang="ko-KR" b="1" dirty="0" smtClean="0"/>
              <a:t>return</a:t>
            </a:r>
            <a:r>
              <a:rPr lang="ko-KR" altLang="en-US" b="1" dirty="0" smtClean="0"/>
              <a:t>문이면 괄호</a:t>
            </a:r>
            <a:r>
              <a:rPr lang="en-US" altLang="ko-KR" b="1" dirty="0" smtClean="0"/>
              <a:t>{} </a:t>
            </a:r>
            <a:r>
              <a:rPr lang="ko-KR" altLang="en-US" b="1" dirty="0" smtClean="0"/>
              <a:t>생략불가</a:t>
            </a:r>
            <a:endParaRPr lang="en-US" altLang="ko-KR" b="1" dirty="0"/>
          </a:p>
        </p:txBody>
      </p:sp>
      <p:grpSp>
        <p:nvGrpSpPr>
          <p:cNvPr id="8" name="그룹 51"/>
          <p:cNvGrpSpPr/>
          <p:nvPr/>
        </p:nvGrpSpPr>
        <p:grpSpPr>
          <a:xfrm>
            <a:off x="770047" y="5674465"/>
            <a:ext cx="7599305" cy="1186757"/>
            <a:chOff x="770046" y="5765832"/>
            <a:chExt cx="4090821" cy="1186757"/>
          </a:xfrm>
        </p:grpSpPr>
        <p:sp>
          <p:nvSpPr>
            <p:cNvPr id="49" name="모서리가 둥근 직사각형 48"/>
            <p:cNvSpPr/>
            <p:nvPr/>
          </p:nvSpPr>
          <p:spPr bwMode="auto">
            <a:xfrm>
              <a:off x="770046" y="5765832"/>
              <a:ext cx="4052636" cy="912825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774646" y="5875371"/>
              <a:ext cx="4086221" cy="10772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600" b="1" dirty="0" err="1" smtClean="0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a, </a:t>
              </a:r>
              <a:r>
                <a:rPr lang="en-US" sz="1600" b="1" dirty="0" err="1" smtClean="0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b) -&gt; </a:t>
              </a:r>
              <a:r>
                <a:rPr lang="en-US" sz="16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{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return a &gt; b ? a : b</a:t>
              </a:r>
              <a:r>
                <a:rPr lang="en-US" sz="16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;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6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}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  // OK</a:t>
              </a:r>
            </a:p>
            <a:p>
              <a:pPr algn="ctr"/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 (</a:t>
              </a:r>
              <a:r>
                <a:rPr lang="en-US" sz="1600" b="1" dirty="0" err="1" smtClean="0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a, </a:t>
              </a:r>
              <a:r>
                <a:rPr lang="en-US" sz="1600" b="1" dirty="0" err="1" smtClean="0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b) -&gt;   return a &gt; b ? a : b      // </a:t>
              </a:r>
              <a:r>
                <a:rPr lang="ko-KR" altLang="en-US" sz="16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에러</a:t>
              </a:r>
              <a:endPara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endParaRPr>
            </a:p>
            <a:p>
              <a:pPr algn="ctr"/>
              <a:endParaRPr lang="en-US" sz="1600" b="1" dirty="0">
                <a:latin typeface="Courier New" pitchFamily="49" charset="0"/>
                <a:cs typeface="Courier New" pitchFamily="49" charset="0"/>
              </a:endParaRPr>
            </a:p>
          </p:txBody>
        </p:sp>
      </p:grpSp>
      <p:grpSp>
        <p:nvGrpSpPr>
          <p:cNvPr id="41" name="그룹 61"/>
          <p:cNvGrpSpPr/>
          <p:nvPr/>
        </p:nvGrpSpPr>
        <p:grpSpPr>
          <a:xfrm>
            <a:off x="774648" y="3812302"/>
            <a:ext cx="3432222" cy="1241442"/>
            <a:chOff x="559454" y="3355974"/>
            <a:chExt cx="3797352" cy="1460520"/>
          </a:xfrm>
        </p:grpSpPr>
        <p:sp>
          <p:nvSpPr>
            <p:cNvPr id="42" name="모서리가 둥근 직사각형 41"/>
            <p:cNvSpPr/>
            <p:nvPr/>
          </p:nvSpPr>
          <p:spPr bwMode="auto">
            <a:xfrm>
              <a:off x="559454" y="3355974"/>
              <a:ext cx="3797352" cy="146052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628596" y="3502026"/>
              <a:ext cx="3614787" cy="126731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(</a:t>
              </a:r>
              <a:r>
                <a:rPr lang="en-US" sz="1600" b="1" dirty="0" err="1" smtClean="0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600" b="1" dirty="0" err="1" smtClean="0"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) -&gt; </a:t>
              </a:r>
              <a:r>
                <a:rPr lang="en-US" sz="16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{</a:t>
              </a:r>
            </a:p>
            <a:p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  </a:t>
              </a:r>
              <a:r>
                <a:rPr lang="en-US" sz="1600" b="1" dirty="0" err="1" smtClean="0">
                  <a:latin typeface="Courier New" pitchFamily="49" charset="0"/>
                  <a:cs typeface="Courier New" pitchFamily="49" charset="0"/>
                </a:rPr>
                <a:t>System.out.println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600" b="1" dirty="0" err="1" smtClean="0"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)</a:t>
              </a:r>
              <a:r>
                <a:rPr lang="en-US" sz="16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;</a:t>
              </a:r>
              <a:endParaRPr lang="en-US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sz="16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 }</a:t>
              </a:r>
              <a:endParaRPr lang="en-US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</p:grpSp>
      <p:grpSp>
        <p:nvGrpSpPr>
          <p:cNvPr id="56" name="그룹 57"/>
          <p:cNvGrpSpPr/>
          <p:nvPr/>
        </p:nvGrpSpPr>
        <p:grpSpPr>
          <a:xfrm>
            <a:off x="4097331" y="3958354"/>
            <a:ext cx="4819716" cy="912825"/>
            <a:chOff x="4206870" y="2479662"/>
            <a:chExt cx="4345046" cy="912825"/>
          </a:xfrm>
        </p:grpSpPr>
        <p:sp>
          <p:nvSpPr>
            <p:cNvPr id="57" name="모서리가 둥근 직사각형 56"/>
            <p:cNvSpPr/>
            <p:nvPr/>
          </p:nvSpPr>
          <p:spPr bwMode="auto">
            <a:xfrm>
              <a:off x="4681539" y="2479662"/>
              <a:ext cx="3797352" cy="912825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4856916" y="2771766"/>
              <a:ext cx="3695000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600" b="1" dirty="0" err="1" smtClean="0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600" b="1" dirty="0" err="1" smtClean="0"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)</a:t>
              </a:r>
              <a:r>
                <a:rPr lang="en-US" sz="16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-&gt;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600" b="1" dirty="0" err="1" smtClean="0">
                  <a:latin typeface="Courier New" pitchFamily="49" charset="0"/>
                  <a:cs typeface="Courier New" pitchFamily="49" charset="0"/>
                </a:rPr>
                <a:t>System.out.println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600" b="1" dirty="0" err="1" smtClean="0"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)</a:t>
              </a:r>
              <a:endParaRPr lang="en-US" sz="1600" b="1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59" name="자유형 58"/>
            <p:cNvSpPr/>
            <p:nvPr/>
          </p:nvSpPr>
          <p:spPr bwMode="auto">
            <a:xfrm flipV="1">
              <a:off x="4206870" y="2808279"/>
              <a:ext cx="730260" cy="307777"/>
            </a:xfrm>
            <a:custGeom>
              <a:avLst/>
              <a:gdLst>
                <a:gd name="connsiteX0" fmla="*/ 0 w 1898676"/>
                <a:gd name="connsiteY0" fmla="*/ 152847 h 611386"/>
                <a:gd name="connsiteX1" fmla="*/ 1471066 w 1898676"/>
                <a:gd name="connsiteY1" fmla="*/ 152847 h 611386"/>
                <a:gd name="connsiteX2" fmla="*/ 1471066 w 1898676"/>
                <a:gd name="connsiteY2" fmla="*/ 0 h 611386"/>
                <a:gd name="connsiteX3" fmla="*/ 1898676 w 1898676"/>
                <a:gd name="connsiteY3" fmla="*/ 305693 h 611386"/>
                <a:gd name="connsiteX4" fmla="*/ 1471066 w 1898676"/>
                <a:gd name="connsiteY4" fmla="*/ 611386 h 611386"/>
                <a:gd name="connsiteX5" fmla="*/ 1471066 w 1898676"/>
                <a:gd name="connsiteY5" fmla="*/ 458540 h 611386"/>
                <a:gd name="connsiteX6" fmla="*/ 0 w 1898676"/>
                <a:gd name="connsiteY6" fmla="*/ 458540 h 611386"/>
                <a:gd name="connsiteX7" fmla="*/ 0 w 1898676"/>
                <a:gd name="connsiteY7" fmla="*/ 152847 h 611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8676" h="611386">
                  <a:moveTo>
                    <a:pt x="0" y="152847"/>
                  </a:moveTo>
                  <a:lnTo>
                    <a:pt x="1471066" y="152847"/>
                  </a:lnTo>
                  <a:lnTo>
                    <a:pt x="1471066" y="0"/>
                  </a:lnTo>
                  <a:lnTo>
                    <a:pt x="1898676" y="305693"/>
                  </a:lnTo>
                  <a:lnTo>
                    <a:pt x="1471066" y="611386"/>
                  </a:lnTo>
                  <a:lnTo>
                    <a:pt x="1471066" y="458540"/>
                  </a:lnTo>
                  <a:lnTo>
                    <a:pt x="0" y="458540"/>
                  </a:lnTo>
                  <a:lnTo>
                    <a:pt x="0" y="152847"/>
                  </a:lnTo>
                  <a:close/>
                </a:path>
              </a:pathLst>
            </a:custGeom>
            <a:solidFill>
              <a:schemeClr val="bg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1" grpId="0"/>
      <p:bldP spid="4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863600"/>
          </a:xfrm>
          <a:prstGeom prst="rect">
            <a:avLst/>
          </a:prstGeom>
          <a:solidFill>
            <a:srgbClr val="E4D394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576263"/>
            <a:ext cx="8388350" cy="53975"/>
          </a:xfrm>
          <a:prstGeom prst="rect">
            <a:avLst/>
          </a:prstGeom>
          <a:solidFill>
            <a:srgbClr val="81705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883525" y="42863"/>
            <a:ext cx="1368425" cy="722312"/>
            <a:chOff x="3787" y="1570"/>
            <a:chExt cx="862" cy="455"/>
          </a:xfrm>
        </p:grpSpPr>
        <p:sp>
          <p:nvSpPr>
            <p:cNvPr id="3090" name="Text Box 5"/>
            <p:cNvSpPr txBox="1">
              <a:spLocks noChangeArrowheads="1"/>
            </p:cNvSpPr>
            <p:nvPr/>
          </p:nvSpPr>
          <p:spPr bwMode="auto">
            <a:xfrm>
              <a:off x="3787" y="1570"/>
              <a:ext cx="7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2800">
                  <a:latin typeface="Elephant" pitchFamily="18" charset="0"/>
                  <a:ea typeface="굴림" charset="-127"/>
                </a:rPr>
                <a:t>Java</a:t>
              </a:r>
            </a:p>
          </p:txBody>
        </p:sp>
        <p:sp>
          <p:nvSpPr>
            <p:cNvPr id="3091" name="Text Box 6"/>
            <p:cNvSpPr txBox="1">
              <a:spLocks noChangeArrowheads="1"/>
            </p:cNvSpPr>
            <p:nvPr/>
          </p:nvSpPr>
          <p:spPr bwMode="auto">
            <a:xfrm>
              <a:off x="4308" y="1643"/>
              <a:ext cx="34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1600">
                  <a:latin typeface="HY견고딕" pitchFamily="18" charset="-127"/>
                  <a:ea typeface="HY견고딕" pitchFamily="18" charset="-127"/>
                </a:rPr>
                <a:t>의</a:t>
              </a:r>
            </a:p>
          </p:txBody>
        </p:sp>
        <p:sp>
          <p:nvSpPr>
            <p:cNvPr id="3092" name="Text Box 7"/>
            <p:cNvSpPr txBox="1">
              <a:spLocks noChangeArrowheads="1"/>
            </p:cNvSpPr>
            <p:nvPr/>
          </p:nvSpPr>
          <p:spPr bwMode="auto">
            <a:xfrm>
              <a:off x="4121" y="1775"/>
              <a:ext cx="5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2000">
                  <a:latin typeface="바탕" pitchFamily="18" charset="-127"/>
                  <a:ea typeface="HY견고딕" pitchFamily="18" charset="-127"/>
                </a:rPr>
                <a:t>정석</a:t>
              </a:r>
            </a:p>
          </p:txBody>
        </p:sp>
      </p:grp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443663" y="620713"/>
            <a:ext cx="2016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 err="1">
                <a:latin typeface="Courier New" pitchFamily="49" charset="0"/>
                <a:ea typeface="굴림" charset="-127"/>
              </a:rPr>
              <a:t>http://</a:t>
            </a:r>
            <a:r>
              <a:rPr lang="en-US" altLang="ko-KR" sz="1000" b="1" dirty="0" err="1" smtClean="0">
                <a:latin typeface="Courier New" pitchFamily="49" charset="0"/>
                <a:ea typeface="굴림" charset="-127"/>
              </a:rPr>
              <a:t>www.codechobo.com</a:t>
            </a:r>
            <a:endParaRPr lang="en-US" altLang="ko-KR" sz="1000" b="1" dirty="0">
              <a:latin typeface="Courier New" pitchFamily="49" charset="0"/>
              <a:ea typeface="굴림" charset="-127"/>
            </a:endParaRPr>
          </a:p>
        </p:txBody>
      </p:sp>
      <p:sp>
        <p:nvSpPr>
          <p:cNvPr id="3078" name="Text Box 19"/>
          <p:cNvSpPr txBox="1">
            <a:spLocks noChangeArrowheads="1"/>
          </p:cNvSpPr>
          <p:nvPr/>
        </p:nvSpPr>
        <p:spPr bwMode="auto">
          <a:xfrm>
            <a:off x="358775" y="1016000"/>
            <a:ext cx="8569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800" b="1" dirty="0" smtClean="0"/>
              <a:t>1.2  </a:t>
            </a:r>
            <a:r>
              <a:rPr lang="ko-KR" altLang="en-US" sz="2800" b="1" dirty="0" err="1" smtClean="0"/>
              <a:t>람다식</a:t>
            </a:r>
            <a:r>
              <a:rPr lang="en-US" altLang="ko-KR" sz="2800" b="1" dirty="0" smtClean="0"/>
              <a:t> </a:t>
            </a:r>
            <a:r>
              <a:rPr lang="ko-KR" altLang="en-US" sz="2800" b="1" dirty="0" smtClean="0"/>
              <a:t>작성하기 </a:t>
            </a:r>
            <a:r>
              <a:rPr lang="en-US" altLang="ko-KR" sz="2800" b="1" dirty="0" smtClean="0"/>
              <a:t>- </a:t>
            </a:r>
            <a:r>
              <a:rPr lang="ko-KR" altLang="en-US" sz="2800" b="1" dirty="0" smtClean="0"/>
              <a:t>실습</a:t>
            </a:r>
            <a:endParaRPr lang="en-US" altLang="ko-KR" sz="2800" b="1" dirty="0"/>
          </a:p>
        </p:txBody>
      </p:sp>
      <p:sp>
        <p:nvSpPr>
          <p:cNvPr id="3089" name="Text Box 9"/>
          <p:cNvSpPr txBox="1">
            <a:spLocks noChangeArrowheads="1"/>
          </p:cNvSpPr>
          <p:nvPr/>
        </p:nvSpPr>
        <p:spPr bwMode="auto">
          <a:xfrm>
            <a:off x="146050" y="188913"/>
            <a:ext cx="5686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Chapter 14. 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람다와 스트림</a:t>
            </a: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(Lambda &amp; Stream)</a:t>
            </a:r>
          </a:p>
        </p:txBody>
      </p:sp>
      <p:graphicFrame>
        <p:nvGraphicFramePr>
          <p:cNvPr id="32" name="표 31"/>
          <p:cNvGraphicFramePr>
            <a:graphicFrameLocks noGrp="1"/>
          </p:cNvGraphicFramePr>
          <p:nvPr/>
        </p:nvGraphicFramePr>
        <p:xfrm>
          <a:off x="592083" y="1822428"/>
          <a:ext cx="8032860" cy="4165961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4491099"/>
                <a:gridCol w="3541761"/>
              </a:tblGrid>
              <a:tr h="4141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 smtClean="0"/>
                        <a:t>메서드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 smtClean="0"/>
                        <a:t>람다식</a:t>
                      </a:r>
                      <a:endParaRPr lang="ko-KR" altLang="en-US" dirty="0"/>
                    </a:p>
                  </a:txBody>
                  <a:tcPr/>
                </a:tc>
              </a:tr>
              <a:tr h="863805">
                <a:tc>
                  <a:txBody>
                    <a:bodyPr/>
                    <a:lstStyle/>
                    <a:p>
                      <a:r>
                        <a:rPr lang="en-US" sz="1600" b="1" kern="1200" dirty="0" err="1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int</a:t>
                      </a:r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max(</a:t>
                      </a:r>
                      <a:r>
                        <a:rPr lang="en-US" sz="1600" b="1" kern="1200" dirty="0" err="1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int</a:t>
                      </a:r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a, </a:t>
                      </a:r>
                      <a:r>
                        <a:rPr lang="en-US" sz="1600" b="1" kern="1200" dirty="0" err="1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int</a:t>
                      </a:r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b) {</a:t>
                      </a:r>
                    </a:p>
                    <a:p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 return a &gt; b ? a : b;</a:t>
                      </a:r>
                    </a:p>
                    <a:p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 smtClean="0"/>
                        <a:t>➀</a:t>
                      </a:r>
                      <a:endParaRPr lang="ko-KR" altLang="en-US" dirty="0"/>
                    </a:p>
                  </a:txBody>
                  <a:tcPr/>
                </a:tc>
              </a:tr>
              <a:tr h="985851">
                <a:tc>
                  <a:txBody>
                    <a:bodyPr/>
                    <a:lstStyle/>
                    <a:p>
                      <a:r>
                        <a:rPr lang="en-US" sz="1600" b="1" kern="1200" dirty="0" err="1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int</a:t>
                      </a:r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</a:t>
                      </a:r>
                      <a:r>
                        <a:rPr lang="en-US" sz="1600" b="1" kern="1200" dirty="0" err="1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printVar</a:t>
                      </a:r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(String name, </a:t>
                      </a:r>
                      <a:r>
                        <a:rPr lang="en-US" sz="1600" b="1" kern="1200" dirty="0" err="1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int</a:t>
                      </a:r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</a:t>
                      </a:r>
                      <a:r>
                        <a:rPr lang="en-US" sz="1600" b="1" kern="1200" dirty="0" err="1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i</a:t>
                      </a:r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) {</a:t>
                      </a:r>
                    </a:p>
                    <a:p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 </a:t>
                      </a:r>
                      <a:r>
                        <a:rPr lang="en-US" sz="1600" b="1" kern="1200" dirty="0" err="1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System.out.println</a:t>
                      </a:r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(name+"="+</a:t>
                      </a:r>
                      <a:r>
                        <a:rPr lang="en-US" sz="1600" b="1" kern="1200" dirty="0" err="1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i</a:t>
                      </a:r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);</a:t>
                      </a:r>
                    </a:p>
                    <a:p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 smtClean="0"/>
                        <a:t>➁</a:t>
                      </a:r>
                      <a:endParaRPr lang="ko-KR" altLang="en-US" dirty="0"/>
                    </a:p>
                  </a:txBody>
                  <a:tcPr/>
                </a:tc>
              </a:tr>
              <a:tr h="912825">
                <a:tc>
                  <a:txBody>
                    <a:bodyPr/>
                    <a:lstStyle/>
                    <a:p>
                      <a:r>
                        <a:rPr lang="en-US" sz="1600" b="1" kern="1200" dirty="0" err="1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int</a:t>
                      </a:r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square(</a:t>
                      </a:r>
                      <a:r>
                        <a:rPr lang="en-US" sz="1600" b="1" kern="1200" dirty="0" err="1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int</a:t>
                      </a:r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x) {</a:t>
                      </a:r>
                    </a:p>
                    <a:p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 return x * x;</a:t>
                      </a:r>
                    </a:p>
                    <a:p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 smtClean="0"/>
                        <a:t>➂</a:t>
                      </a:r>
                      <a:endParaRPr lang="ko-KR" altLang="en-US" dirty="0"/>
                    </a:p>
                  </a:txBody>
                  <a:tcPr/>
                </a:tc>
              </a:tr>
              <a:tr h="989330">
                <a:tc>
                  <a:txBody>
                    <a:bodyPr/>
                    <a:lstStyle/>
                    <a:p>
                      <a:r>
                        <a:rPr lang="en-US" sz="1600" b="1" kern="1200" dirty="0" err="1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int</a:t>
                      </a:r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roll() {</a:t>
                      </a:r>
                    </a:p>
                    <a:p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 return (</a:t>
                      </a:r>
                      <a:r>
                        <a:rPr lang="en-US" sz="1600" b="1" kern="1200" dirty="0" err="1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int</a:t>
                      </a:r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)(</a:t>
                      </a:r>
                      <a:r>
                        <a:rPr lang="en-US" sz="1600" b="1" kern="1200" dirty="0" err="1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Math.random</a:t>
                      </a:r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()*6);</a:t>
                      </a:r>
                    </a:p>
                    <a:p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 smtClean="0"/>
                        <a:t>➃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863600"/>
          </a:xfrm>
          <a:prstGeom prst="rect">
            <a:avLst/>
          </a:prstGeom>
          <a:solidFill>
            <a:srgbClr val="E4D394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576263"/>
            <a:ext cx="8388350" cy="53975"/>
          </a:xfrm>
          <a:prstGeom prst="rect">
            <a:avLst/>
          </a:prstGeom>
          <a:solidFill>
            <a:srgbClr val="81705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883525" y="42863"/>
            <a:ext cx="1368425" cy="722312"/>
            <a:chOff x="3787" y="1570"/>
            <a:chExt cx="862" cy="455"/>
          </a:xfrm>
        </p:grpSpPr>
        <p:sp>
          <p:nvSpPr>
            <p:cNvPr id="3090" name="Text Box 5"/>
            <p:cNvSpPr txBox="1">
              <a:spLocks noChangeArrowheads="1"/>
            </p:cNvSpPr>
            <p:nvPr/>
          </p:nvSpPr>
          <p:spPr bwMode="auto">
            <a:xfrm>
              <a:off x="3787" y="1570"/>
              <a:ext cx="7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2800">
                  <a:latin typeface="Elephant" pitchFamily="18" charset="0"/>
                  <a:ea typeface="굴림" charset="-127"/>
                </a:rPr>
                <a:t>Java</a:t>
              </a:r>
            </a:p>
          </p:txBody>
        </p:sp>
        <p:sp>
          <p:nvSpPr>
            <p:cNvPr id="3091" name="Text Box 6"/>
            <p:cNvSpPr txBox="1">
              <a:spLocks noChangeArrowheads="1"/>
            </p:cNvSpPr>
            <p:nvPr/>
          </p:nvSpPr>
          <p:spPr bwMode="auto">
            <a:xfrm>
              <a:off x="4308" y="1643"/>
              <a:ext cx="34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1600">
                  <a:latin typeface="HY견고딕" pitchFamily="18" charset="-127"/>
                  <a:ea typeface="HY견고딕" pitchFamily="18" charset="-127"/>
                </a:rPr>
                <a:t>의</a:t>
              </a:r>
            </a:p>
          </p:txBody>
        </p:sp>
        <p:sp>
          <p:nvSpPr>
            <p:cNvPr id="3092" name="Text Box 7"/>
            <p:cNvSpPr txBox="1">
              <a:spLocks noChangeArrowheads="1"/>
            </p:cNvSpPr>
            <p:nvPr/>
          </p:nvSpPr>
          <p:spPr bwMode="auto">
            <a:xfrm>
              <a:off x="4121" y="1775"/>
              <a:ext cx="5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2000">
                  <a:latin typeface="바탕" pitchFamily="18" charset="-127"/>
                  <a:ea typeface="HY견고딕" pitchFamily="18" charset="-127"/>
                </a:rPr>
                <a:t>정석</a:t>
              </a:r>
            </a:p>
          </p:txBody>
        </p:sp>
      </p:grp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443663" y="620713"/>
            <a:ext cx="2016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 err="1">
                <a:latin typeface="Courier New" pitchFamily="49" charset="0"/>
                <a:ea typeface="굴림" charset="-127"/>
              </a:rPr>
              <a:t>http://</a:t>
            </a:r>
            <a:r>
              <a:rPr lang="en-US" altLang="ko-KR" sz="1000" b="1" dirty="0" err="1" smtClean="0">
                <a:latin typeface="Courier New" pitchFamily="49" charset="0"/>
                <a:ea typeface="굴림" charset="-127"/>
              </a:rPr>
              <a:t>www.codechobo.com</a:t>
            </a:r>
            <a:endParaRPr lang="en-US" altLang="ko-KR" sz="1000" b="1" dirty="0">
              <a:latin typeface="Courier New" pitchFamily="49" charset="0"/>
              <a:ea typeface="굴림" charset="-127"/>
            </a:endParaRPr>
          </a:p>
        </p:txBody>
      </p:sp>
      <p:sp>
        <p:nvSpPr>
          <p:cNvPr id="3078" name="Text Box 19"/>
          <p:cNvSpPr txBox="1">
            <a:spLocks noChangeArrowheads="1"/>
          </p:cNvSpPr>
          <p:nvPr/>
        </p:nvSpPr>
        <p:spPr bwMode="auto">
          <a:xfrm>
            <a:off x="358775" y="1016000"/>
            <a:ext cx="8569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800" b="1" dirty="0" smtClean="0"/>
              <a:t>1.3  </a:t>
            </a:r>
            <a:r>
              <a:rPr lang="ko-KR" altLang="en-US" sz="2800" b="1" dirty="0" smtClean="0"/>
              <a:t>함수형 인터페이스</a:t>
            </a:r>
            <a:r>
              <a:rPr lang="en-US" altLang="ko-KR" sz="2800" b="1" dirty="0" smtClean="0"/>
              <a:t>(1/3)</a:t>
            </a:r>
            <a:endParaRPr lang="en-US" altLang="ko-KR" sz="2800" b="1" dirty="0"/>
          </a:p>
        </p:txBody>
      </p:sp>
      <p:sp>
        <p:nvSpPr>
          <p:cNvPr id="3089" name="Text Box 9"/>
          <p:cNvSpPr txBox="1">
            <a:spLocks noChangeArrowheads="1"/>
          </p:cNvSpPr>
          <p:nvPr/>
        </p:nvSpPr>
        <p:spPr bwMode="auto">
          <a:xfrm>
            <a:off x="146050" y="188913"/>
            <a:ext cx="5686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Chapter 14. 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람다와 스트림</a:t>
            </a: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(Lambda &amp; Stream)</a:t>
            </a:r>
          </a:p>
        </p:txBody>
      </p:sp>
      <p:grpSp>
        <p:nvGrpSpPr>
          <p:cNvPr id="3" name="그룹 56"/>
          <p:cNvGrpSpPr/>
          <p:nvPr/>
        </p:nvGrpSpPr>
        <p:grpSpPr>
          <a:xfrm>
            <a:off x="815869" y="2333610"/>
            <a:ext cx="3317774" cy="912825"/>
            <a:chOff x="4603911" y="5765832"/>
            <a:chExt cx="4099834" cy="912825"/>
          </a:xfrm>
        </p:grpSpPr>
        <p:sp>
          <p:nvSpPr>
            <p:cNvPr id="45" name="모서리가 둥근 직사각형 44"/>
            <p:cNvSpPr/>
            <p:nvPr/>
          </p:nvSpPr>
          <p:spPr bwMode="auto">
            <a:xfrm>
              <a:off x="4603911" y="5765832"/>
              <a:ext cx="4052636" cy="912825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4745505" y="6057936"/>
              <a:ext cx="395824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(a, b)</a:t>
              </a:r>
              <a:r>
                <a:rPr lang="en-US" sz="16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-&gt;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a &gt; b ? a : b</a:t>
              </a:r>
              <a:endParaRPr lang="en-US" sz="1600" b="1" dirty="0">
                <a:latin typeface="Courier New" pitchFamily="49" charset="0"/>
                <a:cs typeface="Courier New" pitchFamily="49" charset="0"/>
              </a:endParaRPr>
            </a:p>
          </p:txBody>
        </p:sp>
      </p:grpSp>
      <p:sp>
        <p:nvSpPr>
          <p:cNvPr id="36" name="Text Box 20"/>
          <p:cNvSpPr txBox="1">
            <a:spLocks noChangeArrowheads="1"/>
          </p:cNvSpPr>
          <p:nvPr/>
        </p:nvSpPr>
        <p:spPr bwMode="auto">
          <a:xfrm>
            <a:off x="468313" y="1712889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err="1" smtClean="0"/>
              <a:t>람다식은</a:t>
            </a:r>
            <a:r>
              <a:rPr lang="ko-KR" altLang="en-US" b="1" dirty="0" smtClean="0"/>
              <a:t> 익명 함수</a:t>
            </a:r>
            <a:r>
              <a:rPr lang="en-US" altLang="ko-KR" b="1" dirty="0" smtClean="0"/>
              <a:t>?</a:t>
            </a:r>
            <a:r>
              <a:rPr lang="ko-KR" altLang="en-US" b="1" dirty="0" smtClean="0"/>
              <a:t> 사실은 익명 객체</a:t>
            </a:r>
            <a:r>
              <a:rPr lang="en-US" altLang="ko-KR" b="1" dirty="0" smtClean="0"/>
              <a:t>!!!</a:t>
            </a:r>
            <a:endParaRPr lang="en-US" altLang="ko-KR" b="1" dirty="0"/>
          </a:p>
        </p:txBody>
      </p:sp>
      <p:grpSp>
        <p:nvGrpSpPr>
          <p:cNvPr id="4" name="그룹 41"/>
          <p:cNvGrpSpPr/>
          <p:nvPr/>
        </p:nvGrpSpPr>
        <p:grpSpPr>
          <a:xfrm>
            <a:off x="3768512" y="2078019"/>
            <a:ext cx="4600840" cy="1424007"/>
            <a:chOff x="3768512" y="2041506"/>
            <a:chExt cx="4600840" cy="1424007"/>
          </a:xfrm>
        </p:grpSpPr>
        <p:grpSp>
          <p:nvGrpSpPr>
            <p:cNvPr id="5" name="그룹 51"/>
            <p:cNvGrpSpPr/>
            <p:nvPr/>
          </p:nvGrpSpPr>
          <p:grpSpPr>
            <a:xfrm>
              <a:off x="4462259" y="2041506"/>
              <a:ext cx="3907093" cy="1424007"/>
              <a:chOff x="770046" y="5765832"/>
              <a:chExt cx="4086221" cy="912825"/>
            </a:xfrm>
          </p:grpSpPr>
          <p:sp>
            <p:nvSpPr>
              <p:cNvPr id="49" name="모서리가 둥근 직사각형 48"/>
              <p:cNvSpPr/>
              <p:nvPr/>
            </p:nvSpPr>
            <p:spPr bwMode="auto">
              <a:xfrm>
                <a:off x="770046" y="5765832"/>
                <a:ext cx="4052636" cy="912825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49263" marR="0" indent="-449263" algn="l" defTabSz="914400" rtl="0" eaLnBrk="1" fontAlgn="base" latin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urier New" pitchFamily="49" charset="0"/>
                  <a:ea typeface="견명조" pitchFamily="18" charset="-127"/>
                </a:endParaRPr>
              </a:p>
            </p:txBody>
          </p:sp>
          <p:sp>
            <p:nvSpPr>
              <p:cNvPr id="50" name="직사각형 49"/>
              <p:cNvSpPr/>
              <p:nvPr/>
            </p:nvSpPr>
            <p:spPr>
              <a:xfrm>
                <a:off x="770046" y="5812644"/>
                <a:ext cx="4086221" cy="848358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>
                  <a:spcBef>
                    <a:spcPts val="0"/>
                  </a:spcBef>
                </a:pPr>
                <a:r>
                  <a:rPr lang="en-US" sz="1600" b="1" dirty="0" smtClean="0">
                    <a:latin typeface="Courier New" pitchFamily="49" charset="0"/>
                    <a:cs typeface="Courier New" pitchFamily="49" charset="0"/>
                  </a:rPr>
                  <a:t> new </a:t>
                </a:r>
                <a:r>
                  <a:rPr lang="en-US" sz="1600" b="1" dirty="0">
                    <a:latin typeface="Courier New" pitchFamily="49" charset="0"/>
                    <a:cs typeface="Courier New" pitchFamily="49" charset="0"/>
                  </a:rPr>
                  <a:t>Object() {</a:t>
                </a:r>
              </a:p>
              <a:p>
                <a:pPr>
                  <a:spcBef>
                    <a:spcPts val="0"/>
                  </a:spcBef>
                </a:pPr>
                <a:r>
                  <a:rPr lang="en-US" sz="1600" b="1" dirty="0" smtClean="0">
                    <a:latin typeface="Courier New" pitchFamily="49" charset="0"/>
                    <a:cs typeface="Courier New" pitchFamily="49" charset="0"/>
                  </a:rPr>
                  <a:t>    </a:t>
                </a:r>
                <a:r>
                  <a:rPr lang="en-US" sz="1600" b="1" dirty="0" err="1" smtClean="0">
                    <a:latin typeface="Courier New" pitchFamily="49" charset="0"/>
                    <a:cs typeface="Courier New" pitchFamily="49" charset="0"/>
                  </a:rPr>
                  <a:t>int</a:t>
                </a:r>
                <a:r>
                  <a:rPr lang="en-US" sz="1600" b="1" dirty="0" smtClean="0">
                    <a:latin typeface="Courier New" pitchFamily="49" charset="0"/>
                    <a:cs typeface="Courier New" pitchFamily="49" charset="0"/>
                  </a:rPr>
                  <a:t> </a:t>
                </a:r>
                <a:r>
                  <a:rPr lang="en-US" sz="1600" b="1" dirty="0">
                    <a:latin typeface="Courier New" pitchFamily="49" charset="0"/>
                    <a:cs typeface="Courier New" pitchFamily="49" charset="0"/>
                  </a:rPr>
                  <a:t>max(</a:t>
                </a:r>
                <a:r>
                  <a:rPr lang="en-US" sz="1600" b="1" dirty="0" err="1">
                    <a:latin typeface="Courier New" pitchFamily="49" charset="0"/>
                    <a:cs typeface="Courier New" pitchFamily="49" charset="0"/>
                  </a:rPr>
                  <a:t>int</a:t>
                </a:r>
                <a:r>
                  <a:rPr lang="en-US" sz="1600" b="1" dirty="0">
                    <a:latin typeface="Courier New" pitchFamily="49" charset="0"/>
                    <a:cs typeface="Courier New" pitchFamily="49" charset="0"/>
                  </a:rPr>
                  <a:t> a, </a:t>
                </a:r>
                <a:r>
                  <a:rPr lang="en-US" sz="1600" b="1" dirty="0" err="1">
                    <a:latin typeface="Courier New" pitchFamily="49" charset="0"/>
                    <a:cs typeface="Courier New" pitchFamily="49" charset="0"/>
                  </a:rPr>
                  <a:t>int</a:t>
                </a:r>
                <a:r>
                  <a:rPr lang="en-US" sz="1600" b="1" dirty="0">
                    <a:latin typeface="Courier New" pitchFamily="49" charset="0"/>
                    <a:cs typeface="Courier New" pitchFamily="49" charset="0"/>
                  </a:rPr>
                  <a:t> b) {</a:t>
                </a:r>
              </a:p>
              <a:p>
                <a:pPr>
                  <a:spcBef>
                    <a:spcPts val="0"/>
                  </a:spcBef>
                </a:pPr>
                <a:r>
                  <a:rPr lang="en-US" sz="1600" b="1" dirty="0" smtClean="0">
                    <a:latin typeface="Courier New" pitchFamily="49" charset="0"/>
                    <a:cs typeface="Courier New" pitchFamily="49" charset="0"/>
                  </a:rPr>
                  <a:t>        return </a:t>
                </a:r>
                <a:r>
                  <a:rPr lang="en-US" sz="1600" b="1" dirty="0">
                    <a:latin typeface="Courier New" pitchFamily="49" charset="0"/>
                    <a:cs typeface="Courier New" pitchFamily="49" charset="0"/>
                  </a:rPr>
                  <a:t>a &gt; b ? a : b;</a:t>
                </a:r>
              </a:p>
              <a:p>
                <a:pPr>
                  <a:spcBef>
                    <a:spcPts val="0"/>
                  </a:spcBef>
                </a:pPr>
                <a:r>
                  <a:rPr lang="en-US" sz="1600" b="1" dirty="0" smtClean="0">
                    <a:latin typeface="Courier New" pitchFamily="49" charset="0"/>
                    <a:cs typeface="Courier New" pitchFamily="49" charset="0"/>
                  </a:rPr>
                  <a:t>    }</a:t>
                </a:r>
                <a:endParaRPr lang="en-US" sz="1600" b="1" dirty="0">
                  <a:latin typeface="Courier New" pitchFamily="49" charset="0"/>
                  <a:cs typeface="Courier New" pitchFamily="49" charset="0"/>
                </a:endParaRPr>
              </a:p>
              <a:p>
                <a:pPr>
                  <a:spcBef>
                    <a:spcPts val="0"/>
                  </a:spcBef>
                </a:pPr>
                <a:r>
                  <a:rPr lang="en-US" sz="1600" b="1" dirty="0" smtClean="0">
                    <a:latin typeface="Courier New" pitchFamily="49" charset="0"/>
                    <a:cs typeface="Courier New" pitchFamily="49" charset="0"/>
                  </a:rPr>
                  <a:t> }</a:t>
                </a:r>
                <a:endParaRPr lang="en-US" sz="1600" b="1" dirty="0"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  <p:sp>
          <p:nvSpPr>
            <p:cNvPr id="41" name="왼쪽/오른쪽 화살표 40"/>
            <p:cNvSpPr/>
            <p:nvPr/>
          </p:nvSpPr>
          <p:spPr bwMode="auto">
            <a:xfrm>
              <a:off x="3768512" y="2589201"/>
              <a:ext cx="1022364" cy="365130"/>
            </a:xfrm>
            <a:prstGeom prst="leftRightArrow">
              <a:avLst/>
            </a:prstGeom>
            <a:solidFill>
              <a:schemeClr val="bg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</p:grpSp>
      <p:sp>
        <p:nvSpPr>
          <p:cNvPr id="43" name="Text Box 20"/>
          <p:cNvSpPr txBox="1">
            <a:spLocks noChangeArrowheads="1"/>
          </p:cNvSpPr>
          <p:nvPr/>
        </p:nvSpPr>
        <p:spPr bwMode="auto">
          <a:xfrm>
            <a:off x="463449" y="3648078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err="1" smtClean="0"/>
              <a:t>람다식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익명 객체</a:t>
            </a:r>
            <a:r>
              <a:rPr lang="en-US" altLang="ko-KR" b="1" dirty="0" smtClean="0"/>
              <a:t>)</a:t>
            </a:r>
            <a:r>
              <a:rPr lang="ko-KR" altLang="en-US" b="1" smtClean="0"/>
              <a:t>을 </a:t>
            </a:r>
            <a:r>
              <a:rPr lang="ko-KR" altLang="en-US" b="1" dirty="0" smtClean="0"/>
              <a:t>다루기 위한 참조변수가 필요</a:t>
            </a:r>
            <a:r>
              <a:rPr lang="en-US" altLang="ko-KR" b="1" dirty="0" smtClean="0"/>
              <a:t>. </a:t>
            </a:r>
            <a:r>
              <a:rPr lang="ko-KR" altLang="en-US" b="1" dirty="0" smtClean="0"/>
              <a:t>참조변수의 타입은</a:t>
            </a:r>
            <a:r>
              <a:rPr lang="en-US" altLang="ko-KR" b="1" dirty="0" smtClean="0"/>
              <a:t>?</a:t>
            </a:r>
            <a:endParaRPr lang="en-US" altLang="ko-KR" b="1" dirty="0"/>
          </a:p>
        </p:txBody>
      </p:sp>
      <p:grpSp>
        <p:nvGrpSpPr>
          <p:cNvPr id="6" name="그룹 51"/>
          <p:cNvGrpSpPr/>
          <p:nvPr/>
        </p:nvGrpSpPr>
        <p:grpSpPr>
          <a:xfrm>
            <a:off x="811161" y="4086235"/>
            <a:ext cx="7813782" cy="1533546"/>
            <a:chOff x="770046" y="5765832"/>
            <a:chExt cx="4052636" cy="912825"/>
          </a:xfrm>
        </p:grpSpPr>
        <p:sp>
          <p:nvSpPr>
            <p:cNvPr id="52" name="모서리가 둥근 직사각형 51"/>
            <p:cNvSpPr/>
            <p:nvPr/>
          </p:nvSpPr>
          <p:spPr bwMode="auto">
            <a:xfrm>
              <a:off x="770046" y="5765832"/>
              <a:ext cx="4052636" cy="912825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770046" y="5939703"/>
              <a:ext cx="3973171" cy="56077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6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Object </a:t>
              </a:r>
              <a:r>
                <a:rPr lang="en-US" sz="16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obj</a:t>
              </a:r>
              <a:r>
                <a:rPr lang="en-US" sz="16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 =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new 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Object() {</a:t>
              </a:r>
            </a:p>
            <a:p>
              <a:pPr>
                <a:spcBef>
                  <a:spcPts val="0"/>
                </a:spcBef>
              </a:pP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   </a:t>
              </a:r>
              <a:r>
                <a:rPr lang="en-US" sz="1600" b="1" dirty="0" err="1" smtClean="0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max(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a,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b) {</a:t>
              </a:r>
            </a:p>
            <a:p>
              <a:pPr>
                <a:spcBef>
                  <a:spcPts val="0"/>
                </a:spcBef>
              </a:pP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       return 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a &gt; b ? a : b;</a:t>
              </a:r>
            </a:p>
            <a:p>
              <a:pPr>
                <a:spcBef>
                  <a:spcPts val="0"/>
                </a:spcBef>
              </a:pP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   }</a:t>
              </a:r>
              <a:endParaRPr lang="en-US" sz="1600" b="1" dirty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}</a:t>
              </a:r>
              <a:r>
                <a:rPr lang="en-US" sz="16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;</a:t>
              </a:r>
            </a:p>
          </p:txBody>
        </p:sp>
      </p:grpSp>
      <p:grpSp>
        <p:nvGrpSpPr>
          <p:cNvPr id="7" name="그룹 51"/>
          <p:cNvGrpSpPr/>
          <p:nvPr/>
        </p:nvGrpSpPr>
        <p:grpSpPr>
          <a:xfrm>
            <a:off x="2782863" y="5145112"/>
            <a:ext cx="6243723" cy="584207"/>
            <a:chOff x="770046" y="5765832"/>
            <a:chExt cx="4052636" cy="912825"/>
          </a:xfrm>
        </p:grpSpPr>
        <p:sp>
          <p:nvSpPr>
            <p:cNvPr id="58" name="모서리가 둥근 직사각형 57"/>
            <p:cNvSpPr/>
            <p:nvPr/>
          </p:nvSpPr>
          <p:spPr bwMode="auto">
            <a:xfrm>
              <a:off x="770046" y="5765832"/>
              <a:ext cx="4052636" cy="912825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59" name="직사각형 58"/>
            <p:cNvSpPr/>
            <p:nvPr/>
          </p:nvSpPr>
          <p:spPr>
            <a:xfrm>
              <a:off x="770047" y="5978512"/>
              <a:ext cx="3973171" cy="528992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 </a:t>
              </a:r>
              <a:r>
                <a:rPr lang="ko-KR" altLang="en-US" sz="16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타입</a:t>
              </a:r>
              <a:r>
                <a:rPr lang="en-US" sz="16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6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obj</a:t>
              </a:r>
              <a:r>
                <a:rPr lang="en-US" sz="16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(a, b)</a:t>
              </a:r>
              <a:r>
                <a:rPr lang="en-US" sz="16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-&gt;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a &gt; b ? a : b </a:t>
              </a:r>
              <a:r>
                <a:rPr lang="en-US" sz="16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; 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// </a:t>
              </a:r>
              <a:r>
                <a:rPr lang="ko-KR" altLang="en-US" sz="1600" b="1" dirty="0" smtClean="0">
                  <a:latin typeface="Courier New" pitchFamily="49" charset="0"/>
                  <a:cs typeface="Courier New" pitchFamily="49" charset="0"/>
                </a:rPr>
                <a:t>어떤 타입</a:t>
              </a:r>
              <a:r>
                <a:rPr lang="en-US" altLang="ko-KR" sz="1600" b="1" dirty="0" smtClean="0">
                  <a:latin typeface="Courier New" pitchFamily="49" charset="0"/>
                  <a:cs typeface="Courier New" pitchFamily="49" charset="0"/>
                </a:rPr>
                <a:t>?</a:t>
              </a:r>
              <a:endParaRPr lang="en-US" sz="1600" b="1" dirty="0" smtClean="0">
                <a:latin typeface="Courier New" pitchFamily="49" charset="0"/>
                <a:cs typeface="Courier New" pitchFamily="49" charset="0"/>
              </a:endParaRPr>
            </a:p>
          </p:txBody>
        </p:sp>
      </p:grpSp>
      <p:grpSp>
        <p:nvGrpSpPr>
          <p:cNvPr id="28" name="그룹 51"/>
          <p:cNvGrpSpPr/>
          <p:nvPr/>
        </p:nvGrpSpPr>
        <p:grpSpPr>
          <a:xfrm>
            <a:off x="811161" y="5875371"/>
            <a:ext cx="7813782" cy="474669"/>
            <a:chOff x="770046" y="5765832"/>
            <a:chExt cx="4052636" cy="912825"/>
          </a:xfrm>
        </p:grpSpPr>
        <p:sp>
          <p:nvSpPr>
            <p:cNvPr id="29" name="모서리가 둥근 직사각형 28"/>
            <p:cNvSpPr/>
            <p:nvPr/>
          </p:nvSpPr>
          <p:spPr bwMode="auto">
            <a:xfrm>
              <a:off x="770046" y="5765832"/>
              <a:ext cx="4052636" cy="912825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770047" y="5906267"/>
              <a:ext cx="3973171" cy="651065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6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600" b="1" dirty="0" err="1" smtClean="0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value = obj.max(3,5); // </a:t>
              </a:r>
              <a:r>
                <a:rPr lang="ko-KR" altLang="en-US" sz="16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에러</a:t>
              </a:r>
              <a:r>
                <a:rPr lang="en-US" altLang="ko-KR" sz="16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. Object</a:t>
              </a:r>
              <a:r>
                <a:rPr lang="ko-KR" altLang="en-US" sz="16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클래스에 </a:t>
              </a:r>
              <a:r>
                <a:rPr lang="en-US" altLang="ko-KR" sz="16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max()</a:t>
              </a:r>
              <a:r>
                <a:rPr lang="ko-KR" altLang="en-US" sz="16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가 없음</a:t>
              </a:r>
              <a:endParaRPr lang="en-US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4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863600"/>
          </a:xfrm>
          <a:prstGeom prst="rect">
            <a:avLst/>
          </a:prstGeom>
          <a:solidFill>
            <a:srgbClr val="E4D394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576263"/>
            <a:ext cx="8388350" cy="53975"/>
          </a:xfrm>
          <a:prstGeom prst="rect">
            <a:avLst/>
          </a:prstGeom>
          <a:solidFill>
            <a:srgbClr val="81705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883525" y="42863"/>
            <a:ext cx="1368425" cy="722312"/>
            <a:chOff x="3787" y="1570"/>
            <a:chExt cx="862" cy="455"/>
          </a:xfrm>
        </p:grpSpPr>
        <p:sp>
          <p:nvSpPr>
            <p:cNvPr id="3090" name="Text Box 5"/>
            <p:cNvSpPr txBox="1">
              <a:spLocks noChangeArrowheads="1"/>
            </p:cNvSpPr>
            <p:nvPr/>
          </p:nvSpPr>
          <p:spPr bwMode="auto">
            <a:xfrm>
              <a:off x="3787" y="1570"/>
              <a:ext cx="7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2800">
                  <a:latin typeface="Elephant" pitchFamily="18" charset="0"/>
                  <a:ea typeface="굴림" charset="-127"/>
                </a:rPr>
                <a:t>Java</a:t>
              </a:r>
            </a:p>
          </p:txBody>
        </p:sp>
        <p:sp>
          <p:nvSpPr>
            <p:cNvPr id="3091" name="Text Box 6"/>
            <p:cNvSpPr txBox="1">
              <a:spLocks noChangeArrowheads="1"/>
            </p:cNvSpPr>
            <p:nvPr/>
          </p:nvSpPr>
          <p:spPr bwMode="auto">
            <a:xfrm>
              <a:off x="4308" y="1643"/>
              <a:ext cx="34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1600">
                  <a:latin typeface="HY견고딕" pitchFamily="18" charset="-127"/>
                  <a:ea typeface="HY견고딕" pitchFamily="18" charset="-127"/>
                </a:rPr>
                <a:t>의</a:t>
              </a:r>
            </a:p>
          </p:txBody>
        </p:sp>
        <p:sp>
          <p:nvSpPr>
            <p:cNvPr id="3092" name="Text Box 7"/>
            <p:cNvSpPr txBox="1">
              <a:spLocks noChangeArrowheads="1"/>
            </p:cNvSpPr>
            <p:nvPr/>
          </p:nvSpPr>
          <p:spPr bwMode="auto">
            <a:xfrm>
              <a:off x="4121" y="1775"/>
              <a:ext cx="5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2000">
                  <a:latin typeface="바탕" pitchFamily="18" charset="-127"/>
                  <a:ea typeface="HY견고딕" pitchFamily="18" charset="-127"/>
                </a:rPr>
                <a:t>정석</a:t>
              </a:r>
            </a:p>
          </p:txBody>
        </p:sp>
      </p:grp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443663" y="620713"/>
            <a:ext cx="2016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 err="1">
                <a:latin typeface="Courier New" pitchFamily="49" charset="0"/>
                <a:ea typeface="굴림" charset="-127"/>
              </a:rPr>
              <a:t>http://</a:t>
            </a:r>
            <a:r>
              <a:rPr lang="en-US" altLang="ko-KR" sz="1000" b="1" dirty="0" err="1" smtClean="0">
                <a:latin typeface="Courier New" pitchFamily="49" charset="0"/>
                <a:ea typeface="굴림" charset="-127"/>
              </a:rPr>
              <a:t>www.codechobo.com</a:t>
            </a:r>
            <a:endParaRPr lang="en-US" altLang="ko-KR" sz="1000" b="1" dirty="0">
              <a:latin typeface="Courier New" pitchFamily="49" charset="0"/>
              <a:ea typeface="굴림" charset="-127"/>
            </a:endParaRPr>
          </a:p>
        </p:txBody>
      </p:sp>
      <p:sp>
        <p:nvSpPr>
          <p:cNvPr id="3078" name="Text Box 19"/>
          <p:cNvSpPr txBox="1">
            <a:spLocks noChangeArrowheads="1"/>
          </p:cNvSpPr>
          <p:nvPr/>
        </p:nvSpPr>
        <p:spPr bwMode="auto">
          <a:xfrm>
            <a:off x="358775" y="1016000"/>
            <a:ext cx="8569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800" b="1" dirty="0" smtClean="0"/>
              <a:t>1.3  </a:t>
            </a:r>
            <a:r>
              <a:rPr lang="ko-KR" altLang="en-US" sz="2800" b="1" dirty="0" smtClean="0"/>
              <a:t>함수형 인터페이스</a:t>
            </a:r>
            <a:r>
              <a:rPr lang="en-US" altLang="ko-KR" sz="2800" b="1" dirty="0" smtClean="0"/>
              <a:t>(2/3)</a:t>
            </a:r>
            <a:endParaRPr lang="en-US" altLang="ko-KR" sz="2800" b="1" dirty="0"/>
          </a:p>
        </p:txBody>
      </p:sp>
      <p:sp>
        <p:nvSpPr>
          <p:cNvPr id="3089" name="Text Box 9"/>
          <p:cNvSpPr txBox="1">
            <a:spLocks noChangeArrowheads="1"/>
          </p:cNvSpPr>
          <p:nvPr/>
        </p:nvSpPr>
        <p:spPr bwMode="auto">
          <a:xfrm>
            <a:off x="146050" y="188913"/>
            <a:ext cx="5686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Chapter 14. 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람다와 스트림</a:t>
            </a: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(Lambda &amp; Stream)</a:t>
            </a:r>
          </a:p>
        </p:txBody>
      </p:sp>
      <p:sp>
        <p:nvSpPr>
          <p:cNvPr id="36" name="Text Box 20"/>
          <p:cNvSpPr txBox="1">
            <a:spLocks noChangeArrowheads="1"/>
          </p:cNvSpPr>
          <p:nvPr/>
        </p:nvSpPr>
        <p:spPr bwMode="auto">
          <a:xfrm>
            <a:off x="468313" y="1712889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dirty="0" smtClean="0"/>
              <a:t>▶ </a:t>
            </a:r>
            <a:r>
              <a:rPr lang="ko-KR" altLang="en-US" b="1" dirty="0" smtClean="0"/>
              <a:t>함수형 인터페이스 </a:t>
            </a:r>
            <a:r>
              <a:rPr lang="en-US" altLang="ko-KR" b="1" dirty="0" smtClean="0"/>
              <a:t>- </a:t>
            </a:r>
            <a:r>
              <a:rPr lang="ko-KR" altLang="en-US" b="1" dirty="0" smtClean="0"/>
              <a:t>단 하나의 추상 </a:t>
            </a:r>
            <a:r>
              <a:rPr lang="ko-KR" altLang="en-US" b="1" dirty="0" err="1" smtClean="0"/>
              <a:t>메서드만</a:t>
            </a:r>
            <a:r>
              <a:rPr lang="ko-KR" altLang="en-US" b="1" dirty="0" smtClean="0"/>
              <a:t> 선언된 인터페이스</a:t>
            </a:r>
            <a:endParaRPr lang="en-US" altLang="ko-KR" b="1" dirty="0"/>
          </a:p>
        </p:txBody>
      </p:sp>
      <p:grpSp>
        <p:nvGrpSpPr>
          <p:cNvPr id="31" name="그룹 51"/>
          <p:cNvGrpSpPr/>
          <p:nvPr/>
        </p:nvGrpSpPr>
        <p:grpSpPr>
          <a:xfrm>
            <a:off x="701622" y="2187558"/>
            <a:ext cx="5623002" cy="1186753"/>
            <a:chOff x="770046" y="5765832"/>
            <a:chExt cx="4052636" cy="1046394"/>
          </a:xfrm>
        </p:grpSpPr>
        <p:sp>
          <p:nvSpPr>
            <p:cNvPr id="32" name="모서리가 둥근 직사각형 31"/>
            <p:cNvSpPr/>
            <p:nvPr/>
          </p:nvSpPr>
          <p:spPr bwMode="auto">
            <a:xfrm>
              <a:off x="770046" y="5765832"/>
              <a:ext cx="4052636" cy="912825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811636" y="5862413"/>
              <a:ext cx="3973171" cy="949813"/>
            </a:xfrm>
            <a:prstGeom prst="rect">
              <a:avLst/>
            </a:prstGeom>
          </p:spPr>
          <p:txBody>
            <a:bodyPr wrap="square" anchor="t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interface </a:t>
              </a:r>
              <a:r>
                <a:rPr lang="en-US" sz="1600" b="1" dirty="0" err="1" smtClean="0">
                  <a:latin typeface="Courier New" pitchFamily="49" charset="0"/>
                  <a:cs typeface="Courier New" pitchFamily="49" charset="0"/>
                </a:rPr>
                <a:t>MyFunction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{</a:t>
              </a:r>
            </a:p>
            <a:p>
              <a:pPr>
                <a:spcBef>
                  <a:spcPts val="0"/>
                </a:spcBef>
              </a:pP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    public abstract </a:t>
              </a:r>
              <a:r>
                <a:rPr lang="en-US" sz="1600" b="1" dirty="0" err="1" smtClean="0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max(</a:t>
              </a:r>
              <a:r>
                <a:rPr lang="en-US" sz="1600" b="1" dirty="0" err="1" smtClean="0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a, </a:t>
              </a:r>
              <a:r>
                <a:rPr lang="en-US" sz="1600" b="1" dirty="0" err="1" smtClean="0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b);</a:t>
              </a:r>
              <a:endParaRPr lang="en-US" sz="1600" b="1" dirty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}</a:t>
              </a:r>
              <a:endParaRPr lang="en-US" sz="1600" b="1" dirty="0">
                <a:latin typeface="Courier New" pitchFamily="49" charset="0"/>
                <a:cs typeface="Courier New" pitchFamily="49" charset="0"/>
              </a:endParaRPr>
            </a:p>
          </p:txBody>
        </p:sp>
      </p:grpSp>
      <p:grpSp>
        <p:nvGrpSpPr>
          <p:cNvPr id="51" name="그룹 50"/>
          <p:cNvGrpSpPr/>
          <p:nvPr/>
        </p:nvGrpSpPr>
        <p:grpSpPr>
          <a:xfrm>
            <a:off x="1833525" y="2917818"/>
            <a:ext cx="6900956" cy="1424007"/>
            <a:chOff x="1979577" y="2917818"/>
            <a:chExt cx="6900956" cy="1606572"/>
          </a:xfrm>
        </p:grpSpPr>
        <p:grpSp>
          <p:nvGrpSpPr>
            <p:cNvPr id="38" name="그룹 51"/>
            <p:cNvGrpSpPr/>
            <p:nvPr/>
          </p:nvGrpSpPr>
          <p:grpSpPr>
            <a:xfrm>
              <a:off x="2527272" y="2917818"/>
              <a:ext cx="6353261" cy="1606572"/>
              <a:chOff x="770046" y="5765832"/>
              <a:chExt cx="4099759" cy="912825"/>
            </a:xfrm>
          </p:grpSpPr>
          <p:sp>
            <p:nvSpPr>
              <p:cNvPr id="39" name="모서리가 둥근 직사각형 38"/>
              <p:cNvSpPr/>
              <p:nvPr/>
            </p:nvSpPr>
            <p:spPr bwMode="auto">
              <a:xfrm>
                <a:off x="770046" y="5765832"/>
                <a:ext cx="4052636" cy="912825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49263" marR="0" indent="-449263" algn="l" defTabSz="914400" rtl="0" eaLnBrk="1" fontAlgn="base" latin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urier New" pitchFamily="49" charset="0"/>
                  <a:ea typeface="견명조" pitchFamily="18" charset="-127"/>
                </a:endParaRPr>
              </a:p>
            </p:txBody>
          </p:sp>
          <p:sp>
            <p:nvSpPr>
              <p:cNvPr id="40" name="직사각형 39"/>
              <p:cNvSpPr/>
              <p:nvPr/>
            </p:nvSpPr>
            <p:spPr>
              <a:xfrm>
                <a:off x="811636" y="5809674"/>
                <a:ext cx="4058169" cy="751954"/>
              </a:xfrm>
              <a:prstGeom prst="rect">
                <a:avLst/>
              </a:prstGeom>
            </p:spPr>
            <p:txBody>
              <a:bodyPr wrap="square" anchor="t">
                <a:spAutoFit/>
              </a:bodyPr>
              <a:lstStyle/>
              <a:p>
                <a:pPr>
                  <a:spcBef>
                    <a:spcPts val="0"/>
                  </a:spcBef>
                </a:pPr>
                <a:r>
                  <a:rPr lang="en-US" sz="1600" b="1" dirty="0" err="1" smtClean="0">
                    <a:latin typeface="Courier New" pitchFamily="49" charset="0"/>
                    <a:cs typeface="Courier New" pitchFamily="49" charset="0"/>
                  </a:rPr>
                  <a:t>MyFunction</a:t>
                </a:r>
                <a:r>
                  <a:rPr lang="en-US" sz="1600" b="1" dirty="0" smtClean="0">
                    <a:latin typeface="Courier New" pitchFamily="49" charset="0"/>
                    <a:cs typeface="Courier New" pitchFamily="49" charset="0"/>
                  </a:rPr>
                  <a:t> f = new </a:t>
                </a:r>
                <a:r>
                  <a:rPr lang="en-US" sz="1600" b="1" dirty="0" err="1" smtClean="0">
                    <a:latin typeface="Courier New" pitchFamily="49" charset="0"/>
                    <a:cs typeface="Courier New" pitchFamily="49" charset="0"/>
                  </a:rPr>
                  <a:t>MyFunction</a:t>
                </a:r>
                <a:r>
                  <a:rPr lang="en-US" sz="1600" b="1" dirty="0" smtClean="0">
                    <a:latin typeface="Courier New" pitchFamily="49" charset="0"/>
                    <a:cs typeface="Courier New" pitchFamily="49" charset="0"/>
                  </a:rPr>
                  <a:t>() {</a:t>
                </a:r>
              </a:p>
              <a:p>
                <a:pPr>
                  <a:spcBef>
                    <a:spcPts val="0"/>
                  </a:spcBef>
                </a:pPr>
                <a:r>
                  <a:rPr lang="en-US" sz="1600" b="1" dirty="0" smtClean="0">
                    <a:latin typeface="Courier New" pitchFamily="49" charset="0"/>
                    <a:cs typeface="Courier New" pitchFamily="49" charset="0"/>
                  </a:rPr>
                  <a:t>                   public </a:t>
                </a:r>
                <a:r>
                  <a:rPr lang="en-US" sz="1600" b="1" dirty="0" err="1" smtClean="0">
                    <a:latin typeface="Courier New" pitchFamily="49" charset="0"/>
                    <a:cs typeface="Courier New" pitchFamily="49" charset="0"/>
                  </a:rPr>
                  <a:t>int</a:t>
                </a:r>
                <a:r>
                  <a:rPr lang="en-US" sz="1600" b="1" dirty="0" smtClean="0">
                    <a:latin typeface="Courier New" pitchFamily="49" charset="0"/>
                    <a:cs typeface="Courier New" pitchFamily="49" charset="0"/>
                  </a:rPr>
                  <a:t> max(</a:t>
                </a:r>
                <a:r>
                  <a:rPr lang="en-US" sz="1600" b="1" dirty="0" err="1" smtClean="0">
                    <a:latin typeface="Courier New" pitchFamily="49" charset="0"/>
                    <a:cs typeface="Courier New" pitchFamily="49" charset="0"/>
                  </a:rPr>
                  <a:t>int</a:t>
                </a:r>
                <a:r>
                  <a:rPr lang="en-US" sz="1600" b="1" dirty="0" smtClean="0">
                    <a:latin typeface="Courier New" pitchFamily="49" charset="0"/>
                    <a:cs typeface="Courier New" pitchFamily="49" charset="0"/>
                  </a:rPr>
                  <a:t> a, </a:t>
                </a:r>
                <a:r>
                  <a:rPr lang="en-US" sz="1600" b="1" dirty="0" err="1" smtClean="0">
                    <a:latin typeface="Courier New" pitchFamily="49" charset="0"/>
                    <a:cs typeface="Courier New" pitchFamily="49" charset="0"/>
                  </a:rPr>
                  <a:t>int</a:t>
                </a:r>
                <a:r>
                  <a:rPr lang="en-US" sz="1600" b="1" dirty="0" smtClean="0">
                    <a:latin typeface="Courier New" pitchFamily="49" charset="0"/>
                    <a:cs typeface="Courier New" pitchFamily="49" charset="0"/>
                  </a:rPr>
                  <a:t> b) {</a:t>
                </a:r>
              </a:p>
              <a:p>
                <a:pPr>
                  <a:spcBef>
                    <a:spcPts val="0"/>
                  </a:spcBef>
                </a:pPr>
                <a:r>
                  <a:rPr lang="en-US" sz="1600" b="1" dirty="0" smtClean="0">
                    <a:latin typeface="Courier New" pitchFamily="49" charset="0"/>
                    <a:cs typeface="Courier New" pitchFamily="49" charset="0"/>
                  </a:rPr>
                  <a:t>                        return a &gt; b ? a : b;</a:t>
                </a:r>
                <a:endParaRPr lang="en-US" sz="1600" b="1" dirty="0">
                  <a:latin typeface="Courier New" pitchFamily="49" charset="0"/>
                  <a:cs typeface="Courier New" pitchFamily="49" charset="0"/>
                </a:endParaRPr>
              </a:p>
              <a:p>
                <a:pPr>
                  <a:spcBef>
                    <a:spcPts val="0"/>
                  </a:spcBef>
                </a:pPr>
                <a:r>
                  <a:rPr lang="en-US" sz="1600" b="1" dirty="0" smtClean="0">
                    <a:latin typeface="Courier New" pitchFamily="49" charset="0"/>
                    <a:cs typeface="Courier New" pitchFamily="49" charset="0"/>
                  </a:rPr>
                  <a:t>                   }</a:t>
                </a:r>
                <a:endParaRPr lang="en-US" sz="1600" b="1" dirty="0">
                  <a:latin typeface="Courier New" pitchFamily="49" charset="0"/>
                  <a:cs typeface="Courier New" pitchFamily="49" charset="0"/>
                </a:endParaRPr>
              </a:p>
              <a:p>
                <a:pPr>
                  <a:spcBef>
                    <a:spcPts val="0"/>
                  </a:spcBef>
                </a:pPr>
                <a:r>
                  <a:rPr lang="en-US" sz="1600" b="1" dirty="0" smtClean="0">
                    <a:latin typeface="Courier New" pitchFamily="49" charset="0"/>
                    <a:cs typeface="Courier New" pitchFamily="49" charset="0"/>
                  </a:rPr>
                  <a:t>               };</a:t>
                </a:r>
                <a:endParaRPr lang="en-US" sz="1600" b="1" dirty="0"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  <p:sp>
          <p:nvSpPr>
            <p:cNvPr id="48" name="굽은 화살표 47"/>
            <p:cNvSpPr/>
            <p:nvPr/>
          </p:nvSpPr>
          <p:spPr bwMode="auto">
            <a:xfrm flipV="1">
              <a:off x="1979577" y="3136896"/>
              <a:ext cx="876312" cy="803286"/>
            </a:xfrm>
            <a:prstGeom prst="bentArrow">
              <a:avLst/>
            </a:prstGeom>
            <a:solidFill>
              <a:schemeClr val="bg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</p:grpSp>
      <p:grpSp>
        <p:nvGrpSpPr>
          <p:cNvPr id="53" name="그룹 51"/>
          <p:cNvGrpSpPr/>
          <p:nvPr/>
        </p:nvGrpSpPr>
        <p:grpSpPr>
          <a:xfrm>
            <a:off x="701622" y="4524390"/>
            <a:ext cx="7813782" cy="474670"/>
            <a:chOff x="770046" y="5484958"/>
            <a:chExt cx="4052636" cy="912824"/>
          </a:xfrm>
        </p:grpSpPr>
        <p:sp>
          <p:nvSpPr>
            <p:cNvPr id="54" name="모서리가 둥근 직사각형 53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770047" y="5625394"/>
              <a:ext cx="3973171" cy="651063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6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600" b="1" dirty="0" err="1" smtClean="0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value = f.max(3,5); // OK. </a:t>
              </a:r>
              <a:r>
                <a:rPr lang="en-US" sz="1600" b="1" dirty="0" err="1" smtClean="0">
                  <a:latin typeface="Courier New" pitchFamily="49" charset="0"/>
                  <a:cs typeface="Courier New" pitchFamily="49" charset="0"/>
                </a:rPr>
                <a:t>MyFunction</a:t>
              </a:r>
              <a:r>
                <a:rPr lang="ko-KR" altLang="en-US" sz="1600" b="1" dirty="0" smtClean="0">
                  <a:latin typeface="Courier New" pitchFamily="49" charset="0"/>
                  <a:cs typeface="Courier New" pitchFamily="49" charset="0"/>
                </a:rPr>
                <a:t>에 </a:t>
              </a:r>
              <a:r>
                <a:rPr lang="en-US" altLang="ko-KR" sz="1600" b="1" dirty="0" smtClean="0">
                  <a:latin typeface="Courier New" pitchFamily="49" charset="0"/>
                  <a:cs typeface="Courier New" pitchFamily="49" charset="0"/>
                </a:rPr>
                <a:t>max()</a:t>
              </a:r>
              <a:r>
                <a:rPr lang="ko-KR" altLang="en-US" sz="1600" b="1" dirty="0" smtClean="0">
                  <a:latin typeface="Courier New" pitchFamily="49" charset="0"/>
                  <a:cs typeface="Courier New" pitchFamily="49" charset="0"/>
                </a:rPr>
                <a:t>가 있음</a:t>
              </a:r>
              <a:endParaRPr lang="en-US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</p:grpSp>
      <p:grpSp>
        <p:nvGrpSpPr>
          <p:cNvPr id="57" name="그룹 51"/>
          <p:cNvGrpSpPr/>
          <p:nvPr/>
        </p:nvGrpSpPr>
        <p:grpSpPr>
          <a:xfrm>
            <a:off x="701622" y="5838858"/>
            <a:ext cx="7813782" cy="839799"/>
            <a:chOff x="770046" y="5484958"/>
            <a:chExt cx="4052636" cy="912824"/>
          </a:xfrm>
        </p:grpSpPr>
        <p:sp>
          <p:nvSpPr>
            <p:cNvPr id="60" name="모서리가 둥근 직사각형 59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61" name="직사각형 60"/>
            <p:cNvSpPr/>
            <p:nvPr/>
          </p:nvSpPr>
          <p:spPr>
            <a:xfrm>
              <a:off x="830573" y="5484958"/>
              <a:ext cx="3973171" cy="903257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lnSpc>
                  <a:spcPct val="150000"/>
                </a:lnSpc>
                <a:spcBef>
                  <a:spcPts val="0"/>
                </a:spcBef>
              </a:pPr>
              <a:r>
                <a:rPr lang="en-US" sz="1600" b="1" dirty="0" err="1" smtClean="0">
                  <a:latin typeface="Courier New" pitchFamily="49" charset="0"/>
                  <a:cs typeface="Courier New" pitchFamily="49" charset="0"/>
                </a:rPr>
                <a:t>MyFunction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f = (a, b) -&gt; a &gt; b ? a : b; </a:t>
              </a:r>
            </a:p>
            <a:p>
              <a:pPr>
                <a:lnSpc>
                  <a:spcPct val="150000"/>
                </a:lnSpc>
                <a:spcBef>
                  <a:spcPts val="0"/>
                </a:spcBef>
              </a:pPr>
              <a:r>
                <a:rPr lang="en-US" sz="1600" b="1" dirty="0" err="1" smtClean="0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value = f.max(3,5); // </a:t>
              </a:r>
              <a:r>
                <a:rPr lang="ko-KR" altLang="en-US" sz="1600" b="1" dirty="0" smtClean="0">
                  <a:latin typeface="Courier New" pitchFamily="49" charset="0"/>
                  <a:cs typeface="Courier New" pitchFamily="49" charset="0"/>
                </a:rPr>
                <a:t>실제로는 </a:t>
              </a:r>
              <a:r>
                <a:rPr lang="ko-KR" altLang="en-US" sz="1600" b="1" dirty="0" err="1" smtClean="0">
                  <a:latin typeface="Courier New" pitchFamily="49" charset="0"/>
                  <a:cs typeface="Courier New" pitchFamily="49" charset="0"/>
                </a:rPr>
                <a:t>람다식</a:t>
              </a:r>
              <a:r>
                <a:rPr lang="en-US" altLang="ko-KR" sz="16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ko-KR" altLang="en-US" sz="1600" b="1" dirty="0" smtClean="0">
                  <a:latin typeface="Courier New" pitchFamily="49" charset="0"/>
                  <a:cs typeface="Courier New" pitchFamily="49" charset="0"/>
                </a:rPr>
                <a:t>익명 함수</a:t>
              </a:r>
              <a:r>
                <a:rPr lang="en-US" altLang="ko-KR" sz="1600" b="1" dirty="0" smtClean="0">
                  <a:latin typeface="Courier New" pitchFamily="49" charset="0"/>
                  <a:cs typeface="Courier New" pitchFamily="49" charset="0"/>
                </a:rPr>
                <a:t>)</a:t>
              </a:r>
              <a:r>
                <a:rPr lang="ko-KR" altLang="en-US" sz="1600" b="1" dirty="0" smtClean="0">
                  <a:latin typeface="Courier New" pitchFamily="49" charset="0"/>
                  <a:cs typeface="Courier New" pitchFamily="49" charset="0"/>
                </a:rPr>
                <a:t>이 호출됨</a:t>
              </a:r>
              <a:endParaRPr lang="en-US" sz="1600" b="1" dirty="0">
                <a:latin typeface="Courier New" pitchFamily="49" charset="0"/>
                <a:cs typeface="Courier New" pitchFamily="49" charset="0"/>
              </a:endParaRPr>
            </a:p>
          </p:txBody>
        </p:sp>
      </p:grpSp>
      <p:sp>
        <p:nvSpPr>
          <p:cNvPr id="62" name="Text Box 20"/>
          <p:cNvSpPr txBox="1">
            <a:spLocks noChangeArrowheads="1"/>
          </p:cNvSpPr>
          <p:nvPr/>
        </p:nvSpPr>
        <p:spPr bwMode="auto">
          <a:xfrm>
            <a:off x="463449" y="5216555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dirty="0" smtClean="0"/>
              <a:t>▶ </a:t>
            </a:r>
            <a:r>
              <a:rPr lang="ko-KR" altLang="en-US" b="1" dirty="0" smtClean="0"/>
              <a:t>함수형 인터페이스 타입의 참조변수로 </a:t>
            </a:r>
            <a:r>
              <a:rPr lang="ko-KR" altLang="en-US" b="1" dirty="0" err="1" smtClean="0"/>
              <a:t>람다식을</a:t>
            </a:r>
            <a:r>
              <a:rPr lang="ko-KR" altLang="en-US" b="1" dirty="0" smtClean="0"/>
              <a:t> 참조할 수 있음</a:t>
            </a:r>
            <a:r>
              <a:rPr lang="en-US" altLang="ko-KR" b="1" dirty="0" smtClean="0"/>
              <a:t>.</a:t>
            </a:r>
            <a:endParaRPr lang="en-US" altLang="ko-KR" b="1" dirty="0"/>
          </a:p>
        </p:txBody>
      </p:sp>
      <p:sp>
        <p:nvSpPr>
          <p:cNvPr id="64" name="Text Box 20"/>
          <p:cNvSpPr txBox="1">
            <a:spLocks noChangeArrowheads="1"/>
          </p:cNvSpPr>
          <p:nvPr/>
        </p:nvSpPr>
        <p:spPr bwMode="auto">
          <a:xfrm>
            <a:off x="592083" y="5508659"/>
            <a:ext cx="814239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66700" indent="-266700"/>
            <a:r>
              <a:rPr lang="en-US" altLang="ko-KR" sz="1400" dirty="0" smtClean="0"/>
              <a:t>    (</a:t>
            </a:r>
            <a:r>
              <a:rPr lang="ko-KR" altLang="en-US" sz="1400" dirty="0" smtClean="0"/>
              <a:t>단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함수형 인터페이스의 </a:t>
            </a:r>
            <a:r>
              <a:rPr lang="ko-KR" altLang="en-US" sz="1400" dirty="0" err="1" smtClean="0"/>
              <a:t>메서드와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람다식의</a:t>
            </a:r>
            <a:r>
              <a:rPr lang="ko-KR" altLang="en-US" sz="1400" dirty="0" smtClean="0"/>
              <a:t> </a:t>
            </a:r>
            <a:r>
              <a:rPr lang="ko-KR" altLang="en-US" sz="1400" b="1" dirty="0" smtClean="0"/>
              <a:t>매개변수 개수와 반환타입</a:t>
            </a:r>
            <a:r>
              <a:rPr lang="ko-KR" altLang="en-US" sz="1400" dirty="0" smtClean="0"/>
              <a:t>이 일치해야 함</a:t>
            </a:r>
            <a:r>
              <a:rPr lang="en-US" altLang="ko-KR" sz="1400" dirty="0" smtClean="0"/>
              <a:t>.)</a:t>
            </a:r>
            <a:endParaRPr lang="en-US" altLang="ko-KR" sz="14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62" grpId="0"/>
      <p:bldP spid="6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863600"/>
          </a:xfrm>
          <a:prstGeom prst="rect">
            <a:avLst/>
          </a:prstGeom>
          <a:solidFill>
            <a:srgbClr val="E4D394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576263"/>
            <a:ext cx="8388350" cy="53975"/>
          </a:xfrm>
          <a:prstGeom prst="rect">
            <a:avLst/>
          </a:prstGeom>
          <a:solidFill>
            <a:srgbClr val="81705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883525" y="42863"/>
            <a:ext cx="1368425" cy="722312"/>
            <a:chOff x="3787" y="1570"/>
            <a:chExt cx="862" cy="455"/>
          </a:xfrm>
        </p:grpSpPr>
        <p:sp>
          <p:nvSpPr>
            <p:cNvPr id="3090" name="Text Box 5"/>
            <p:cNvSpPr txBox="1">
              <a:spLocks noChangeArrowheads="1"/>
            </p:cNvSpPr>
            <p:nvPr/>
          </p:nvSpPr>
          <p:spPr bwMode="auto">
            <a:xfrm>
              <a:off x="3787" y="1570"/>
              <a:ext cx="7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2800">
                  <a:latin typeface="Elephant" pitchFamily="18" charset="0"/>
                  <a:ea typeface="굴림" charset="-127"/>
                </a:rPr>
                <a:t>Java</a:t>
              </a:r>
            </a:p>
          </p:txBody>
        </p:sp>
        <p:sp>
          <p:nvSpPr>
            <p:cNvPr id="3091" name="Text Box 6"/>
            <p:cNvSpPr txBox="1">
              <a:spLocks noChangeArrowheads="1"/>
            </p:cNvSpPr>
            <p:nvPr/>
          </p:nvSpPr>
          <p:spPr bwMode="auto">
            <a:xfrm>
              <a:off x="4308" y="1643"/>
              <a:ext cx="34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1600">
                  <a:latin typeface="HY견고딕" pitchFamily="18" charset="-127"/>
                  <a:ea typeface="HY견고딕" pitchFamily="18" charset="-127"/>
                </a:rPr>
                <a:t>의</a:t>
              </a:r>
            </a:p>
          </p:txBody>
        </p:sp>
        <p:sp>
          <p:nvSpPr>
            <p:cNvPr id="3092" name="Text Box 7"/>
            <p:cNvSpPr txBox="1">
              <a:spLocks noChangeArrowheads="1"/>
            </p:cNvSpPr>
            <p:nvPr/>
          </p:nvSpPr>
          <p:spPr bwMode="auto">
            <a:xfrm>
              <a:off x="4121" y="1775"/>
              <a:ext cx="5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2000">
                  <a:latin typeface="바탕" pitchFamily="18" charset="-127"/>
                  <a:ea typeface="HY견고딕" pitchFamily="18" charset="-127"/>
                </a:rPr>
                <a:t>정석</a:t>
              </a:r>
            </a:p>
          </p:txBody>
        </p:sp>
      </p:grp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443663" y="620713"/>
            <a:ext cx="2016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 err="1">
                <a:latin typeface="Courier New" pitchFamily="49" charset="0"/>
                <a:ea typeface="굴림" charset="-127"/>
              </a:rPr>
              <a:t>http://</a:t>
            </a:r>
            <a:r>
              <a:rPr lang="en-US" altLang="ko-KR" sz="1000" b="1" dirty="0" err="1" smtClean="0">
                <a:latin typeface="Courier New" pitchFamily="49" charset="0"/>
                <a:ea typeface="굴림" charset="-127"/>
              </a:rPr>
              <a:t>www.codechobo.com</a:t>
            </a:r>
            <a:endParaRPr lang="en-US" altLang="ko-KR" sz="1000" b="1" dirty="0">
              <a:latin typeface="Courier New" pitchFamily="49" charset="0"/>
              <a:ea typeface="굴림" charset="-127"/>
            </a:endParaRPr>
          </a:p>
        </p:txBody>
      </p:sp>
      <p:sp>
        <p:nvSpPr>
          <p:cNvPr id="3078" name="Text Box 19"/>
          <p:cNvSpPr txBox="1">
            <a:spLocks noChangeArrowheads="1"/>
          </p:cNvSpPr>
          <p:nvPr/>
        </p:nvSpPr>
        <p:spPr bwMode="auto">
          <a:xfrm>
            <a:off x="358775" y="1016000"/>
            <a:ext cx="8569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800" b="1" dirty="0" smtClean="0"/>
              <a:t>1.3  </a:t>
            </a:r>
            <a:r>
              <a:rPr lang="ko-KR" altLang="en-US" sz="2800" b="1" dirty="0" smtClean="0"/>
              <a:t>함수형 인터페이스 </a:t>
            </a:r>
            <a:r>
              <a:rPr lang="en-US" altLang="ko-KR" sz="2800" b="1" dirty="0" smtClean="0"/>
              <a:t>- example</a:t>
            </a:r>
            <a:endParaRPr lang="en-US" altLang="ko-KR" sz="2800" b="1" dirty="0"/>
          </a:p>
        </p:txBody>
      </p:sp>
      <p:sp>
        <p:nvSpPr>
          <p:cNvPr id="3089" name="Text Box 9"/>
          <p:cNvSpPr txBox="1">
            <a:spLocks noChangeArrowheads="1"/>
          </p:cNvSpPr>
          <p:nvPr/>
        </p:nvSpPr>
        <p:spPr bwMode="auto">
          <a:xfrm>
            <a:off x="146050" y="188913"/>
            <a:ext cx="5686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Chapter 14. 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람다와 스트림</a:t>
            </a: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(Lambda &amp; Stream)</a:t>
            </a:r>
          </a:p>
        </p:txBody>
      </p:sp>
      <p:grpSp>
        <p:nvGrpSpPr>
          <p:cNvPr id="6" name="그룹 51"/>
          <p:cNvGrpSpPr/>
          <p:nvPr/>
        </p:nvGrpSpPr>
        <p:grpSpPr>
          <a:xfrm>
            <a:off x="665109" y="2187617"/>
            <a:ext cx="7813782" cy="2622417"/>
            <a:chOff x="770046" y="5484956"/>
            <a:chExt cx="4052636" cy="964117"/>
          </a:xfrm>
        </p:grpSpPr>
        <p:sp>
          <p:nvSpPr>
            <p:cNvPr id="54" name="모서리가 둥근 직사각형 53"/>
            <p:cNvSpPr/>
            <p:nvPr/>
          </p:nvSpPr>
          <p:spPr bwMode="auto">
            <a:xfrm>
              <a:off x="770046" y="5484956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849511" y="5543854"/>
              <a:ext cx="3973171" cy="905219"/>
            </a:xfrm>
            <a:prstGeom prst="rect">
              <a:avLst/>
            </a:prstGeom>
          </p:spPr>
          <p:txBody>
            <a:bodyPr wrap="square" anchor="t">
              <a:spAutoFit/>
            </a:bodyPr>
            <a:lstStyle/>
            <a:p>
              <a:r>
                <a:rPr lang="en-US" sz="1400" b="1" dirty="0">
                  <a:latin typeface="Courier New" pitchFamily="49" charset="0"/>
                  <a:ea typeface="Microsoft Yi Baiti" pitchFamily="66" charset="0"/>
                  <a:cs typeface="Courier New" pitchFamily="49" charset="0"/>
                </a:rPr>
                <a:t>List&lt;String&gt; list = </a:t>
              </a:r>
              <a:r>
                <a:rPr lang="en-US" sz="1400" b="1" dirty="0" err="1">
                  <a:latin typeface="Courier New" pitchFamily="49" charset="0"/>
                  <a:ea typeface="Microsoft Yi Baiti" pitchFamily="66" charset="0"/>
                  <a:cs typeface="Courier New" pitchFamily="49" charset="0"/>
                </a:rPr>
                <a:t>Arrays.asList</a:t>
              </a:r>
              <a:r>
                <a:rPr lang="en-US" sz="1400" b="1" dirty="0">
                  <a:latin typeface="Courier New" pitchFamily="49" charset="0"/>
                  <a:ea typeface="Microsoft Yi Baiti" pitchFamily="66" charset="0"/>
                  <a:cs typeface="Courier New" pitchFamily="49" charset="0"/>
                </a:rPr>
                <a:t>("</a:t>
              </a:r>
              <a:r>
                <a:rPr lang="en-US" sz="1400" b="1" dirty="0" err="1">
                  <a:latin typeface="Courier New" pitchFamily="49" charset="0"/>
                  <a:ea typeface="Microsoft Yi Baiti" pitchFamily="66" charset="0"/>
                  <a:cs typeface="Courier New" pitchFamily="49" charset="0"/>
                </a:rPr>
                <a:t>abc</a:t>
              </a:r>
              <a:r>
                <a:rPr lang="en-US" sz="1400" b="1" dirty="0">
                  <a:latin typeface="Courier New" pitchFamily="49" charset="0"/>
                  <a:ea typeface="Microsoft Yi Baiti" pitchFamily="66" charset="0"/>
                  <a:cs typeface="Courier New" pitchFamily="49" charset="0"/>
                </a:rPr>
                <a:t>", "</a:t>
              </a:r>
              <a:r>
                <a:rPr lang="en-US" sz="1400" b="1" dirty="0" err="1">
                  <a:latin typeface="Courier New" pitchFamily="49" charset="0"/>
                  <a:ea typeface="Microsoft Yi Baiti" pitchFamily="66" charset="0"/>
                  <a:cs typeface="Courier New" pitchFamily="49" charset="0"/>
                </a:rPr>
                <a:t>aaa</a:t>
              </a:r>
              <a:r>
                <a:rPr lang="en-US" sz="1400" b="1" dirty="0">
                  <a:latin typeface="Courier New" pitchFamily="49" charset="0"/>
                  <a:ea typeface="Microsoft Yi Baiti" pitchFamily="66" charset="0"/>
                  <a:cs typeface="Courier New" pitchFamily="49" charset="0"/>
                </a:rPr>
                <a:t>", "</a:t>
              </a:r>
              <a:r>
                <a:rPr lang="en-US" sz="1400" b="1" dirty="0" err="1">
                  <a:latin typeface="Courier New" pitchFamily="49" charset="0"/>
                  <a:ea typeface="Microsoft Yi Baiti" pitchFamily="66" charset="0"/>
                  <a:cs typeface="Courier New" pitchFamily="49" charset="0"/>
                </a:rPr>
                <a:t>bbb</a:t>
              </a:r>
              <a:r>
                <a:rPr lang="en-US" sz="1400" b="1" dirty="0">
                  <a:latin typeface="Courier New" pitchFamily="49" charset="0"/>
                  <a:ea typeface="Microsoft Yi Baiti" pitchFamily="66" charset="0"/>
                  <a:cs typeface="Courier New" pitchFamily="49" charset="0"/>
                </a:rPr>
                <a:t>", "</a:t>
              </a:r>
              <a:r>
                <a:rPr lang="en-US" sz="1400" b="1" dirty="0" err="1">
                  <a:latin typeface="Courier New" pitchFamily="49" charset="0"/>
                  <a:ea typeface="Microsoft Yi Baiti" pitchFamily="66" charset="0"/>
                  <a:cs typeface="Courier New" pitchFamily="49" charset="0"/>
                </a:rPr>
                <a:t>ddd</a:t>
              </a:r>
              <a:r>
                <a:rPr lang="en-US" sz="1400" b="1" dirty="0">
                  <a:latin typeface="Courier New" pitchFamily="49" charset="0"/>
                  <a:ea typeface="Microsoft Yi Baiti" pitchFamily="66" charset="0"/>
                  <a:cs typeface="Courier New" pitchFamily="49" charset="0"/>
                </a:rPr>
                <a:t>", "</a:t>
              </a:r>
              <a:r>
                <a:rPr lang="en-US" sz="1400" b="1" dirty="0" err="1">
                  <a:latin typeface="Courier New" pitchFamily="49" charset="0"/>
                  <a:ea typeface="Microsoft Yi Baiti" pitchFamily="66" charset="0"/>
                  <a:cs typeface="Courier New" pitchFamily="49" charset="0"/>
                </a:rPr>
                <a:t>aaa</a:t>
              </a:r>
              <a:r>
                <a:rPr lang="en-US" sz="1400" b="1" dirty="0">
                  <a:latin typeface="Courier New" pitchFamily="49" charset="0"/>
                  <a:ea typeface="Microsoft Yi Baiti" pitchFamily="66" charset="0"/>
                  <a:cs typeface="Courier New" pitchFamily="49" charset="0"/>
                </a:rPr>
                <a:t>");</a:t>
              </a:r>
            </a:p>
            <a:p>
              <a:endParaRPr lang="en-US" sz="1400" b="1" dirty="0" smtClean="0">
                <a:latin typeface="Courier New" pitchFamily="49" charset="0"/>
                <a:ea typeface="Microsoft Yi Baiti" pitchFamily="66" charset="0"/>
                <a:cs typeface="Courier New" pitchFamily="49" charset="0"/>
              </a:endParaRPr>
            </a:p>
            <a:p>
              <a:r>
                <a:rPr lang="en-US" sz="1400" b="1" dirty="0" err="1" smtClean="0">
                  <a:latin typeface="Courier New" pitchFamily="49" charset="0"/>
                  <a:ea typeface="Microsoft Yi Baiti" pitchFamily="66" charset="0"/>
                  <a:cs typeface="Courier New" pitchFamily="49" charset="0"/>
                </a:rPr>
                <a:t>Collections.sort</a:t>
              </a:r>
              <a:r>
                <a:rPr lang="en-US" sz="1400" b="1" dirty="0" smtClean="0">
                  <a:latin typeface="Courier New" pitchFamily="49" charset="0"/>
                  <a:ea typeface="Microsoft Yi Baiti" pitchFamily="66" charset="0"/>
                  <a:cs typeface="Courier New" pitchFamily="49" charset="0"/>
                </a:rPr>
                <a:t>(list</a:t>
              </a:r>
              <a:r>
                <a:rPr lang="en-US" sz="1400" b="1" dirty="0">
                  <a:latin typeface="Courier New" pitchFamily="49" charset="0"/>
                  <a:ea typeface="Microsoft Yi Baiti" pitchFamily="66" charset="0"/>
                  <a:cs typeface="Courier New" pitchFamily="49" charset="0"/>
                </a:rPr>
                <a:t>, </a:t>
              </a:r>
              <a:r>
                <a:rPr lang="en-US" sz="1400" b="1" dirty="0">
                  <a:solidFill>
                    <a:srgbClr val="FF0000"/>
                  </a:solidFill>
                  <a:latin typeface="Courier New" pitchFamily="49" charset="0"/>
                  <a:ea typeface="Microsoft Yi Baiti" pitchFamily="66" charset="0"/>
                  <a:cs typeface="Courier New" pitchFamily="49" charset="0"/>
                </a:rPr>
                <a:t>new Comparator&lt;String&gt;() {</a:t>
              </a:r>
            </a:p>
            <a:p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ea typeface="Microsoft Yi Baiti" pitchFamily="66" charset="0"/>
                  <a:cs typeface="Courier New" pitchFamily="49" charset="0"/>
                </a:rPr>
                <a:t>                            public </a:t>
              </a:r>
              <a:r>
                <a:rPr lang="en-US" sz="1400" b="1" dirty="0" err="1">
                  <a:solidFill>
                    <a:srgbClr val="FF0000"/>
                  </a:solidFill>
                  <a:latin typeface="Courier New" pitchFamily="49" charset="0"/>
                  <a:ea typeface="Microsoft Yi Baiti" pitchFamily="66" charset="0"/>
                  <a:cs typeface="Courier New" pitchFamily="49" charset="0"/>
                </a:rPr>
                <a:t>int</a:t>
              </a:r>
              <a:r>
                <a:rPr lang="en-US" sz="1400" b="1" dirty="0">
                  <a:solidFill>
                    <a:srgbClr val="FF0000"/>
                  </a:solidFill>
                  <a:latin typeface="Courier New" pitchFamily="49" charset="0"/>
                  <a:ea typeface="Microsoft Yi Baiti" pitchFamily="66" charset="0"/>
                  <a:cs typeface="Courier New" pitchFamily="49" charset="0"/>
                </a:rPr>
                <a:t> compare(String s1, String s2) {</a:t>
              </a:r>
            </a:p>
            <a:p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ea typeface="Microsoft Yi Baiti" pitchFamily="66" charset="0"/>
                  <a:cs typeface="Courier New" pitchFamily="49" charset="0"/>
                </a:rPr>
                <a:t>                                return </a:t>
              </a:r>
              <a:r>
                <a:rPr lang="en-US" sz="1400" b="1" dirty="0">
                  <a:solidFill>
                    <a:srgbClr val="FF0000"/>
                  </a:solidFill>
                  <a:latin typeface="Courier New" pitchFamily="49" charset="0"/>
                  <a:ea typeface="Microsoft Yi Baiti" pitchFamily="66" charset="0"/>
                  <a:cs typeface="Courier New" pitchFamily="49" charset="0"/>
                </a:rPr>
                <a:t>s2.compareTo(s1);</a:t>
              </a:r>
            </a:p>
            <a:p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ea typeface="Microsoft Yi Baiti" pitchFamily="66" charset="0"/>
                  <a:cs typeface="Courier New" pitchFamily="49" charset="0"/>
                </a:rPr>
                <a:t>                            }</a:t>
              </a:r>
              <a:endParaRPr lang="en-US" sz="1400" b="1" dirty="0">
                <a:solidFill>
                  <a:srgbClr val="FF0000"/>
                </a:solidFill>
                <a:latin typeface="Courier New" pitchFamily="49" charset="0"/>
                <a:ea typeface="Microsoft Yi Baiti" pitchFamily="66" charset="0"/>
                <a:cs typeface="Courier New" pitchFamily="49" charset="0"/>
              </a:endParaRPr>
            </a:p>
            <a:p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ea typeface="Microsoft Yi Baiti" pitchFamily="66" charset="0"/>
                  <a:cs typeface="Courier New" pitchFamily="49" charset="0"/>
                </a:rPr>
                <a:t>                       }</a:t>
              </a:r>
              <a:r>
                <a:rPr lang="en-US" sz="1400" b="1" dirty="0" smtClean="0">
                  <a:latin typeface="Courier New" pitchFamily="49" charset="0"/>
                  <a:ea typeface="Microsoft Yi Baiti" pitchFamily="66" charset="0"/>
                  <a:cs typeface="Courier New" pitchFamily="49" charset="0"/>
                </a:rPr>
                <a:t>);</a:t>
              </a:r>
              <a:endParaRPr lang="en-US" sz="1400" b="1" dirty="0">
                <a:latin typeface="Courier New" pitchFamily="49" charset="0"/>
                <a:ea typeface="Microsoft Yi Baiti" pitchFamily="66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endParaRPr lang="en-US" sz="1400" b="1" dirty="0">
                <a:solidFill>
                  <a:srgbClr val="FF0000"/>
                </a:solidFill>
                <a:latin typeface="Courier New" pitchFamily="49" charset="0"/>
                <a:ea typeface="Microsoft Yi Baiti" pitchFamily="66" charset="0"/>
                <a:cs typeface="Courier New" pitchFamily="49" charset="0"/>
              </a:endParaRPr>
            </a:p>
          </p:txBody>
        </p:sp>
      </p:grpSp>
      <p:grpSp>
        <p:nvGrpSpPr>
          <p:cNvPr id="35" name="그룹 51"/>
          <p:cNvGrpSpPr/>
          <p:nvPr/>
        </p:nvGrpSpPr>
        <p:grpSpPr>
          <a:xfrm>
            <a:off x="5521340" y="4049780"/>
            <a:ext cx="3249656" cy="1050690"/>
            <a:chOff x="770046" y="5765832"/>
            <a:chExt cx="4052636" cy="1050690"/>
          </a:xfrm>
        </p:grpSpPr>
        <p:sp>
          <p:nvSpPr>
            <p:cNvPr id="37" name="모서리가 둥근 직사각형 36"/>
            <p:cNvSpPr/>
            <p:nvPr/>
          </p:nvSpPr>
          <p:spPr bwMode="auto">
            <a:xfrm>
              <a:off x="770046" y="5765832"/>
              <a:ext cx="4052636" cy="912825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811637" y="5862415"/>
              <a:ext cx="3973172" cy="954107"/>
            </a:xfrm>
            <a:prstGeom prst="rect">
              <a:avLst/>
            </a:prstGeom>
          </p:spPr>
          <p:txBody>
            <a:bodyPr wrap="square" anchor="t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interface Comparator&lt;T&gt; {</a:t>
              </a:r>
            </a:p>
            <a:p>
              <a:pPr>
                <a:spcBef>
                  <a:spcPts val="0"/>
                </a:spcBef>
              </a:pPr>
              <a:r>
                <a:rPr lang="en-US" sz="1400" b="1" kern="0" dirty="0" smtClean="0">
                  <a:latin typeface="Courier New" pitchFamily="49" charset="0"/>
                  <a:cs typeface="Courier New" pitchFamily="49" charset="0"/>
                </a:rPr>
                <a:t>    </a:t>
              </a:r>
              <a:r>
                <a:rPr lang="en-US" sz="1400" b="1" kern="0" dirty="0" err="1" smtClean="0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400" b="1" kern="0" dirty="0" smtClean="0">
                  <a:latin typeface="Courier New" pitchFamily="49" charset="0"/>
                  <a:cs typeface="Courier New" pitchFamily="49" charset="0"/>
                </a:rPr>
                <a:t> compare(T o1, T o2);</a:t>
              </a:r>
              <a:endParaRPr lang="en-US" sz="1400" b="1" kern="0" dirty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}</a:t>
              </a:r>
              <a:endParaRPr lang="en-US" sz="1400" b="1" dirty="0">
                <a:latin typeface="Courier New" pitchFamily="49" charset="0"/>
                <a:cs typeface="Courier New" pitchFamily="49" charset="0"/>
              </a:endParaRPr>
            </a:p>
          </p:txBody>
        </p:sp>
      </p:grpSp>
      <p:grpSp>
        <p:nvGrpSpPr>
          <p:cNvPr id="43" name="그룹 42"/>
          <p:cNvGrpSpPr/>
          <p:nvPr/>
        </p:nvGrpSpPr>
        <p:grpSpPr>
          <a:xfrm>
            <a:off x="665109" y="4414910"/>
            <a:ext cx="7813782" cy="1789078"/>
            <a:chOff x="665109" y="4086234"/>
            <a:chExt cx="7813782" cy="1789078"/>
          </a:xfrm>
        </p:grpSpPr>
        <p:grpSp>
          <p:nvGrpSpPr>
            <p:cNvPr id="28" name="그룹 51"/>
            <p:cNvGrpSpPr/>
            <p:nvPr/>
          </p:nvGrpSpPr>
          <p:grpSpPr>
            <a:xfrm>
              <a:off x="665109" y="4816494"/>
              <a:ext cx="7813782" cy="1058818"/>
              <a:chOff x="770046" y="5484956"/>
              <a:chExt cx="4052636" cy="1018095"/>
            </a:xfrm>
          </p:grpSpPr>
          <p:sp>
            <p:nvSpPr>
              <p:cNvPr id="29" name="모서리가 둥근 직사각형 28"/>
              <p:cNvSpPr/>
              <p:nvPr/>
            </p:nvSpPr>
            <p:spPr bwMode="auto">
              <a:xfrm>
                <a:off x="770046" y="5484956"/>
                <a:ext cx="4052636" cy="912824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49263" marR="0" indent="-449263" algn="l" defTabSz="914400" rtl="0" eaLnBrk="1" fontAlgn="base" latin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urier New" pitchFamily="49" charset="0"/>
                  <a:ea typeface="견명조" pitchFamily="18" charset="-127"/>
                </a:endParaRPr>
              </a:p>
            </p:txBody>
          </p:sp>
          <p:sp>
            <p:nvSpPr>
              <p:cNvPr id="30" name="직사각형 29"/>
              <p:cNvSpPr/>
              <p:nvPr/>
            </p:nvSpPr>
            <p:spPr>
              <a:xfrm>
                <a:off x="849511" y="5689217"/>
                <a:ext cx="3973171" cy="813834"/>
              </a:xfrm>
              <a:prstGeom prst="rect">
                <a:avLst/>
              </a:prstGeom>
            </p:spPr>
            <p:txBody>
              <a:bodyPr wrap="square" anchor="t">
                <a:spAutoFit/>
              </a:bodyPr>
              <a:lstStyle/>
              <a:p>
                <a:r>
                  <a:rPr lang="en-US" sz="1400" b="1" dirty="0">
                    <a:latin typeface="Courier New" pitchFamily="49" charset="0"/>
                    <a:ea typeface="Microsoft Yi Baiti" pitchFamily="66" charset="0"/>
                    <a:cs typeface="Courier New" pitchFamily="49" charset="0"/>
                  </a:rPr>
                  <a:t>List&lt;String&gt; list = </a:t>
                </a:r>
                <a:r>
                  <a:rPr lang="en-US" sz="1400" b="1" dirty="0" err="1">
                    <a:latin typeface="Courier New" pitchFamily="49" charset="0"/>
                    <a:ea typeface="Microsoft Yi Baiti" pitchFamily="66" charset="0"/>
                    <a:cs typeface="Courier New" pitchFamily="49" charset="0"/>
                  </a:rPr>
                  <a:t>Arrays.asList</a:t>
                </a:r>
                <a:r>
                  <a:rPr lang="en-US" sz="1400" b="1" dirty="0">
                    <a:latin typeface="Courier New" pitchFamily="49" charset="0"/>
                    <a:ea typeface="Microsoft Yi Baiti" pitchFamily="66" charset="0"/>
                    <a:cs typeface="Courier New" pitchFamily="49" charset="0"/>
                  </a:rPr>
                  <a:t>("</a:t>
                </a:r>
                <a:r>
                  <a:rPr lang="en-US" sz="1400" b="1" dirty="0" err="1">
                    <a:latin typeface="Courier New" pitchFamily="49" charset="0"/>
                    <a:ea typeface="Microsoft Yi Baiti" pitchFamily="66" charset="0"/>
                    <a:cs typeface="Courier New" pitchFamily="49" charset="0"/>
                  </a:rPr>
                  <a:t>abc</a:t>
                </a:r>
                <a:r>
                  <a:rPr lang="en-US" sz="1400" b="1" dirty="0">
                    <a:latin typeface="Courier New" pitchFamily="49" charset="0"/>
                    <a:ea typeface="Microsoft Yi Baiti" pitchFamily="66" charset="0"/>
                    <a:cs typeface="Courier New" pitchFamily="49" charset="0"/>
                  </a:rPr>
                  <a:t>", "</a:t>
                </a:r>
                <a:r>
                  <a:rPr lang="en-US" sz="1400" b="1" dirty="0" err="1">
                    <a:latin typeface="Courier New" pitchFamily="49" charset="0"/>
                    <a:ea typeface="Microsoft Yi Baiti" pitchFamily="66" charset="0"/>
                    <a:cs typeface="Courier New" pitchFamily="49" charset="0"/>
                  </a:rPr>
                  <a:t>aaa</a:t>
                </a:r>
                <a:r>
                  <a:rPr lang="en-US" sz="1400" b="1" dirty="0">
                    <a:latin typeface="Courier New" pitchFamily="49" charset="0"/>
                    <a:ea typeface="Microsoft Yi Baiti" pitchFamily="66" charset="0"/>
                    <a:cs typeface="Courier New" pitchFamily="49" charset="0"/>
                  </a:rPr>
                  <a:t>", "</a:t>
                </a:r>
                <a:r>
                  <a:rPr lang="en-US" sz="1400" b="1" dirty="0" err="1">
                    <a:latin typeface="Courier New" pitchFamily="49" charset="0"/>
                    <a:ea typeface="Microsoft Yi Baiti" pitchFamily="66" charset="0"/>
                    <a:cs typeface="Courier New" pitchFamily="49" charset="0"/>
                  </a:rPr>
                  <a:t>bbb</a:t>
                </a:r>
                <a:r>
                  <a:rPr lang="en-US" sz="1400" b="1" dirty="0">
                    <a:latin typeface="Courier New" pitchFamily="49" charset="0"/>
                    <a:ea typeface="Microsoft Yi Baiti" pitchFamily="66" charset="0"/>
                    <a:cs typeface="Courier New" pitchFamily="49" charset="0"/>
                  </a:rPr>
                  <a:t>", "</a:t>
                </a:r>
                <a:r>
                  <a:rPr lang="en-US" sz="1400" b="1" dirty="0" err="1">
                    <a:latin typeface="Courier New" pitchFamily="49" charset="0"/>
                    <a:ea typeface="Microsoft Yi Baiti" pitchFamily="66" charset="0"/>
                    <a:cs typeface="Courier New" pitchFamily="49" charset="0"/>
                  </a:rPr>
                  <a:t>ddd</a:t>
                </a:r>
                <a:r>
                  <a:rPr lang="en-US" sz="1400" b="1" dirty="0">
                    <a:latin typeface="Courier New" pitchFamily="49" charset="0"/>
                    <a:ea typeface="Microsoft Yi Baiti" pitchFamily="66" charset="0"/>
                    <a:cs typeface="Courier New" pitchFamily="49" charset="0"/>
                  </a:rPr>
                  <a:t>", "</a:t>
                </a:r>
                <a:r>
                  <a:rPr lang="en-US" sz="1400" b="1" dirty="0" err="1">
                    <a:latin typeface="Courier New" pitchFamily="49" charset="0"/>
                    <a:ea typeface="Microsoft Yi Baiti" pitchFamily="66" charset="0"/>
                    <a:cs typeface="Courier New" pitchFamily="49" charset="0"/>
                  </a:rPr>
                  <a:t>aaa</a:t>
                </a:r>
                <a:r>
                  <a:rPr lang="en-US" sz="1400" b="1" dirty="0" smtClean="0">
                    <a:latin typeface="Courier New" pitchFamily="49" charset="0"/>
                    <a:ea typeface="Microsoft Yi Baiti" pitchFamily="66" charset="0"/>
                    <a:cs typeface="Courier New" pitchFamily="49" charset="0"/>
                  </a:rPr>
                  <a:t>");</a:t>
                </a:r>
              </a:p>
              <a:p>
                <a:r>
                  <a:rPr lang="en-US" sz="1400" b="1" dirty="0" err="1" smtClean="0">
                    <a:latin typeface="Courier New" pitchFamily="49" charset="0"/>
                    <a:ea typeface="Microsoft Yi Baiti" pitchFamily="66" charset="0"/>
                    <a:cs typeface="Courier New" pitchFamily="49" charset="0"/>
                  </a:rPr>
                  <a:t>Collections.sort</a:t>
                </a:r>
                <a:r>
                  <a:rPr lang="en-US" sz="1400" b="1" dirty="0" smtClean="0">
                    <a:latin typeface="Courier New" pitchFamily="49" charset="0"/>
                    <a:ea typeface="Microsoft Yi Baiti" pitchFamily="66" charset="0"/>
                    <a:cs typeface="Courier New" pitchFamily="49" charset="0"/>
                  </a:rPr>
                  <a:t>(list,</a:t>
                </a:r>
                <a:r>
                  <a:rPr lang="en-US" sz="1400" b="1" dirty="0" smtClean="0">
                    <a:solidFill>
                      <a:srgbClr val="FF0000"/>
                    </a:solidFill>
                    <a:latin typeface="Courier New" pitchFamily="49" charset="0"/>
                    <a:ea typeface="Microsoft Yi Baiti" pitchFamily="66" charset="0"/>
                    <a:cs typeface="Courier New" pitchFamily="49" charset="0"/>
                  </a:rPr>
                  <a:t>(s1,s2)-&gt; s2.compareTo(s1)</a:t>
                </a:r>
                <a:r>
                  <a:rPr lang="en-US" sz="1400" b="1" dirty="0" smtClean="0">
                    <a:latin typeface="Courier New" pitchFamily="49" charset="0"/>
                    <a:ea typeface="Microsoft Yi Baiti" pitchFamily="66" charset="0"/>
                    <a:cs typeface="Courier New" pitchFamily="49" charset="0"/>
                  </a:rPr>
                  <a:t>);</a:t>
                </a:r>
                <a:endParaRPr lang="en-US" sz="1400" b="1" dirty="0">
                  <a:latin typeface="Courier New" pitchFamily="49" charset="0"/>
                  <a:ea typeface="Microsoft Yi Baiti" pitchFamily="66" charset="0"/>
                  <a:cs typeface="Courier New" pitchFamily="49" charset="0"/>
                </a:endParaRPr>
              </a:p>
              <a:p>
                <a:pPr>
                  <a:spcBef>
                    <a:spcPts val="0"/>
                  </a:spcBef>
                </a:pPr>
                <a:endParaRPr lang="en-US" sz="1400" b="1" dirty="0">
                  <a:solidFill>
                    <a:srgbClr val="FF0000"/>
                  </a:solidFill>
                  <a:latin typeface="Courier New" pitchFamily="49" charset="0"/>
                  <a:ea typeface="Microsoft Yi Baiti" pitchFamily="66" charset="0"/>
                  <a:cs typeface="Courier New" pitchFamily="49" charset="0"/>
                </a:endParaRPr>
              </a:p>
            </p:txBody>
          </p:sp>
        </p:grpSp>
        <p:sp>
          <p:nvSpPr>
            <p:cNvPr id="42" name="아래쪽 화살표 41"/>
            <p:cNvSpPr/>
            <p:nvPr/>
          </p:nvSpPr>
          <p:spPr bwMode="auto">
            <a:xfrm>
              <a:off x="4352922" y="4086234"/>
              <a:ext cx="438156" cy="1022364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</p:grpSp>
      <p:sp>
        <p:nvSpPr>
          <p:cNvPr id="44" name="Text Box 20"/>
          <p:cNvSpPr txBox="1">
            <a:spLocks noChangeArrowheads="1"/>
          </p:cNvSpPr>
          <p:nvPr/>
        </p:nvSpPr>
        <p:spPr bwMode="auto">
          <a:xfrm>
            <a:off x="468313" y="1712889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dirty="0" smtClean="0"/>
              <a:t>▶ </a:t>
            </a:r>
            <a:r>
              <a:rPr lang="ko-KR" altLang="en-US" b="1" dirty="0" smtClean="0"/>
              <a:t>익명 객체를 </a:t>
            </a:r>
            <a:r>
              <a:rPr lang="ko-KR" altLang="en-US" b="1" dirty="0" err="1" smtClean="0"/>
              <a:t>람다식으로</a:t>
            </a:r>
            <a:r>
              <a:rPr lang="ko-KR" altLang="en-US" b="1" dirty="0" smtClean="0"/>
              <a:t> 대체</a:t>
            </a:r>
            <a:endParaRPr lang="en-US" altLang="ko-KR" b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863600"/>
          </a:xfrm>
          <a:prstGeom prst="rect">
            <a:avLst/>
          </a:prstGeom>
          <a:solidFill>
            <a:srgbClr val="E4D394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576263"/>
            <a:ext cx="8388350" cy="53975"/>
          </a:xfrm>
          <a:prstGeom prst="rect">
            <a:avLst/>
          </a:prstGeom>
          <a:solidFill>
            <a:srgbClr val="81705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883525" y="42863"/>
            <a:ext cx="1368425" cy="722312"/>
            <a:chOff x="3787" y="1570"/>
            <a:chExt cx="862" cy="455"/>
          </a:xfrm>
        </p:grpSpPr>
        <p:sp>
          <p:nvSpPr>
            <p:cNvPr id="3090" name="Text Box 5"/>
            <p:cNvSpPr txBox="1">
              <a:spLocks noChangeArrowheads="1"/>
            </p:cNvSpPr>
            <p:nvPr/>
          </p:nvSpPr>
          <p:spPr bwMode="auto">
            <a:xfrm>
              <a:off x="3787" y="1570"/>
              <a:ext cx="7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2800">
                  <a:latin typeface="Elephant" pitchFamily="18" charset="0"/>
                  <a:ea typeface="굴림" charset="-127"/>
                </a:rPr>
                <a:t>Java</a:t>
              </a:r>
            </a:p>
          </p:txBody>
        </p:sp>
        <p:sp>
          <p:nvSpPr>
            <p:cNvPr id="3091" name="Text Box 6"/>
            <p:cNvSpPr txBox="1">
              <a:spLocks noChangeArrowheads="1"/>
            </p:cNvSpPr>
            <p:nvPr/>
          </p:nvSpPr>
          <p:spPr bwMode="auto">
            <a:xfrm>
              <a:off x="4308" y="1643"/>
              <a:ext cx="34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1600">
                  <a:latin typeface="HY견고딕" pitchFamily="18" charset="-127"/>
                  <a:ea typeface="HY견고딕" pitchFamily="18" charset="-127"/>
                </a:rPr>
                <a:t>의</a:t>
              </a:r>
            </a:p>
          </p:txBody>
        </p:sp>
        <p:sp>
          <p:nvSpPr>
            <p:cNvPr id="3092" name="Text Box 7"/>
            <p:cNvSpPr txBox="1">
              <a:spLocks noChangeArrowheads="1"/>
            </p:cNvSpPr>
            <p:nvPr/>
          </p:nvSpPr>
          <p:spPr bwMode="auto">
            <a:xfrm>
              <a:off x="4121" y="1775"/>
              <a:ext cx="5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2000">
                  <a:latin typeface="바탕" pitchFamily="18" charset="-127"/>
                  <a:ea typeface="HY견고딕" pitchFamily="18" charset="-127"/>
                </a:rPr>
                <a:t>정석</a:t>
              </a:r>
            </a:p>
          </p:txBody>
        </p:sp>
      </p:grp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443663" y="620713"/>
            <a:ext cx="2016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 err="1">
                <a:latin typeface="Courier New" pitchFamily="49" charset="0"/>
                <a:ea typeface="굴림" charset="-127"/>
              </a:rPr>
              <a:t>http://</a:t>
            </a:r>
            <a:r>
              <a:rPr lang="en-US" altLang="ko-KR" sz="1000" b="1" dirty="0" err="1" smtClean="0">
                <a:latin typeface="Courier New" pitchFamily="49" charset="0"/>
                <a:ea typeface="굴림" charset="-127"/>
              </a:rPr>
              <a:t>www.codechobo.com</a:t>
            </a:r>
            <a:endParaRPr lang="en-US" altLang="ko-KR" sz="1000" b="1" dirty="0">
              <a:latin typeface="Courier New" pitchFamily="49" charset="0"/>
              <a:ea typeface="굴림" charset="-127"/>
            </a:endParaRPr>
          </a:p>
        </p:txBody>
      </p:sp>
      <p:sp>
        <p:nvSpPr>
          <p:cNvPr id="3078" name="Text Box 19"/>
          <p:cNvSpPr txBox="1">
            <a:spLocks noChangeArrowheads="1"/>
          </p:cNvSpPr>
          <p:nvPr/>
        </p:nvSpPr>
        <p:spPr bwMode="auto">
          <a:xfrm>
            <a:off x="358775" y="1016000"/>
            <a:ext cx="8569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800" b="1" dirty="0" smtClean="0"/>
              <a:t>1.3  </a:t>
            </a:r>
            <a:r>
              <a:rPr lang="ko-KR" altLang="en-US" sz="2800" b="1" dirty="0" smtClean="0"/>
              <a:t>함수형 인터페이스</a:t>
            </a:r>
            <a:r>
              <a:rPr lang="en-US" altLang="ko-KR" sz="2800" b="1" dirty="0" smtClean="0"/>
              <a:t> (3/3)– </a:t>
            </a:r>
            <a:r>
              <a:rPr lang="ko-KR" altLang="en-US" sz="2800" b="1" dirty="0" smtClean="0"/>
              <a:t>매개변수와 반환타입</a:t>
            </a:r>
            <a:endParaRPr lang="en-US" altLang="ko-KR" sz="2800" b="1" dirty="0"/>
          </a:p>
        </p:txBody>
      </p:sp>
      <p:sp>
        <p:nvSpPr>
          <p:cNvPr id="3089" name="Text Box 9"/>
          <p:cNvSpPr txBox="1">
            <a:spLocks noChangeArrowheads="1"/>
          </p:cNvSpPr>
          <p:nvPr/>
        </p:nvSpPr>
        <p:spPr bwMode="auto">
          <a:xfrm>
            <a:off x="146050" y="188913"/>
            <a:ext cx="5686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Chapter 14. 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람다와 스트림</a:t>
            </a: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(Lambda &amp; Stream)</a:t>
            </a:r>
          </a:p>
        </p:txBody>
      </p:sp>
      <p:sp>
        <p:nvSpPr>
          <p:cNvPr id="36" name="Text Box 20"/>
          <p:cNvSpPr txBox="1">
            <a:spLocks noChangeArrowheads="1"/>
          </p:cNvSpPr>
          <p:nvPr/>
        </p:nvSpPr>
        <p:spPr bwMode="auto">
          <a:xfrm>
            <a:off x="468313" y="1712889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dirty="0" smtClean="0"/>
              <a:t>▶ </a:t>
            </a:r>
            <a:r>
              <a:rPr lang="ko-KR" altLang="en-US" b="1" dirty="0" smtClean="0"/>
              <a:t>함수형 인터페이스 타입의 매개변수</a:t>
            </a:r>
            <a:endParaRPr lang="en-US" altLang="ko-KR" b="1" dirty="0"/>
          </a:p>
        </p:txBody>
      </p:sp>
      <p:grpSp>
        <p:nvGrpSpPr>
          <p:cNvPr id="28" name="그룹 51"/>
          <p:cNvGrpSpPr/>
          <p:nvPr/>
        </p:nvGrpSpPr>
        <p:grpSpPr>
          <a:xfrm>
            <a:off x="775815" y="2187558"/>
            <a:ext cx="7922153" cy="985851"/>
            <a:chOff x="752303" y="5695606"/>
            <a:chExt cx="4052636" cy="912823"/>
          </a:xfrm>
        </p:grpSpPr>
        <p:sp>
          <p:nvSpPr>
            <p:cNvPr id="29" name="모서리가 둥근 직사각형 28"/>
            <p:cNvSpPr/>
            <p:nvPr/>
          </p:nvSpPr>
          <p:spPr bwMode="auto">
            <a:xfrm>
              <a:off x="752303" y="5695606"/>
              <a:ext cx="4052636" cy="912823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807741" y="5763223"/>
              <a:ext cx="3961531" cy="76944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void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aMethod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600" b="1" dirty="0" err="1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MyFunction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f) { </a:t>
              </a:r>
              <a:endParaRPr lang="ko-KR" altLang="en-US" sz="1600" b="1" dirty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   </a:t>
              </a:r>
              <a:r>
                <a:rPr lang="en-US" sz="1600" b="1" dirty="0" err="1" smtClean="0">
                  <a:latin typeface="Courier New" pitchFamily="49" charset="0"/>
                  <a:cs typeface="Courier New" pitchFamily="49" charset="0"/>
                </a:rPr>
                <a:t>f.myMethod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(); //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MyFunction</a:t>
              </a:r>
              <a:r>
                <a:rPr lang="ko-KR" altLang="en-US" sz="1600" b="1" dirty="0">
                  <a:latin typeface="Courier New" pitchFamily="49" charset="0"/>
                  <a:cs typeface="Courier New" pitchFamily="49" charset="0"/>
                </a:rPr>
                <a:t>에 정의된 메서드 호출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600" b="1" dirty="0" smtClean="0">
                  <a:latin typeface="Courier New" pitchFamily="49" charset="0"/>
                  <a:cs typeface="Courier New" pitchFamily="49" charset="0"/>
                </a:rPr>
                <a:t>}</a:t>
              </a:r>
              <a:endParaRPr lang="en-US" altLang="ko-KR" sz="1600" b="1" dirty="0">
                <a:latin typeface="Courier New" pitchFamily="49" charset="0"/>
                <a:cs typeface="Courier New" pitchFamily="49" charset="0"/>
              </a:endParaRPr>
            </a:p>
          </p:txBody>
        </p:sp>
      </p:grpSp>
      <p:grpSp>
        <p:nvGrpSpPr>
          <p:cNvPr id="3" name="그룹 51"/>
          <p:cNvGrpSpPr/>
          <p:nvPr/>
        </p:nvGrpSpPr>
        <p:grpSpPr>
          <a:xfrm>
            <a:off x="6178572" y="1493811"/>
            <a:ext cx="2767113" cy="1058876"/>
            <a:chOff x="770046" y="5765833"/>
            <a:chExt cx="4052636" cy="912825"/>
          </a:xfrm>
        </p:grpSpPr>
        <p:sp>
          <p:nvSpPr>
            <p:cNvPr id="32" name="모서리가 둥근 직사각형 31"/>
            <p:cNvSpPr/>
            <p:nvPr/>
          </p:nvSpPr>
          <p:spPr bwMode="auto">
            <a:xfrm>
              <a:off x="770046" y="5765833"/>
              <a:ext cx="4052636" cy="912825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811636" y="5862412"/>
              <a:ext cx="3973171" cy="662574"/>
            </a:xfrm>
            <a:prstGeom prst="rect">
              <a:avLst/>
            </a:prstGeom>
          </p:spPr>
          <p:txBody>
            <a:bodyPr wrap="square" anchor="t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@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FunctionalInterfac</a:t>
              </a:r>
              <a:r>
                <a:rPr lang="en-US" sz="1400" b="1" dirty="0" err="1">
                  <a:latin typeface="Courier New" pitchFamily="49" charset="0"/>
                  <a:cs typeface="Courier New" pitchFamily="49" charset="0"/>
                </a:rPr>
                <a:t>e</a:t>
              </a:r>
              <a:endParaRPr lang="en-US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interface </a:t>
              </a:r>
              <a:r>
                <a:rPr lang="en-US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MyFunction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{</a:t>
              </a: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    void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myMethod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();</a:t>
              </a:r>
              <a:endParaRPr lang="en-US" sz="1400" b="1" dirty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}</a:t>
              </a:r>
              <a:endParaRPr lang="en-US" sz="1400" b="1" dirty="0">
                <a:latin typeface="Courier New" pitchFamily="49" charset="0"/>
                <a:cs typeface="Courier New" pitchFamily="49" charset="0"/>
              </a:endParaRPr>
            </a:p>
          </p:txBody>
        </p:sp>
      </p:grpSp>
      <p:grpSp>
        <p:nvGrpSpPr>
          <p:cNvPr id="31" name="그룹 51"/>
          <p:cNvGrpSpPr/>
          <p:nvPr/>
        </p:nvGrpSpPr>
        <p:grpSpPr>
          <a:xfrm>
            <a:off x="774649" y="3319461"/>
            <a:ext cx="7923320" cy="766771"/>
            <a:chOff x="751706" y="5695602"/>
            <a:chExt cx="4053233" cy="132423"/>
          </a:xfrm>
        </p:grpSpPr>
        <p:sp>
          <p:nvSpPr>
            <p:cNvPr id="34" name="모서리가 둥근 직사각형 33"/>
            <p:cNvSpPr/>
            <p:nvPr/>
          </p:nvSpPr>
          <p:spPr bwMode="auto">
            <a:xfrm>
              <a:off x="751706" y="5695602"/>
              <a:ext cx="4052636" cy="132423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843408" y="5708214"/>
              <a:ext cx="3961531" cy="11428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sz="16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MyFunction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f = 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()-&gt;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System.out.println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("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myMethod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()");</a:t>
              </a:r>
            </a:p>
            <a:p>
              <a:pPr>
                <a:spcBef>
                  <a:spcPts val="600"/>
                </a:spcBef>
              </a:pP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aMethod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(f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);</a:t>
              </a:r>
              <a:endParaRPr lang="en-US" sz="1600" b="1" dirty="0">
                <a:latin typeface="Courier New" pitchFamily="49" charset="0"/>
                <a:cs typeface="Courier New" pitchFamily="49" charset="0"/>
              </a:endParaRPr>
            </a:p>
          </p:txBody>
        </p:sp>
      </p:grpSp>
      <p:grpSp>
        <p:nvGrpSpPr>
          <p:cNvPr id="38" name="그룹 37"/>
          <p:cNvGrpSpPr/>
          <p:nvPr/>
        </p:nvGrpSpPr>
        <p:grpSpPr>
          <a:xfrm>
            <a:off x="774648" y="3969358"/>
            <a:ext cx="7923321" cy="737598"/>
            <a:chOff x="774648" y="3969358"/>
            <a:chExt cx="7923321" cy="737598"/>
          </a:xfrm>
        </p:grpSpPr>
        <p:grpSp>
          <p:nvGrpSpPr>
            <p:cNvPr id="6" name="그룹 51"/>
            <p:cNvGrpSpPr/>
            <p:nvPr/>
          </p:nvGrpSpPr>
          <p:grpSpPr>
            <a:xfrm>
              <a:off x="774648" y="4232286"/>
              <a:ext cx="7923321" cy="474670"/>
              <a:chOff x="770046" y="5484956"/>
              <a:chExt cx="4052636" cy="912824"/>
            </a:xfrm>
          </p:grpSpPr>
          <p:sp>
            <p:nvSpPr>
              <p:cNvPr id="54" name="모서리가 둥근 직사각형 53"/>
              <p:cNvSpPr/>
              <p:nvPr/>
            </p:nvSpPr>
            <p:spPr bwMode="auto">
              <a:xfrm>
                <a:off x="770046" y="5484956"/>
                <a:ext cx="4052636" cy="912824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49263" marR="0" indent="-449263" algn="l" defTabSz="914400" rtl="0" eaLnBrk="1" fontAlgn="base" latin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urier New" pitchFamily="49" charset="0"/>
                  <a:ea typeface="견명조" pitchFamily="18" charset="-127"/>
                </a:endParaRPr>
              </a:p>
            </p:txBody>
          </p:sp>
          <p:sp>
            <p:nvSpPr>
              <p:cNvPr id="55" name="직사각형 54"/>
              <p:cNvSpPr/>
              <p:nvPr/>
            </p:nvSpPr>
            <p:spPr>
              <a:xfrm>
                <a:off x="770047" y="5625392"/>
                <a:ext cx="3973171" cy="651063"/>
              </a:xfrm>
              <a:prstGeom prst="rect">
                <a:avLst/>
              </a:prstGeom>
            </p:spPr>
            <p:txBody>
              <a:bodyPr wrap="square" anchor="b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1600" b="1" dirty="0" smtClean="0">
                    <a:latin typeface="Courier New" pitchFamily="49" charset="0"/>
                    <a:cs typeface="Courier New" pitchFamily="49" charset="0"/>
                  </a:rPr>
                  <a:t>  </a:t>
                </a:r>
                <a:r>
                  <a:rPr lang="en-US" sz="1600" b="1" dirty="0" err="1" smtClean="0">
                    <a:latin typeface="Courier New" pitchFamily="49" charset="0"/>
                    <a:cs typeface="Courier New" pitchFamily="49" charset="0"/>
                  </a:rPr>
                  <a:t>aMethod</a:t>
                </a:r>
                <a:r>
                  <a:rPr lang="en-US" sz="1600" b="1" dirty="0" smtClean="0">
                    <a:latin typeface="Courier New" pitchFamily="49" charset="0"/>
                    <a:cs typeface="Courier New" pitchFamily="49" charset="0"/>
                  </a:rPr>
                  <a:t>(</a:t>
                </a:r>
                <a:r>
                  <a:rPr lang="en-US" sz="1600" b="1" dirty="0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()-&gt; </a:t>
                </a:r>
                <a:r>
                  <a:rPr lang="en-US" sz="1600" b="1" dirty="0" err="1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System.out.println</a:t>
                </a:r>
                <a:r>
                  <a:rPr lang="en-US" sz="1600" b="1" dirty="0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("</a:t>
                </a:r>
                <a:r>
                  <a:rPr lang="en-US" sz="1600" b="1" dirty="0" err="1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myMethod</a:t>
                </a:r>
                <a:r>
                  <a:rPr lang="en-US" sz="1600" b="1" dirty="0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()")</a:t>
                </a:r>
                <a:r>
                  <a:rPr lang="en-US" sz="1600" b="1" dirty="0" smtClean="0">
                    <a:latin typeface="Courier New" pitchFamily="49" charset="0"/>
                    <a:cs typeface="Courier New" pitchFamily="49" charset="0"/>
                  </a:rPr>
                  <a:t>);</a:t>
                </a:r>
                <a:endParaRPr lang="en-US" sz="1600" b="1" dirty="0"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  <p:sp>
          <p:nvSpPr>
            <p:cNvPr id="37" name="아래쪽 화살표 36"/>
            <p:cNvSpPr/>
            <p:nvPr/>
          </p:nvSpPr>
          <p:spPr bwMode="auto">
            <a:xfrm>
              <a:off x="4462461" y="3969358"/>
              <a:ext cx="438156" cy="40898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</p:grpSp>
      <p:sp>
        <p:nvSpPr>
          <p:cNvPr id="41" name="Text Box 20"/>
          <p:cNvSpPr txBox="1">
            <a:spLocks noChangeArrowheads="1"/>
          </p:cNvSpPr>
          <p:nvPr/>
        </p:nvSpPr>
        <p:spPr bwMode="auto">
          <a:xfrm>
            <a:off x="465126" y="4997477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dirty="0" smtClean="0"/>
              <a:t>▶ </a:t>
            </a:r>
            <a:r>
              <a:rPr lang="ko-KR" altLang="en-US" b="1" dirty="0" smtClean="0"/>
              <a:t>함수형 인터페이스 타입의 반환타입</a:t>
            </a:r>
            <a:endParaRPr lang="en-US" altLang="ko-KR" b="1" dirty="0"/>
          </a:p>
        </p:txBody>
      </p:sp>
      <p:grpSp>
        <p:nvGrpSpPr>
          <p:cNvPr id="42" name="그룹 51"/>
          <p:cNvGrpSpPr/>
          <p:nvPr/>
        </p:nvGrpSpPr>
        <p:grpSpPr>
          <a:xfrm>
            <a:off x="774648" y="5473728"/>
            <a:ext cx="3687813" cy="1204929"/>
            <a:chOff x="752303" y="5695606"/>
            <a:chExt cx="4052636" cy="912823"/>
          </a:xfrm>
        </p:grpSpPr>
        <p:sp>
          <p:nvSpPr>
            <p:cNvPr id="43" name="모서리가 둥근 직사각형 42"/>
            <p:cNvSpPr/>
            <p:nvPr/>
          </p:nvSpPr>
          <p:spPr bwMode="auto">
            <a:xfrm>
              <a:off x="752303" y="5695606"/>
              <a:ext cx="4052636" cy="912823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807741" y="5763226"/>
              <a:ext cx="3961531" cy="816073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6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6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MyFunction</a:t>
              </a:r>
              <a:r>
                <a:rPr lang="en-US" sz="16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600" b="1" dirty="0" err="1" smtClean="0">
                  <a:latin typeface="Courier New" pitchFamily="49" charset="0"/>
                  <a:cs typeface="Courier New" pitchFamily="49" charset="0"/>
                </a:rPr>
                <a:t>myMethod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() 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{ </a:t>
              </a:r>
              <a:endParaRPr lang="ko-KR" altLang="en-US" sz="1600" b="1" dirty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    </a:t>
              </a:r>
              <a:r>
                <a:rPr lang="en-US" sz="16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MyFunction</a:t>
              </a:r>
              <a:r>
                <a:rPr lang="en-US" sz="16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600" b="1" dirty="0" smtClean="0">
                  <a:latin typeface="Courier New" pitchFamily="49" charset="0"/>
                  <a:cs typeface="Courier New" pitchFamily="49" charset="0"/>
                </a:rPr>
                <a:t>f = ()-&gt;{};</a:t>
              </a:r>
              <a:endParaRPr lang="en-US" altLang="ko-KR" sz="16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altLang="ko-KR" sz="1600" b="1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altLang="ko-KR" sz="1600" b="1" dirty="0" smtClean="0">
                  <a:latin typeface="Courier New" pitchFamily="49" charset="0"/>
                  <a:cs typeface="Courier New" pitchFamily="49" charset="0"/>
                </a:rPr>
                <a:t>   return f;</a:t>
              </a:r>
              <a:endParaRPr lang="ko-KR" altLang="en-US" sz="1600" b="1" dirty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altLang="ko-KR" sz="1600" b="1" dirty="0" smtClean="0">
                  <a:latin typeface="Courier New" pitchFamily="49" charset="0"/>
                  <a:cs typeface="Courier New" pitchFamily="49" charset="0"/>
                </a:rPr>
                <a:t> }</a:t>
              </a:r>
              <a:endParaRPr lang="en-US" altLang="ko-KR" sz="1600" b="1" dirty="0">
                <a:latin typeface="Courier New" pitchFamily="49" charset="0"/>
                <a:cs typeface="Courier New" pitchFamily="49" charset="0"/>
              </a:endParaRPr>
            </a:p>
          </p:txBody>
        </p:sp>
      </p:grpSp>
      <p:grpSp>
        <p:nvGrpSpPr>
          <p:cNvPr id="50" name="그룹 49"/>
          <p:cNvGrpSpPr/>
          <p:nvPr/>
        </p:nvGrpSpPr>
        <p:grpSpPr>
          <a:xfrm>
            <a:off x="4316409" y="5473728"/>
            <a:ext cx="4162482" cy="1204929"/>
            <a:chOff x="4352922" y="5473728"/>
            <a:chExt cx="4162482" cy="1204929"/>
          </a:xfrm>
        </p:grpSpPr>
        <p:grpSp>
          <p:nvGrpSpPr>
            <p:cNvPr id="45" name="그룹 51"/>
            <p:cNvGrpSpPr/>
            <p:nvPr/>
          </p:nvGrpSpPr>
          <p:grpSpPr>
            <a:xfrm>
              <a:off x="4827591" y="5473728"/>
              <a:ext cx="3687813" cy="1204929"/>
              <a:chOff x="752303" y="5695606"/>
              <a:chExt cx="4052636" cy="912823"/>
            </a:xfrm>
          </p:grpSpPr>
          <p:sp>
            <p:nvSpPr>
              <p:cNvPr id="46" name="모서리가 둥근 직사각형 45"/>
              <p:cNvSpPr/>
              <p:nvPr/>
            </p:nvSpPr>
            <p:spPr bwMode="auto">
              <a:xfrm>
                <a:off x="752303" y="5695606"/>
                <a:ext cx="4052636" cy="912823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49263" marR="0" indent="-449263" algn="l" defTabSz="914400" rtl="0" eaLnBrk="1" fontAlgn="base" latin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urier New" pitchFamily="49" charset="0"/>
                  <a:ea typeface="견명조" pitchFamily="18" charset="-127"/>
                </a:endParaRPr>
              </a:p>
            </p:txBody>
          </p:sp>
          <p:sp>
            <p:nvSpPr>
              <p:cNvPr id="47" name="직사각형 46"/>
              <p:cNvSpPr/>
              <p:nvPr/>
            </p:nvSpPr>
            <p:spPr>
              <a:xfrm>
                <a:off x="807741" y="5840581"/>
                <a:ext cx="3961531" cy="629542"/>
              </a:xfrm>
              <a:prstGeom prst="rect">
                <a:avLst/>
              </a:prstGeom>
            </p:spPr>
            <p:txBody>
              <a:bodyPr wrap="square" anchor="b">
                <a:spAutoFit/>
              </a:bodyPr>
              <a:lstStyle/>
              <a:p>
                <a:pPr>
                  <a:spcBef>
                    <a:spcPts val="0"/>
                  </a:spcBef>
                </a:pPr>
                <a:r>
                  <a:rPr lang="en-US" sz="1600" b="1" dirty="0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  </a:t>
                </a:r>
                <a:r>
                  <a:rPr lang="en-US" sz="1600" b="1" dirty="0" err="1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MyFunction</a:t>
                </a:r>
                <a:r>
                  <a:rPr lang="en-US" sz="1600" b="1" dirty="0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 </a:t>
                </a:r>
                <a:r>
                  <a:rPr lang="en-US" sz="1600" b="1" dirty="0" err="1" smtClean="0">
                    <a:latin typeface="Courier New" pitchFamily="49" charset="0"/>
                    <a:cs typeface="Courier New" pitchFamily="49" charset="0"/>
                  </a:rPr>
                  <a:t>myMethod</a:t>
                </a:r>
                <a:r>
                  <a:rPr lang="en-US" sz="1600" b="1" dirty="0" smtClean="0">
                    <a:latin typeface="Courier New" pitchFamily="49" charset="0"/>
                    <a:cs typeface="Courier New" pitchFamily="49" charset="0"/>
                  </a:rPr>
                  <a:t>() </a:t>
                </a:r>
                <a:r>
                  <a:rPr lang="en-US" sz="1600" b="1" dirty="0">
                    <a:latin typeface="Courier New" pitchFamily="49" charset="0"/>
                    <a:cs typeface="Courier New" pitchFamily="49" charset="0"/>
                  </a:rPr>
                  <a:t>{ </a:t>
                </a:r>
                <a:endParaRPr lang="ko-KR" altLang="en-US" sz="1600" b="1" dirty="0">
                  <a:latin typeface="Courier New" pitchFamily="49" charset="0"/>
                  <a:cs typeface="Courier New" pitchFamily="49" charset="0"/>
                </a:endParaRPr>
              </a:p>
              <a:p>
                <a:pPr>
                  <a:spcBef>
                    <a:spcPts val="0"/>
                  </a:spcBef>
                </a:pPr>
                <a:r>
                  <a:rPr lang="en-US" sz="1600" b="1" dirty="0" smtClean="0">
                    <a:latin typeface="Courier New" pitchFamily="49" charset="0"/>
                    <a:cs typeface="Courier New" pitchFamily="49" charset="0"/>
                  </a:rPr>
                  <a:t>     return ()-&gt;{};</a:t>
                </a:r>
                <a:endParaRPr lang="ko-KR" altLang="en-US" sz="1600" b="1" dirty="0">
                  <a:latin typeface="Courier New" pitchFamily="49" charset="0"/>
                  <a:cs typeface="Courier New" pitchFamily="49" charset="0"/>
                </a:endParaRPr>
              </a:p>
              <a:p>
                <a:pPr>
                  <a:spcBef>
                    <a:spcPts val="0"/>
                  </a:spcBef>
                </a:pPr>
                <a:r>
                  <a:rPr lang="en-US" altLang="ko-KR" sz="1600" b="1" dirty="0" smtClean="0">
                    <a:latin typeface="Courier New" pitchFamily="49" charset="0"/>
                    <a:cs typeface="Courier New" pitchFamily="49" charset="0"/>
                  </a:rPr>
                  <a:t>  }</a:t>
                </a:r>
                <a:endParaRPr lang="en-US" altLang="ko-KR" sz="1600" b="1" dirty="0"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  <p:sp>
          <p:nvSpPr>
            <p:cNvPr id="49" name="자유형 48"/>
            <p:cNvSpPr/>
            <p:nvPr/>
          </p:nvSpPr>
          <p:spPr bwMode="auto">
            <a:xfrm flipV="1">
              <a:off x="4352922" y="5948397"/>
              <a:ext cx="730260" cy="276999"/>
            </a:xfrm>
            <a:custGeom>
              <a:avLst/>
              <a:gdLst>
                <a:gd name="connsiteX0" fmla="*/ 0 w 1898676"/>
                <a:gd name="connsiteY0" fmla="*/ 152847 h 611386"/>
                <a:gd name="connsiteX1" fmla="*/ 1471066 w 1898676"/>
                <a:gd name="connsiteY1" fmla="*/ 152847 h 611386"/>
                <a:gd name="connsiteX2" fmla="*/ 1471066 w 1898676"/>
                <a:gd name="connsiteY2" fmla="*/ 0 h 611386"/>
                <a:gd name="connsiteX3" fmla="*/ 1898676 w 1898676"/>
                <a:gd name="connsiteY3" fmla="*/ 305693 h 611386"/>
                <a:gd name="connsiteX4" fmla="*/ 1471066 w 1898676"/>
                <a:gd name="connsiteY4" fmla="*/ 611386 h 611386"/>
                <a:gd name="connsiteX5" fmla="*/ 1471066 w 1898676"/>
                <a:gd name="connsiteY5" fmla="*/ 458540 h 611386"/>
                <a:gd name="connsiteX6" fmla="*/ 0 w 1898676"/>
                <a:gd name="connsiteY6" fmla="*/ 458540 h 611386"/>
                <a:gd name="connsiteX7" fmla="*/ 0 w 1898676"/>
                <a:gd name="connsiteY7" fmla="*/ 152847 h 611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8676" h="611386">
                  <a:moveTo>
                    <a:pt x="0" y="152847"/>
                  </a:moveTo>
                  <a:lnTo>
                    <a:pt x="1471066" y="152847"/>
                  </a:lnTo>
                  <a:lnTo>
                    <a:pt x="1471066" y="0"/>
                  </a:lnTo>
                  <a:lnTo>
                    <a:pt x="1898676" y="305693"/>
                  </a:lnTo>
                  <a:lnTo>
                    <a:pt x="1471066" y="611386"/>
                  </a:lnTo>
                  <a:lnTo>
                    <a:pt x="1471066" y="458540"/>
                  </a:lnTo>
                  <a:lnTo>
                    <a:pt x="0" y="458540"/>
                  </a:lnTo>
                  <a:lnTo>
                    <a:pt x="0" y="152847"/>
                  </a:lnTo>
                  <a:close/>
                </a:path>
              </a:pathLst>
            </a:custGeom>
            <a:solidFill>
              <a:schemeClr val="bg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4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863600"/>
          </a:xfrm>
          <a:prstGeom prst="rect">
            <a:avLst/>
          </a:prstGeom>
          <a:solidFill>
            <a:srgbClr val="E4D394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576263"/>
            <a:ext cx="8388350" cy="53975"/>
          </a:xfrm>
          <a:prstGeom prst="rect">
            <a:avLst/>
          </a:prstGeom>
          <a:solidFill>
            <a:srgbClr val="81705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883525" y="42863"/>
            <a:ext cx="1368425" cy="722312"/>
            <a:chOff x="3787" y="1570"/>
            <a:chExt cx="862" cy="455"/>
          </a:xfrm>
        </p:grpSpPr>
        <p:sp>
          <p:nvSpPr>
            <p:cNvPr id="3090" name="Text Box 5"/>
            <p:cNvSpPr txBox="1">
              <a:spLocks noChangeArrowheads="1"/>
            </p:cNvSpPr>
            <p:nvPr/>
          </p:nvSpPr>
          <p:spPr bwMode="auto">
            <a:xfrm>
              <a:off x="3787" y="1570"/>
              <a:ext cx="7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2800">
                  <a:latin typeface="Elephant" pitchFamily="18" charset="0"/>
                  <a:ea typeface="굴림" charset="-127"/>
                </a:rPr>
                <a:t>Java</a:t>
              </a:r>
            </a:p>
          </p:txBody>
        </p:sp>
        <p:sp>
          <p:nvSpPr>
            <p:cNvPr id="3091" name="Text Box 6"/>
            <p:cNvSpPr txBox="1">
              <a:spLocks noChangeArrowheads="1"/>
            </p:cNvSpPr>
            <p:nvPr/>
          </p:nvSpPr>
          <p:spPr bwMode="auto">
            <a:xfrm>
              <a:off x="4308" y="1643"/>
              <a:ext cx="34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1600">
                  <a:latin typeface="HY견고딕" pitchFamily="18" charset="-127"/>
                  <a:ea typeface="HY견고딕" pitchFamily="18" charset="-127"/>
                </a:rPr>
                <a:t>의</a:t>
              </a:r>
            </a:p>
          </p:txBody>
        </p:sp>
        <p:sp>
          <p:nvSpPr>
            <p:cNvPr id="3092" name="Text Box 7"/>
            <p:cNvSpPr txBox="1">
              <a:spLocks noChangeArrowheads="1"/>
            </p:cNvSpPr>
            <p:nvPr/>
          </p:nvSpPr>
          <p:spPr bwMode="auto">
            <a:xfrm>
              <a:off x="4121" y="1775"/>
              <a:ext cx="5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2000">
                  <a:latin typeface="바탕" pitchFamily="18" charset="-127"/>
                  <a:ea typeface="HY견고딕" pitchFamily="18" charset="-127"/>
                </a:rPr>
                <a:t>정석</a:t>
              </a:r>
            </a:p>
          </p:txBody>
        </p:sp>
      </p:grp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443663" y="620713"/>
            <a:ext cx="2016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 err="1">
                <a:latin typeface="Courier New" pitchFamily="49" charset="0"/>
                <a:ea typeface="굴림" charset="-127"/>
              </a:rPr>
              <a:t>http://</a:t>
            </a:r>
            <a:r>
              <a:rPr lang="en-US" altLang="ko-KR" sz="1000" b="1" dirty="0" err="1" smtClean="0">
                <a:latin typeface="Courier New" pitchFamily="49" charset="0"/>
                <a:ea typeface="굴림" charset="-127"/>
              </a:rPr>
              <a:t>www.codechobo.com</a:t>
            </a:r>
            <a:endParaRPr lang="en-US" altLang="ko-KR" sz="1000" b="1" dirty="0">
              <a:latin typeface="Courier New" pitchFamily="49" charset="0"/>
              <a:ea typeface="굴림" charset="-127"/>
            </a:endParaRPr>
          </a:p>
        </p:txBody>
      </p:sp>
      <p:sp>
        <p:nvSpPr>
          <p:cNvPr id="3078" name="Text Box 19"/>
          <p:cNvSpPr txBox="1">
            <a:spLocks noChangeArrowheads="1"/>
          </p:cNvSpPr>
          <p:nvPr/>
        </p:nvSpPr>
        <p:spPr bwMode="auto">
          <a:xfrm>
            <a:off x="358775" y="1016000"/>
            <a:ext cx="8569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800" b="1" dirty="0" smtClean="0"/>
              <a:t>1.4  </a:t>
            </a:r>
            <a:r>
              <a:rPr lang="en-US" altLang="ko-KR" sz="2800" b="1" dirty="0" err="1" smtClean="0"/>
              <a:t>java.util.function</a:t>
            </a:r>
            <a:r>
              <a:rPr lang="ko-KR" altLang="en-US" sz="2800" b="1" dirty="0" smtClean="0"/>
              <a:t>패키지</a:t>
            </a:r>
            <a:r>
              <a:rPr lang="en-US" altLang="ko-KR" sz="2800" b="1" dirty="0" smtClean="0"/>
              <a:t>(1/5)</a:t>
            </a:r>
            <a:endParaRPr lang="en-US" altLang="ko-KR" sz="2800" b="1" dirty="0"/>
          </a:p>
        </p:txBody>
      </p:sp>
      <p:sp>
        <p:nvSpPr>
          <p:cNvPr id="3089" name="Text Box 9"/>
          <p:cNvSpPr txBox="1">
            <a:spLocks noChangeArrowheads="1"/>
          </p:cNvSpPr>
          <p:nvPr/>
        </p:nvSpPr>
        <p:spPr bwMode="auto">
          <a:xfrm>
            <a:off x="146050" y="188913"/>
            <a:ext cx="5686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Chapter 14. 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람다와 스트림</a:t>
            </a: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(Lambda &amp; Stream)</a:t>
            </a:r>
          </a:p>
        </p:txBody>
      </p:sp>
      <p:sp>
        <p:nvSpPr>
          <p:cNvPr id="36" name="Text Box 20"/>
          <p:cNvSpPr txBox="1">
            <a:spLocks noChangeArrowheads="1"/>
          </p:cNvSpPr>
          <p:nvPr/>
        </p:nvSpPr>
        <p:spPr bwMode="auto">
          <a:xfrm>
            <a:off x="468313" y="1712889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smtClean="0"/>
              <a:t>자주 사용되는 다양한 함수형 인터페이스를 제공</a:t>
            </a:r>
            <a:r>
              <a:rPr lang="en-US" altLang="ko-KR" b="1" dirty="0" smtClean="0"/>
              <a:t>.</a:t>
            </a:r>
            <a:endParaRPr lang="en-US" altLang="ko-KR" b="1" dirty="0"/>
          </a:p>
        </p:txBody>
      </p:sp>
      <p:pic>
        <p:nvPicPr>
          <p:cNvPr id="4813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20700" y="2114532"/>
            <a:ext cx="6608853" cy="302439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/>
            <a:tailEnd/>
          </a:ln>
          <a:effectLst/>
        </p:spPr>
      </p:pic>
      <p:grpSp>
        <p:nvGrpSpPr>
          <p:cNvPr id="30" name="그룹 51"/>
          <p:cNvGrpSpPr/>
          <p:nvPr/>
        </p:nvGrpSpPr>
        <p:grpSpPr>
          <a:xfrm>
            <a:off x="885356" y="5291163"/>
            <a:ext cx="6644198" cy="1332000"/>
            <a:chOff x="752303" y="5695603"/>
            <a:chExt cx="4052636" cy="1303150"/>
          </a:xfrm>
        </p:grpSpPr>
        <p:sp>
          <p:nvSpPr>
            <p:cNvPr id="31" name="모서리가 둥근 직사각형 30"/>
            <p:cNvSpPr/>
            <p:nvPr/>
          </p:nvSpPr>
          <p:spPr bwMode="auto">
            <a:xfrm>
              <a:off x="752303" y="5695603"/>
              <a:ext cx="4052636" cy="130315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807741" y="5763223"/>
              <a:ext cx="3961531" cy="114422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Predicate&lt;String</a:t>
              </a:r>
              <a:r>
                <a:rPr lang="en-US" sz="1400" b="1" dirty="0">
                  <a:latin typeface="Courier New" pitchFamily="49" charset="0"/>
                  <a:cs typeface="Courier New" pitchFamily="49" charset="0"/>
                </a:rPr>
                <a:t>&gt; </a:t>
              </a:r>
              <a:r>
                <a:rPr lang="en-US" sz="1400" b="1" dirty="0" err="1">
                  <a:latin typeface="Courier New" pitchFamily="49" charset="0"/>
                  <a:cs typeface="Courier New" pitchFamily="49" charset="0"/>
                </a:rPr>
                <a:t>isEmptyStr</a:t>
              </a:r>
              <a:r>
                <a:rPr lang="en-US" sz="1400" b="1" dirty="0">
                  <a:latin typeface="Courier New" pitchFamily="49" charset="0"/>
                  <a:cs typeface="Courier New" pitchFamily="49" charset="0"/>
                </a:rPr>
                <a:t> = s -&gt; </a:t>
              </a:r>
              <a:r>
                <a:rPr lang="en-US" sz="1400" b="1" dirty="0" err="1">
                  <a:latin typeface="Courier New" pitchFamily="49" charset="0"/>
                  <a:cs typeface="Courier New" pitchFamily="49" charset="0"/>
                </a:rPr>
                <a:t>s.length</a:t>
              </a:r>
              <a:r>
                <a:rPr lang="en-US" sz="1400" b="1" dirty="0">
                  <a:latin typeface="Courier New" pitchFamily="49" charset="0"/>
                  <a:cs typeface="Courier New" pitchFamily="49" charset="0"/>
                </a:rPr>
                <a:t>()==0;</a:t>
              </a: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String </a:t>
              </a:r>
              <a:r>
                <a:rPr lang="en-US" sz="1400" b="1" dirty="0">
                  <a:latin typeface="Courier New" pitchFamily="49" charset="0"/>
                  <a:cs typeface="Courier New" pitchFamily="49" charset="0"/>
                </a:rPr>
                <a:t>s = 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"";</a:t>
              </a:r>
            </a:p>
            <a:p>
              <a:pPr>
                <a:spcBef>
                  <a:spcPts val="0"/>
                </a:spcBef>
              </a:pPr>
              <a:endParaRPr lang="en-US" sz="1400" b="1" dirty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if(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isEmptyStr.</a:t>
              </a:r>
              <a:r>
                <a:rPr lang="en-US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test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(s</a:t>
              </a:r>
              <a:r>
                <a:rPr lang="en-US" sz="1400" b="1" dirty="0">
                  <a:latin typeface="Courier New" pitchFamily="49" charset="0"/>
                  <a:cs typeface="Courier New" pitchFamily="49" charset="0"/>
                </a:rPr>
                <a:t>)) // if(</a:t>
              </a:r>
              <a:r>
                <a:rPr lang="en-US" sz="1400" b="1" dirty="0" err="1">
                  <a:latin typeface="Courier New" pitchFamily="49" charset="0"/>
                  <a:cs typeface="Courier New" pitchFamily="49" charset="0"/>
                </a:rPr>
                <a:t>s.length</a:t>
              </a:r>
              <a:r>
                <a:rPr lang="en-US" sz="1400" b="1" dirty="0">
                  <a:latin typeface="Courier New" pitchFamily="49" charset="0"/>
                  <a:cs typeface="Courier New" pitchFamily="49" charset="0"/>
                </a:rPr>
                <a:t>()==0)</a:t>
              </a: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    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System.out.println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("This is an </a:t>
              </a:r>
              <a:r>
                <a:rPr lang="en-US" sz="1400" b="1" dirty="0">
                  <a:latin typeface="Courier New" pitchFamily="49" charset="0"/>
                  <a:cs typeface="Courier New" pitchFamily="49" charset="0"/>
                </a:rPr>
                <a:t>empty 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String.");</a:t>
              </a:r>
              <a:endParaRPr lang="en-US" sz="1400" b="1" dirty="0">
                <a:latin typeface="Courier New" pitchFamily="49" charset="0"/>
                <a:cs typeface="Courier New" pitchFamily="49" charset="0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863600"/>
          </a:xfrm>
          <a:prstGeom prst="rect">
            <a:avLst/>
          </a:prstGeom>
          <a:solidFill>
            <a:srgbClr val="E4D394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576263"/>
            <a:ext cx="8388350" cy="53975"/>
          </a:xfrm>
          <a:prstGeom prst="rect">
            <a:avLst/>
          </a:prstGeom>
          <a:solidFill>
            <a:srgbClr val="81705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883525" y="42863"/>
            <a:ext cx="1368425" cy="722312"/>
            <a:chOff x="3787" y="1570"/>
            <a:chExt cx="862" cy="455"/>
          </a:xfrm>
        </p:grpSpPr>
        <p:sp>
          <p:nvSpPr>
            <p:cNvPr id="3090" name="Text Box 5"/>
            <p:cNvSpPr txBox="1">
              <a:spLocks noChangeArrowheads="1"/>
            </p:cNvSpPr>
            <p:nvPr/>
          </p:nvSpPr>
          <p:spPr bwMode="auto">
            <a:xfrm>
              <a:off x="3787" y="1570"/>
              <a:ext cx="7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2800">
                  <a:latin typeface="Elephant" pitchFamily="18" charset="0"/>
                  <a:ea typeface="굴림" charset="-127"/>
                </a:rPr>
                <a:t>Java</a:t>
              </a:r>
            </a:p>
          </p:txBody>
        </p:sp>
        <p:sp>
          <p:nvSpPr>
            <p:cNvPr id="3091" name="Text Box 6"/>
            <p:cNvSpPr txBox="1">
              <a:spLocks noChangeArrowheads="1"/>
            </p:cNvSpPr>
            <p:nvPr/>
          </p:nvSpPr>
          <p:spPr bwMode="auto">
            <a:xfrm>
              <a:off x="4308" y="1643"/>
              <a:ext cx="34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1600">
                  <a:latin typeface="HY견고딕" pitchFamily="18" charset="-127"/>
                  <a:ea typeface="HY견고딕" pitchFamily="18" charset="-127"/>
                </a:rPr>
                <a:t>의</a:t>
              </a:r>
            </a:p>
          </p:txBody>
        </p:sp>
        <p:sp>
          <p:nvSpPr>
            <p:cNvPr id="3092" name="Text Box 7"/>
            <p:cNvSpPr txBox="1">
              <a:spLocks noChangeArrowheads="1"/>
            </p:cNvSpPr>
            <p:nvPr/>
          </p:nvSpPr>
          <p:spPr bwMode="auto">
            <a:xfrm>
              <a:off x="4121" y="1775"/>
              <a:ext cx="5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2000">
                  <a:latin typeface="바탕" pitchFamily="18" charset="-127"/>
                  <a:ea typeface="HY견고딕" pitchFamily="18" charset="-127"/>
                </a:rPr>
                <a:t>정석</a:t>
              </a:r>
            </a:p>
          </p:txBody>
        </p:sp>
      </p:grp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443663" y="620713"/>
            <a:ext cx="2016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 err="1">
                <a:latin typeface="Courier New" pitchFamily="49" charset="0"/>
                <a:ea typeface="굴림" charset="-127"/>
              </a:rPr>
              <a:t>http://</a:t>
            </a:r>
            <a:r>
              <a:rPr lang="en-US" altLang="ko-KR" sz="1000" b="1" dirty="0" err="1" smtClean="0">
                <a:latin typeface="Courier New" pitchFamily="49" charset="0"/>
                <a:ea typeface="굴림" charset="-127"/>
              </a:rPr>
              <a:t>www.codechobo.com</a:t>
            </a:r>
            <a:endParaRPr lang="en-US" altLang="ko-KR" sz="1000" b="1" dirty="0">
              <a:latin typeface="Courier New" pitchFamily="49" charset="0"/>
              <a:ea typeface="굴림" charset="-127"/>
            </a:endParaRPr>
          </a:p>
        </p:txBody>
      </p:sp>
      <p:sp>
        <p:nvSpPr>
          <p:cNvPr id="3078" name="Text Box 19"/>
          <p:cNvSpPr txBox="1">
            <a:spLocks noChangeArrowheads="1"/>
          </p:cNvSpPr>
          <p:nvPr/>
        </p:nvSpPr>
        <p:spPr bwMode="auto">
          <a:xfrm>
            <a:off x="358775" y="1016000"/>
            <a:ext cx="8569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800" b="1" dirty="0" smtClean="0"/>
              <a:t>1.4  </a:t>
            </a:r>
            <a:r>
              <a:rPr lang="en-US" altLang="ko-KR" sz="2800" b="1" dirty="0" err="1" smtClean="0"/>
              <a:t>java.util.function</a:t>
            </a:r>
            <a:r>
              <a:rPr lang="ko-KR" altLang="en-US" sz="2800" b="1" dirty="0" smtClean="0"/>
              <a:t>패키지 </a:t>
            </a:r>
            <a:r>
              <a:rPr lang="en-US" altLang="ko-KR" sz="2800" b="1" dirty="0" smtClean="0"/>
              <a:t>- Quiz</a:t>
            </a:r>
            <a:endParaRPr lang="en-US" altLang="ko-KR" sz="2800" b="1" dirty="0"/>
          </a:p>
        </p:txBody>
      </p:sp>
      <p:sp>
        <p:nvSpPr>
          <p:cNvPr id="3089" name="Text Box 9"/>
          <p:cNvSpPr txBox="1">
            <a:spLocks noChangeArrowheads="1"/>
          </p:cNvSpPr>
          <p:nvPr/>
        </p:nvSpPr>
        <p:spPr bwMode="auto">
          <a:xfrm>
            <a:off x="146050" y="188913"/>
            <a:ext cx="5686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Chapter 14. 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람다와 스트림</a:t>
            </a: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(Lambda &amp; Stream)</a:t>
            </a:r>
          </a:p>
        </p:txBody>
      </p:sp>
      <p:sp>
        <p:nvSpPr>
          <p:cNvPr id="36" name="Text Box 20"/>
          <p:cNvSpPr txBox="1">
            <a:spLocks noChangeArrowheads="1"/>
          </p:cNvSpPr>
          <p:nvPr/>
        </p:nvSpPr>
        <p:spPr bwMode="auto">
          <a:xfrm>
            <a:off x="226953" y="1712889"/>
            <a:ext cx="939807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66700" indent="-266700"/>
            <a:r>
              <a:rPr lang="en-US" altLang="ko-KR" b="1" dirty="0" smtClean="0"/>
              <a:t>Q. </a:t>
            </a:r>
            <a:r>
              <a:rPr lang="ko-KR" altLang="en-US" b="1" dirty="0" smtClean="0"/>
              <a:t>아래의 빈 칸에 알맞은 함수형 인터페이스</a:t>
            </a:r>
            <a:r>
              <a:rPr lang="en-US" altLang="ko-KR" b="1" dirty="0" smtClean="0"/>
              <a:t>(</a:t>
            </a:r>
            <a:r>
              <a:rPr lang="en-US" altLang="ko-KR" b="1" dirty="0" err="1" smtClean="0"/>
              <a:t>java.util.function</a:t>
            </a:r>
            <a:r>
              <a:rPr lang="ko-KR" altLang="en-US" b="1" dirty="0" smtClean="0"/>
              <a:t>패키지</a:t>
            </a:r>
            <a:r>
              <a:rPr lang="en-US" altLang="ko-KR" b="1" dirty="0" smtClean="0"/>
              <a:t>)</a:t>
            </a:r>
            <a:r>
              <a:rPr lang="ko-KR" altLang="en-US" b="1" dirty="0" smtClean="0"/>
              <a:t>를 적으시오</a:t>
            </a:r>
            <a:r>
              <a:rPr lang="en-US" altLang="ko-KR" b="1" dirty="0" smtClean="0"/>
              <a:t>.</a:t>
            </a:r>
            <a:endParaRPr lang="en-US" altLang="ko-KR" b="1" dirty="0"/>
          </a:p>
        </p:txBody>
      </p:sp>
      <p:grpSp>
        <p:nvGrpSpPr>
          <p:cNvPr id="3" name="그룹 51"/>
          <p:cNvGrpSpPr/>
          <p:nvPr/>
        </p:nvGrpSpPr>
        <p:grpSpPr>
          <a:xfrm>
            <a:off x="628596" y="2264470"/>
            <a:ext cx="8105886" cy="1639199"/>
            <a:chOff x="752303" y="5695603"/>
            <a:chExt cx="4052636" cy="1303150"/>
          </a:xfrm>
        </p:grpSpPr>
        <p:sp>
          <p:nvSpPr>
            <p:cNvPr id="31" name="모서리가 둥근 직사각형 30"/>
            <p:cNvSpPr/>
            <p:nvPr/>
          </p:nvSpPr>
          <p:spPr bwMode="auto">
            <a:xfrm>
              <a:off x="752303" y="5695603"/>
              <a:ext cx="4052636" cy="130315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807741" y="5763227"/>
              <a:ext cx="3961531" cy="110106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lnSpc>
                  <a:spcPct val="150000"/>
                </a:lnSpc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[      </a:t>
              </a:r>
              <a:r>
                <a:rPr lang="ko-KR" altLang="en-US" sz="1400" dirty="0" smtClean="0"/>
                <a:t>➀       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]  f = ()-&gt; (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)(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Math.random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()*100)+1;</a:t>
              </a:r>
            </a:p>
            <a:p>
              <a:pPr>
                <a:lnSpc>
                  <a:spcPct val="150000"/>
                </a:lnSpc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[      </a:t>
              </a:r>
              <a:r>
                <a:rPr lang="ko-KR" altLang="en-US" sz="1400" dirty="0" smtClean="0"/>
                <a:t>➁       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]  f =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-&gt;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System.out.print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+", "); </a:t>
              </a:r>
            </a:p>
            <a:p>
              <a:pPr>
                <a:lnSpc>
                  <a:spcPct val="150000"/>
                </a:lnSpc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[ 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     </a:t>
              </a:r>
              <a:r>
                <a:rPr lang="ko-KR" altLang="en-US" sz="1400" dirty="0" smtClean="0"/>
                <a:t>➂       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]  f =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-&gt; i%2==0; </a:t>
              </a:r>
            </a:p>
            <a:p>
              <a:pPr>
                <a:lnSpc>
                  <a:spcPct val="150000"/>
                </a:lnSpc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[ 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     </a:t>
              </a:r>
              <a:r>
                <a:rPr lang="ko-KR" altLang="en-US" sz="1400" dirty="0" smtClean="0"/>
                <a:t>➃       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]  f =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-&gt;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/10*10; </a:t>
              </a:r>
              <a:endParaRPr lang="en-US" altLang="ko-KR" sz="1400" b="1" dirty="0" smtClean="0">
                <a:latin typeface="Courier New" pitchFamily="49" charset="0"/>
                <a:cs typeface="Courier New" pitchFamily="49" charset="0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863600"/>
          </a:xfrm>
          <a:prstGeom prst="rect">
            <a:avLst/>
          </a:prstGeom>
          <a:solidFill>
            <a:srgbClr val="E4D394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576263"/>
            <a:ext cx="8388350" cy="53975"/>
          </a:xfrm>
          <a:prstGeom prst="rect">
            <a:avLst/>
          </a:prstGeom>
          <a:solidFill>
            <a:srgbClr val="81705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883525" y="42863"/>
            <a:ext cx="1368425" cy="722312"/>
            <a:chOff x="3787" y="1570"/>
            <a:chExt cx="862" cy="455"/>
          </a:xfrm>
        </p:grpSpPr>
        <p:sp>
          <p:nvSpPr>
            <p:cNvPr id="3090" name="Text Box 5"/>
            <p:cNvSpPr txBox="1">
              <a:spLocks noChangeArrowheads="1"/>
            </p:cNvSpPr>
            <p:nvPr/>
          </p:nvSpPr>
          <p:spPr bwMode="auto">
            <a:xfrm>
              <a:off x="3787" y="1570"/>
              <a:ext cx="7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2800">
                  <a:latin typeface="Elephant" pitchFamily="18" charset="0"/>
                  <a:ea typeface="굴림" charset="-127"/>
                </a:rPr>
                <a:t>Java</a:t>
              </a:r>
            </a:p>
          </p:txBody>
        </p:sp>
        <p:sp>
          <p:nvSpPr>
            <p:cNvPr id="3091" name="Text Box 6"/>
            <p:cNvSpPr txBox="1">
              <a:spLocks noChangeArrowheads="1"/>
            </p:cNvSpPr>
            <p:nvPr/>
          </p:nvSpPr>
          <p:spPr bwMode="auto">
            <a:xfrm>
              <a:off x="4308" y="1643"/>
              <a:ext cx="34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1600">
                  <a:latin typeface="HY견고딕" pitchFamily="18" charset="-127"/>
                  <a:ea typeface="HY견고딕" pitchFamily="18" charset="-127"/>
                </a:rPr>
                <a:t>의</a:t>
              </a:r>
            </a:p>
          </p:txBody>
        </p:sp>
        <p:sp>
          <p:nvSpPr>
            <p:cNvPr id="3092" name="Text Box 7"/>
            <p:cNvSpPr txBox="1">
              <a:spLocks noChangeArrowheads="1"/>
            </p:cNvSpPr>
            <p:nvPr/>
          </p:nvSpPr>
          <p:spPr bwMode="auto">
            <a:xfrm>
              <a:off x="4121" y="1775"/>
              <a:ext cx="5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2000">
                  <a:latin typeface="바탕" pitchFamily="18" charset="-127"/>
                  <a:ea typeface="HY견고딕" pitchFamily="18" charset="-127"/>
                </a:rPr>
                <a:t>정석</a:t>
              </a:r>
            </a:p>
          </p:txBody>
        </p:sp>
      </p:grp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443663" y="620713"/>
            <a:ext cx="2016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 err="1">
                <a:latin typeface="Courier New" pitchFamily="49" charset="0"/>
                <a:ea typeface="굴림" charset="-127"/>
              </a:rPr>
              <a:t>http://</a:t>
            </a:r>
            <a:r>
              <a:rPr lang="en-US" altLang="ko-KR" sz="1000" b="1" dirty="0" err="1" smtClean="0">
                <a:latin typeface="Courier New" pitchFamily="49" charset="0"/>
                <a:ea typeface="굴림" charset="-127"/>
              </a:rPr>
              <a:t>www.codechobo.com</a:t>
            </a:r>
            <a:endParaRPr lang="en-US" altLang="ko-KR" sz="1000" b="1" dirty="0">
              <a:latin typeface="Courier New" pitchFamily="49" charset="0"/>
              <a:ea typeface="굴림" charset="-127"/>
            </a:endParaRPr>
          </a:p>
        </p:txBody>
      </p:sp>
      <p:sp>
        <p:nvSpPr>
          <p:cNvPr id="3078" name="Text Box 19"/>
          <p:cNvSpPr txBox="1">
            <a:spLocks noChangeArrowheads="1"/>
          </p:cNvSpPr>
          <p:nvPr/>
        </p:nvSpPr>
        <p:spPr bwMode="auto">
          <a:xfrm>
            <a:off x="358775" y="1016000"/>
            <a:ext cx="8569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800" b="1" dirty="0" smtClean="0"/>
              <a:t>1.4  </a:t>
            </a:r>
            <a:r>
              <a:rPr lang="en-US" altLang="ko-KR" sz="2800" b="1" dirty="0" err="1" smtClean="0"/>
              <a:t>java.util.function</a:t>
            </a:r>
            <a:r>
              <a:rPr lang="ko-KR" altLang="en-US" sz="2800" b="1" dirty="0" smtClean="0"/>
              <a:t>패키지</a:t>
            </a:r>
            <a:r>
              <a:rPr lang="en-US" altLang="ko-KR" sz="2800" b="1" dirty="0" smtClean="0"/>
              <a:t>(2/5)</a:t>
            </a:r>
            <a:endParaRPr lang="en-US" altLang="ko-KR" sz="2800" b="1" dirty="0"/>
          </a:p>
        </p:txBody>
      </p:sp>
      <p:sp>
        <p:nvSpPr>
          <p:cNvPr id="3089" name="Text Box 9"/>
          <p:cNvSpPr txBox="1">
            <a:spLocks noChangeArrowheads="1"/>
          </p:cNvSpPr>
          <p:nvPr/>
        </p:nvSpPr>
        <p:spPr bwMode="auto">
          <a:xfrm>
            <a:off x="146050" y="188913"/>
            <a:ext cx="5686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Chapter 14. 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람다와 스트림</a:t>
            </a: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(Lambda &amp; Stream)</a:t>
            </a:r>
          </a:p>
        </p:txBody>
      </p:sp>
      <p:sp>
        <p:nvSpPr>
          <p:cNvPr id="36" name="Text Box 20"/>
          <p:cNvSpPr txBox="1">
            <a:spLocks noChangeArrowheads="1"/>
          </p:cNvSpPr>
          <p:nvPr/>
        </p:nvSpPr>
        <p:spPr bwMode="auto">
          <a:xfrm>
            <a:off x="468313" y="1712889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smtClean="0"/>
              <a:t>매개변수가 </a:t>
            </a:r>
            <a:r>
              <a:rPr lang="en-US" altLang="ko-KR" b="1" dirty="0" smtClean="0"/>
              <a:t>2</a:t>
            </a:r>
            <a:r>
              <a:rPr lang="ko-KR" altLang="en-US" b="1" dirty="0" smtClean="0"/>
              <a:t>개인 함수형 인터페이스</a:t>
            </a:r>
            <a:endParaRPr lang="en-US" altLang="ko-KR" b="1" dirty="0"/>
          </a:p>
        </p:txBody>
      </p:sp>
      <p:grpSp>
        <p:nvGrpSpPr>
          <p:cNvPr id="3" name="그룹 51"/>
          <p:cNvGrpSpPr/>
          <p:nvPr/>
        </p:nvGrpSpPr>
        <p:grpSpPr>
          <a:xfrm>
            <a:off x="921868" y="4414848"/>
            <a:ext cx="6826763" cy="1460524"/>
            <a:chOff x="752303" y="5695603"/>
            <a:chExt cx="4052636" cy="1303150"/>
          </a:xfrm>
        </p:grpSpPr>
        <p:sp>
          <p:nvSpPr>
            <p:cNvPr id="31" name="모서리가 둥근 직사각형 30"/>
            <p:cNvSpPr/>
            <p:nvPr/>
          </p:nvSpPr>
          <p:spPr bwMode="auto">
            <a:xfrm>
              <a:off x="752303" y="5695603"/>
              <a:ext cx="4052636" cy="130315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807741" y="5763226"/>
              <a:ext cx="3961531" cy="117036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r>
                <a:rPr lang="fr-FR" sz="1400" b="1" dirty="0" smtClean="0">
                  <a:latin typeface="Courier New" pitchFamily="49" charset="0"/>
                  <a:cs typeface="Courier New" pitchFamily="49" charset="0"/>
                </a:rPr>
                <a:t>  @</a:t>
              </a:r>
              <a:r>
                <a:rPr lang="fr-FR" sz="1400" b="1" dirty="0">
                  <a:latin typeface="Courier New" pitchFamily="49" charset="0"/>
                  <a:cs typeface="Courier New" pitchFamily="49" charset="0"/>
                </a:rPr>
                <a:t>FunctionalInterface</a:t>
              </a:r>
            </a:p>
            <a:p>
              <a:r>
                <a:rPr lang="fr-FR" sz="1400" b="1" dirty="0" smtClean="0">
                  <a:latin typeface="Courier New" pitchFamily="49" charset="0"/>
                  <a:cs typeface="Courier New" pitchFamily="49" charset="0"/>
                </a:rPr>
                <a:t>  interface </a:t>
              </a:r>
              <a:r>
                <a:rPr lang="fr-FR" sz="1400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Tri</a:t>
              </a:r>
              <a:r>
                <a:rPr lang="fr-FR" sz="1400" b="1" dirty="0">
                  <a:latin typeface="Courier New" pitchFamily="49" charset="0"/>
                  <a:cs typeface="Courier New" pitchFamily="49" charset="0"/>
                </a:rPr>
                <a:t>Function&lt;</a:t>
              </a:r>
              <a:r>
                <a:rPr lang="fr-FR" sz="1400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T,U,V</a:t>
              </a:r>
              <a:r>
                <a:rPr lang="fr-FR" sz="1400" b="1" dirty="0">
                  <a:latin typeface="Courier New" pitchFamily="49" charset="0"/>
                  <a:cs typeface="Courier New" pitchFamily="49" charset="0"/>
                </a:rPr>
                <a:t>,R&gt; {</a:t>
              </a:r>
            </a:p>
            <a:p>
              <a:r>
                <a:rPr lang="fr-FR" sz="1400" b="1" dirty="0" smtClean="0">
                  <a:latin typeface="Courier New" pitchFamily="49" charset="0"/>
                  <a:cs typeface="Courier New" pitchFamily="49" charset="0"/>
                </a:rPr>
                <a:t>     R </a:t>
              </a:r>
              <a:r>
                <a:rPr lang="fr-FR" sz="1400" b="1" dirty="0">
                  <a:latin typeface="Courier New" pitchFamily="49" charset="0"/>
                  <a:cs typeface="Courier New" pitchFamily="49" charset="0"/>
                </a:rPr>
                <a:t>apply(T t, U u, V v);</a:t>
              </a:r>
            </a:p>
            <a:p>
              <a:r>
                <a:rPr lang="fr-FR" sz="1400" b="1" dirty="0" smtClean="0">
                  <a:latin typeface="Courier New" pitchFamily="49" charset="0"/>
                  <a:cs typeface="Courier New" pitchFamily="49" charset="0"/>
                </a:rPr>
                <a:t>  }</a:t>
              </a:r>
              <a:endParaRPr lang="fr-FR" sz="1400" b="1" dirty="0">
                <a:latin typeface="Courier New" pitchFamily="49" charset="0"/>
                <a:cs typeface="Courier New" pitchFamily="49" charset="0"/>
              </a:endParaRPr>
            </a:p>
          </p:txBody>
        </p:sp>
      </p:grp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84187" y="2151045"/>
            <a:ext cx="6900957" cy="2070901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/>
            <a:tailEnd/>
          </a:ln>
          <a:effectLst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863600"/>
          </a:xfrm>
          <a:prstGeom prst="rect">
            <a:avLst/>
          </a:prstGeom>
          <a:solidFill>
            <a:srgbClr val="E4D394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576263"/>
            <a:ext cx="8388350" cy="53975"/>
          </a:xfrm>
          <a:prstGeom prst="rect">
            <a:avLst/>
          </a:prstGeom>
          <a:solidFill>
            <a:srgbClr val="81705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883525" y="42863"/>
            <a:ext cx="1368425" cy="722312"/>
            <a:chOff x="3787" y="1570"/>
            <a:chExt cx="862" cy="455"/>
          </a:xfrm>
        </p:grpSpPr>
        <p:sp>
          <p:nvSpPr>
            <p:cNvPr id="3090" name="Text Box 5"/>
            <p:cNvSpPr txBox="1">
              <a:spLocks noChangeArrowheads="1"/>
            </p:cNvSpPr>
            <p:nvPr/>
          </p:nvSpPr>
          <p:spPr bwMode="auto">
            <a:xfrm>
              <a:off x="3787" y="1570"/>
              <a:ext cx="7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2800">
                  <a:latin typeface="Elephant" pitchFamily="18" charset="0"/>
                  <a:ea typeface="굴림" charset="-127"/>
                </a:rPr>
                <a:t>Java</a:t>
              </a:r>
            </a:p>
          </p:txBody>
        </p:sp>
        <p:sp>
          <p:nvSpPr>
            <p:cNvPr id="3091" name="Text Box 6"/>
            <p:cNvSpPr txBox="1">
              <a:spLocks noChangeArrowheads="1"/>
            </p:cNvSpPr>
            <p:nvPr/>
          </p:nvSpPr>
          <p:spPr bwMode="auto">
            <a:xfrm>
              <a:off x="4308" y="1643"/>
              <a:ext cx="34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1600">
                  <a:latin typeface="HY견고딕" pitchFamily="18" charset="-127"/>
                  <a:ea typeface="HY견고딕" pitchFamily="18" charset="-127"/>
                </a:rPr>
                <a:t>의</a:t>
              </a:r>
            </a:p>
          </p:txBody>
        </p:sp>
        <p:sp>
          <p:nvSpPr>
            <p:cNvPr id="3092" name="Text Box 7"/>
            <p:cNvSpPr txBox="1">
              <a:spLocks noChangeArrowheads="1"/>
            </p:cNvSpPr>
            <p:nvPr/>
          </p:nvSpPr>
          <p:spPr bwMode="auto">
            <a:xfrm>
              <a:off x="4121" y="1775"/>
              <a:ext cx="5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2000">
                  <a:latin typeface="바탕" pitchFamily="18" charset="-127"/>
                  <a:ea typeface="HY견고딕" pitchFamily="18" charset="-127"/>
                </a:rPr>
                <a:t>정석</a:t>
              </a:r>
            </a:p>
          </p:txBody>
        </p:sp>
      </p:grp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443663" y="620713"/>
            <a:ext cx="2016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 err="1">
                <a:latin typeface="Courier New" pitchFamily="49" charset="0"/>
                <a:ea typeface="굴림" charset="-127"/>
              </a:rPr>
              <a:t>http://</a:t>
            </a:r>
            <a:r>
              <a:rPr lang="en-US" altLang="ko-KR" sz="1000" b="1" dirty="0" err="1" smtClean="0">
                <a:latin typeface="Courier New" pitchFamily="49" charset="0"/>
                <a:ea typeface="굴림" charset="-127"/>
              </a:rPr>
              <a:t>www.codechobo.com</a:t>
            </a:r>
            <a:endParaRPr lang="en-US" altLang="ko-KR" sz="1000" b="1" dirty="0">
              <a:latin typeface="Courier New" pitchFamily="49" charset="0"/>
              <a:ea typeface="굴림" charset="-127"/>
            </a:endParaRPr>
          </a:p>
        </p:txBody>
      </p:sp>
      <p:sp>
        <p:nvSpPr>
          <p:cNvPr id="3078" name="Text Box 19"/>
          <p:cNvSpPr txBox="1">
            <a:spLocks noChangeArrowheads="1"/>
          </p:cNvSpPr>
          <p:nvPr/>
        </p:nvSpPr>
        <p:spPr bwMode="auto">
          <a:xfrm>
            <a:off x="358775" y="1016000"/>
            <a:ext cx="8569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800" b="1" dirty="0" smtClean="0"/>
              <a:t>1.4  </a:t>
            </a:r>
            <a:r>
              <a:rPr lang="en-US" altLang="ko-KR" sz="2800" b="1" dirty="0" err="1" smtClean="0"/>
              <a:t>java.util.function</a:t>
            </a:r>
            <a:r>
              <a:rPr lang="ko-KR" altLang="en-US" sz="2800" b="1" dirty="0" smtClean="0"/>
              <a:t>패키지</a:t>
            </a:r>
            <a:r>
              <a:rPr lang="en-US" altLang="ko-KR" sz="2800" b="1" dirty="0" smtClean="0"/>
              <a:t>(3/5)</a:t>
            </a:r>
            <a:endParaRPr lang="en-US" altLang="ko-KR" sz="2800" b="1" dirty="0"/>
          </a:p>
        </p:txBody>
      </p:sp>
      <p:sp>
        <p:nvSpPr>
          <p:cNvPr id="3089" name="Text Box 9"/>
          <p:cNvSpPr txBox="1">
            <a:spLocks noChangeArrowheads="1"/>
          </p:cNvSpPr>
          <p:nvPr/>
        </p:nvSpPr>
        <p:spPr bwMode="auto">
          <a:xfrm>
            <a:off x="146050" y="188913"/>
            <a:ext cx="5686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Chapter 14. 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람다와 스트림</a:t>
            </a: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(Lambda &amp; Stream)</a:t>
            </a:r>
          </a:p>
        </p:txBody>
      </p:sp>
      <p:sp>
        <p:nvSpPr>
          <p:cNvPr id="36" name="Text Box 20"/>
          <p:cNvSpPr txBox="1">
            <a:spLocks noChangeArrowheads="1"/>
          </p:cNvSpPr>
          <p:nvPr/>
        </p:nvSpPr>
        <p:spPr bwMode="auto">
          <a:xfrm>
            <a:off x="468313" y="1712889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smtClean="0"/>
              <a:t>매개변수의 타입과 반환타입이 일치하는 함수형 인터페이스</a:t>
            </a:r>
            <a:endParaRPr lang="en-US" altLang="ko-KR" b="1" dirty="0"/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57214" y="2187559"/>
            <a:ext cx="6937470" cy="1504362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/>
            <a:tailEnd/>
          </a:ln>
          <a:effectLst/>
        </p:spPr>
      </p:pic>
      <p:grpSp>
        <p:nvGrpSpPr>
          <p:cNvPr id="17" name="그룹 51"/>
          <p:cNvGrpSpPr/>
          <p:nvPr/>
        </p:nvGrpSpPr>
        <p:grpSpPr>
          <a:xfrm>
            <a:off x="811161" y="3867157"/>
            <a:ext cx="7521678" cy="1424006"/>
            <a:chOff x="752303" y="5695603"/>
            <a:chExt cx="4052636" cy="1303150"/>
          </a:xfrm>
        </p:grpSpPr>
        <p:sp>
          <p:nvSpPr>
            <p:cNvPr id="18" name="모서리가 둥근 직사각형 17"/>
            <p:cNvSpPr/>
            <p:nvPr/>
          </p:nvSpPr>
          <p:spPr bwMode="auto">
            <a:xfrm>
              <a:off x="752303" y="5695603"/>
              <a:ext cx="4052636" cy="130315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807741" y="5729015"/>
              <a:ext cx="3961531" cy="126745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  @</a:t>
              </a:r>
              <a:r>
                <a:rPr lang="en-US" altLang="ko-KR" sz="1400" b="1" dirty="0" err="1" smtClean="0">
                  <a:latin typeface="Courier New" pitchFamily="49" charset="0"/>
                  <a:cs typeface="Courier New" pitchFamily="49" charset="0"/>
                </a:rPr>
                <a:t>FunctionalInterface</a:t>
              </a:r>
              <a:endParaRPr lang="en-US" altLang="ko-KR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  public interface </a:t>
              </a:r>
              <a:r>
                <a:rPr lang="en-US" altLang="ko-KR" sz="1400" b="1" dirty="0" err="1" smtClean="0">
                  <a:latin typeface="Courier New" pitchFamily="49" charset="0"/>
                  <a:cs typeface="Courier New" pitchFamily="49" charset="0"/>
                </a:rPr>
                <a:t>UnaryOperator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&lt;T&gt; extends </a:t>
              </a:r>
              <a:r>
                <a:rPr lang="en-US" altLang="ko-KR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Function&lt;T,T&gt; 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{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400" b="1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     </a:t>
              </a:r>
              <a:r>
                <a:rPr lang="en-US" altLang="ko-KR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static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 &lt;T&gt; </a:t>
              </a:r>
              <a:r>
                <a:rPr lang="en-US" altLang="ko-KR" sz="1400" b="1" dirty="0" err="1" smtClean="0">
                  <a:latin typeface="Courier New" pitchFamily="49" charset="0"/>
                  <a:cs typeface="Courier New" pitchFamily="49" charset="0"/>
                </a:rPr>
                <a:t>UnaryOperator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&lt;T&gt; identity() {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          return t -&gt; t;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      }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  }</a:t>
              </a:r>
              <a:endParaRPr lang="ko-KR" altLang="en-US" sz="1400" b="1" dirty="0" smtClean="0">
                <a:latin typeface="Courier New" pitchFamily="49" charset="0"/>
                <a:cs typeface="Courier New" pitchFamily="49" charset="0"/>
              </a:endParaRPr>
            </a:p>
          </p:txBody>
        </p:sp>
      </p:grpSp>
      <p:grpSp>
        <p:nvGrpSpPr>
          <p:cNvPr id="20" name="그룹 51"/>
          <p:cNvGrpSpPr/>
          <p:nvPr/>
        </p:nvGrpSpPr>
        <p:grpSpPr>
          <a:xfrm>
            <a:off x="4389435" y="4743468"/>
            <a:ext cx="4308534" cy="1424006"/>
            <a:chOff x="752303" y="5695603"/>
            <a:chExt cx="4052636" cy="1303150"/>
          </a:xfrm>
        </p:grpSpPr>
        <p:sp>
          <p:nvSpPr>
            <p:cNvPr id="21" name="모서리가 둥근 직사각형 20"/>
            <p:cNvSpPr/>
            <p:nvPr/>
          </p:nvSpPr>
          <p:spPr bwMode="auto">
            <a:xfrm>
              <a:off x="752303" y="5695603"/>
              <a:ext cx="4052636" cy="130315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807741" y="5813421"/>
              <a:ext cx="3961531" cy="107029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  @</a:t>
              </a:r>
              <a:r>
                <a:rPr lang="en-US" altLang="ko-KR" sz="1400" b="1" dirty="0" err="1" smtClean="0">
                  <a:latin typeface="Courier New" pitchFamily="49" charset="0"/>
                  <a:cs typeface="Courier New" pitchFamily="49" charset="0"/>
                </a:rPr>
                <a:t>FunctionalInterface</a:t>
              </a:r>
              <a:endParaRPr lang="en-US" altLang="ko-KR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  public interface </a:t>
              </a:r>
              <a:r>
                <a:rPr lang="en-US" altLang="ko-KR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Function&lt;T,R&gt;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 {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       R apply(T </a:t>
              </a:r>
              <a:r>
                <a:rPr lang="en-US" altLang="ko-KR" sz="1400" b="1" dirty="0" err="1" smtClean="0">
                  <a:latin typeface="Courier New" pitchFamily="49" charset="0"/>
                  <a:cs typeface="Courier New" pitchFamily="49" charset="0"/>
                </a:rPr>
                <a:t>t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       ...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  }</a:t>
              </a: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863600"/>
          </a:xfrm>
          <a:prstGeom prst="rect">
            <a:avLst/>
          </a:prstGeom>
          <a:solidFill>
            <a:srgbClr val="E4D394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576263"/>
            <a:ext cx="8388350" cy="53975"/>
          </a:xfrm>
          <a:prstGeom prst="rect">
            <a:avLst/>
          </a:prstGeom>
          <a:solidFill>
            <a:srgbClr val="81705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883525" y="42863"/>
            <a:ext cx="1368425" cy="722312"/>
            <a:chOff x="3787" y="1570"/>
            <a:chExt cx="862" cy="455"/>
          </a:xfrm>
        </p:grpSpPr>
        <p:sp>
          <p:nvSpPr>
            <p:cNvPr id="3090" name="Text Box 5"/>
            <p:cNvSpPr txBox="1">
              <a:spLocks noChangeArrowheads="1"/>
            </p:cNvSpPr>
            <p:nvPr/>
          </p:nvSpPr>
          <p:spPr bwMode="auto">
            <a:xfrm>
              <a:off x="3787" y="1570"/>
              <a:ext cx="7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2800">
                  <a:latin typeface="Elephant" pitchFamily="18" charset="0"/>
                  <a:ea typeface="굴림" charset="-127"/>
                </a:rPr>
                <a:t>Java</a:t>
              </a:r>
            </a:p>
          </p:txBody>
        </p:sp>
        <p:sp>
          <p:nvSpPr>
            <p:cNvPr id="3091" name="Text Box 6"/>
            <p:cNvSpPr txBox="1">
              <a:spLocks noChangeArrowheads="1"/>
            </p:cNvSpPr>
            <p:nvPr/>
          </p:nvSpPr>
          <p:spPr bwMode="auto">
            <a:xfrm>
              <a:off x="4308" y="1643"/>
              <a:ext cx="34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1600">
                  <a:latin typeface="HY견고딕" pitchFamily="18" charset="-127"/>
                  <a:ea typeface="HY견고딕" pitchFamily="18" charset="-127"/>
                </a:rPr>
                <a:t>의</a:t>
              </a:r>
            </a:p>
          </p:txBody>
        </p:sp>
        <p:sp>
          <p:nvSpPr>
            <p:cNvPr id="3092" name="Text Box 7"/>
            <p:cNvSpPr txBox="1">
              <a:spLocks noChangeArrowheads="1"/>
            </p:cNvSpPr>
            <p:nvPr/>
          </p:nvSpPr>
          <p:spPr bwMode="auto">
            <a:xfrm>
              <a:off x="4121" y="1775"/>
              <a:ext cx="5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2000">
                  <a:latin typeface="바탕" pitchFamily="18" charset="-127"/>
                  <a:ea typeface="HY견고딕" pitchFamily="18" charset="-127"/>
                </a:rPr>
                <a:t>정석</a:t>
              </a:r>
            </a:p>
          </p:txBody>
        </p:sp>
      </p:grp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443663" y="620713"/>
            <a:ext cx="2016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 err="1">
                <a:latin typeface="Courier New" pitchFamily="49" charset="0"/>
                <a:ea typeface="굴림" charset="-127"/>
              </a:rPr>
              <a:t>http://</a:t>
            </a:r>
            <a:r>
              <a:rPr lang="en-US" altLang="ko-KR" sz="1000" b="1" dirty="0" err="1" smtClean="0">
                <a:latin typeface="Courier New" pitchFamily="49" charset="0"/>
                <a:ea typeface="굴림" charset="-127"/>
              </a:rPr>
              <a:t>www.codechobo.com</a:t>
            </a:r>
            <a:endParaRPr lang="en-US" altLang="ko-KR" sz="1000" b="1" dirty="0">
              <a:latin typeface="Courier New" pitchFamily="49" charset="0"/>
              <a:ea typeface="굴림" charset="-127"/>
            </a:endParaRPr>
          </a:p>
        </p:txBody>
      </p:sp>
      <p:sp>
        <p:nvSpPr>
          <p:cNvPr id="3078" name="Text Box 19"/>
          <p:cNvSpPr txBox="1">
            <a:spLocks noChangeArrowheads="1"/>
          </p:cNvSpPr>
          <p:nvPr/>
        </p:nvSpPr>
        <p:spPr bwMode="auto">
          <a:xfrm>
            <a:off x="358775" y="1016000"/>
            <a:ext cx="8569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800" b="1" dirty="0" smtClean="0"/>
              <a:t>1.4  </a:t>
            </a:r>
            <a:r>
              <a:rPr lang="en-US" altLang="ko-KR" sz="2800" b="1" dirty="0" err="1" smtClean="0"/>
              <a:t>java.util.function</a:t>
            </a:r>
            <a:r>
              <a:rPr lang="ko-KR" altLang="en-US" sz="2800" b="1" dirty="0" smtClean="0"/>
              <a:t>패키지</a:t>
            </a:r>
            <a:r>
              <a:rPr lang="en-US" altLang="ko-KR" sz="2800" b="1" dirty="0" smtClean="0"/>
              <a:t>(4/5)</a:t>
            </a:r>
            <a:endParaRPr lang="en-US" altLang="ko-KR" sz="2800" b="1" dirty="0"/>
          </a:p>
        </p:txBody>
      </p:sp>
      <p:sp>
        <p:nvSpPr>
          <p:cNvPr id="3089" name="Text Box 9"/>
          <p:cNvSpPr txBox="1">
            <a:spLocks noChangeArrowheads="1"/>
          </p:cNvSpPr>
          <p:nvPr/>
        </p:nvSpPr>
        <p:spPr bwMode="auto">
          <a:xfrm>
            <a:off x="146050" y="188913"/>
            <a:ext cx="5686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Chapter 14. 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람다와 스트림</a:t>
            </a: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(Lambda &amp; Stream)</a:t>
            </a:r>
          </a:p>
        </p:txBody>
      </p:sp>
      <p:sp>
        <p:nvSpPr>
          <p:cNvPr id="36" name="Text Box 20"/>
          <p:cNvSpPr txBox="1">
            <a:spLocks noChangeArrowheads="1"/>
          </p:cNvSpPr>
          <p:nvPr/>
        </p:nvSpPr>
        <p:spPr bwMode="auto">
          <a:xfrm>
            <a:off x="468313" y="1712889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smtClean="0"/>
              <a:t>함수형 인터페이스를 사용하는 컬렉션 </a:t>
            </a:r>
            <a:r>
              <a:rPr lang="ko-KR" altLang="en-US" b="1" dirty="0" err="1" smtClean="0"/>
              <a:t>프레임웍의</a:t>
            </a:r>
            <a:r>
              <a:rPr lang="ko-KR" altLang="en-US" b="1" dirty="0" smtClean="0"/>
              <a:t> </a:t>
            </a:r>
            <a:r>
              <a:rPr lang="ko-KR" altLang="en-US" b="1" dirty="0" err="1" smtClean="0"/>
              <a:t>메서드</a:t>
            </a:r>
            <a:endParaRPr lang="en-US" altLang="ko-KR" b="1" dirty="0"/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74648" y="2114533"/>
            <a:ext cx="7193061" cy="2676184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/>
            <a:tailEnd/>
          </a:ln>
          <a:effectLst/>
        </p:spPr>
      </p:pic>
      <p:grpSp>
        <p:nvGrpSpPr>
          <p:cNvPr id="14" name="그룹 51"/>
          <p:cNvGrpSpPr/>
          <p:nvPr/>
        </p:nvGrpSpPr>
        <p:grpSpPr>
          <a:xfrm>
            <a:off x="774648" y="4999055"/>
            <a:ext cx="7521678" cy="1460524"/>
            <a:chOff x="752303" y="5695603"/>
            <a:chExt cx="4052636" cy="1303150"/>
          </a:xfrm>
        </p:grpSpPr>
        <p:sp>
          <p:nvSpPr>
            <p:cNvPr id="15" name="모서리가 둥근 직사각형 14"/>
            <p:cNvSpPr/>
            <p:nvPr/>
          </p:nvSpPr>
          <p:spPr bwMode="auto">
            <a:xfrm>
              <a:off x="752303" y="5695603"/>
              <a:ext cx="4052636" cy="130315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07741" y="5763226"/>
              <a:ext cx="3961531" cy="1112183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altLang="ko-KR" sz="1400" b="1" dirty="0" err="1" smtClean="0">
                  <a:latin typeface="Courier New" pitchFamily="49" charset="0"/>
                  <a:cs typeface="Courier New" pitchFamily="49" charset="0"/>
                </a:rPr>
                <a:t>list.forEach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altLang="ko-KR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altLang="ko-KR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-&gt;</a:t>
              </a:r>
              <a:r>
                <a:rPr lang="en-US" altLang="ko-KR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System.out.print</a:t>
              </a:r>
              <a:r>
                <a:rPr lang="en-US" altLang="ko-KR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altLang="ko-KR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altLang="ko-KR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+",")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);  // list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의 모든 요소를 출력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altLang="ko-KR" sz="1400" b="1" dirty="0" err="1" smtClean="0">
                  <a:latin typeface="Courier New" pitchFamily="49" charset="0"/>
                  <a:cs typeface="Courier New" pitchFamily="49" charset="0"/>
                </a:rPr>
                <a:t>list.removeIf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altLang="ko-KR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x-&gt; x%2==0 || x%3==0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);       // 2 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또는 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3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의 배수를 제거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altLang="ko-KR" sz="1400" b="1" dirty="0" err="1" smtClean="0">
                  <a:latin typeface="Courier New" pitchFamily="49" charset="0"/>
                  <a:cs typeface="Courier New" pitchFamily="49" charset="0"/>
                </a:rPr>
                <a:t>list.replaceAll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altLang="ko-KR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altLang="ko-KR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-&gt;</a:t>
              </a:r>
              <a:r>
                <a:rPr lang="en-US" altLang="ko-KR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altLang="ko-KR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*10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);                  // 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모든 요소에 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10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을 곱한다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.</a:t>
              </a:r>
              <a:endParaRPr lang="en-US" altLang="ko-KR" sz="1400" b="1" dirty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600"/>
                </a:spcBef>
              </a:pP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 // map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의 모든 요소를 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{</a:t>
              </a:r>
              <a:r>
                <a:rPr lang="en-US" altLang="ko-KR" sz="1400" b="1" dirty="0" err="1" smtClean="0">
                  <a:latin typeface="Courier New" pitchFamily="49" charset="0"/>
                  <a:cs typeface="Courier New" pitchFamily="49" charset="0"/>
                </a:rPr>
                <a:t>k,v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}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의 형식으로 출력</a:t>
              </a:r>
              <a:endParaRPr lang="en-US" altLang="ko-KR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altLang="ko-KR" sz="1400" b="1" dirty="0" err="1" smtClean="0">
                  <a:latin typeface="Courier New" pitchFamily="49" charset="0"/>
                  <a:cs typeface="Courier New" pitchFamily="49" charset="0"/>
                </a:rPr>
                <a:t>map.forEach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altLang="ko-KR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altLang="ko-KR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k,v</a:t>
              </a:r>
              <a:r>
                <a:rPr lang="en-US" altLang="ko-KR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)-&gt; </a:t>
              </a:r>
              <a:r>
                <a:rPr lang="en-US" altLang="ko-KR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System.out.print</a:t>
              </a:r>
              <a:r>
                <a:rPr lang="en-US" altLang="ko-KR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("{"+k+","+v+"},")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);  </a:t>
              </a:r>
              <a:endParaRPr lang="ko-KR" altLang="en-US" sz="1400" b="1" dirty="0" smtClean="0">
                <a:latin typeface="Courier New" pitchFamily="49" charset="0"/>
                <a:cs typeface="Courier New" pitchFamily="49" charset="0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863600"/>
          </a:xfrm>
          <a:prstGeom prst="rect">
            <a:avLst/>
          </a:prstGeom>
          <a:solidFill>
            <a:srgbClr val="E4D394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576263"/>
            <a:ext cx="8388350" cy="53975"/>
          </a:xfrm>
          <a:prstGeom prst="rect">
            <a:avLst/>
          </a:prstGeom>
          <a:solidFill>
            <a:srgbClr val="81705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883525" y="42863"/>
            <a:ext cx="1368425" cy="722312"/>
            <a:chOff x="3787" y="1570"/>
            <a:chExt cx="862" cy="455"/>
          </a:xfrm>
        </p:grpSpPr>
        <p:sp>
          <p:nvSpPr>
            <p:cNvPr id="3090" name="Text Box 5"/>
            <p:cNvSpPr txBox="1">
              <a:spLocks noChangeArrowheads="1"/>
            </p:cNvSpPr>
            <p:nvPr/>
          </p:nvSpPr>
          <p:spPr bwMode="auto">
            <a:xfrm>
              <a:off x="3787" y="1570"/>
              <a:ext cx="7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2800">
                  <a:latin typeface="Elephant" pitchFamily="18" charset="0"/>
                  <a:ea typeface="굴림" charset="-127"/>
                </a:rPr>
                <a:t>Java</a:t>
              </a:r>
            </a:p>
          </p:txBody>
        </p:sp>
        <p:sp>
          <p:nvSpPr>
            <p:cNvPr id="3091" name="Text Box 6"/>
            <p:cNvSpPr txBox="1">
              <a:spLocks noChangeArrowheads="1"/>
            </p:cNvSpPr>
            <p:nvPr/>
          </p:nvSpPr>
          <p:spPr bwMode="auto">
            <a:xfrm>
              <a:off x="4308" y="1643"/>
              <a:ext cx="34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1600">
                  <a:latin typeface="HY견고딕" pitchFamily="18" charset="-127"/>
                  <a:ea typeface="HY견고딕" pitchFamily="18" charset="-127"/>
                </a:rPr>
                <a:t>의</a:t>
              </a:r>
            </a:p>
          </p:txBody>
        </p:sp>
        <p:sp>
          <p:nvSpPr>
            <p:cNvPr id="3092" name="Text Box 7"/>
            <p:cNvSpPr txBox="1">
              <a:spLocks noChangeArrowheads="1"/>
            </p:cNvSpPr>
            <p:nvPr/>
          </p:nvSpPr>
          <p:spPr bwMode="auto">
            <a:xfrm>
              <a:off x="4121" y="1775"/>
              <a:ext cx="5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2000">
                  <a:latin typeface="바탕" pitchFamily="18" charset="-127"/>
                  <a:ea typeface="HY견고딕" pitchFamily="18" charset="-127"/>
                </a:rPr>
                <a:t>정석</a:t>
              </a:r>
            </a:p>
          </p:txBody>
        </p:sp>
      </p:grp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443663" y="620713"/>
            <a:ext cx="2016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 err="1">
                <a:latin typeface="Courier New" pitchFamily="49" charset="0"/>
                <a:ea typeface="굴림" charset="-127"/>
              </a:rPr>
              <a:t>http://</a:t>
            </a:r>
            <a:r>
              <a:rPr lang="en-US" altLang="ko-KR" sz="1000" b="1" dirty="0" err="1" smtClean="0">
                <a:latin typeface="Courier New" pitchFamily="49" charset="0"/>
                <a:ea typeface="굴림" charset="-127"/>
              </a:rPr>
              <a:t>www.codechobo.com</a:t>
            </a:r>
            <a:endParaRPr lang="en-US" altLang="ko-KR" sz="1000" b="1" dirty="0">
              <a:latin typeface="Courier New" pitchFamily="49" charset="0"/>
              <a:ea typeface="굴림" charset="-127"/>
            </a:endParaRPr>
          </a:p>
        </p:txBody>
      </p:sp>
      <p:sp>
        <p:nvSpPr>
          <p:cNvPr id="3078" name="Text Box 19"/>
          <p:cNvSpPr txBox="1">
            <a:spLocks noChangeArrowheads="1"/>
          </p:cNvSpPr>
          <p:nvPr/>
        </p:nvSpPr>
        <p:spPr bwMode="auto">
          <a:xfrm>
            <a:off x="358775" y="1016000"/>
            <a:ext cx="8569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800" b="1" dirty="0" smtClean="0"/>
              <a:t>1.4  </a:t>
            </a:r>
            <a:r>
              <a:rPr lang="en-US" altLang="ko-KR" sz="2800" b="1" dirty="0" err="1" smtClean="0"/>
              <a:t>java.util.function</a:t>
            </a:r>
            <a:r>
              <a:rPr lang="ko-KR" altLang="en-US" sz="2800" b="1" dirty="0" smtClean="0"/>
              <a:t>패키지</a:t>
            </a:r>
            <a:r>
              <a:rPr lang="en-US" altLang="ko-KR" sz="2800" b="1" dirty="0" smtClean="0"/>
              <a:t>(5/5)</a:t>
            </a:r>
            <a:endParaRPr lang="en-US" altLang="ko-KR" sz="2800" b="1" dirty="0"/>
          </a:p>
        </p:txBody>
      </p:sp>
      <p:sp>
        <p:nvSpPr>
          <p:cNvPr id="3089" name="Text Box 9"/>
          <p:cNvSpPr txBox="1">
            <a:spLocks noChangeArrowheads="1"/>
          </p:cNvSpPr>
          <p:nvPr/>
        </p:nvSpPr>
        <p:spPr bwMode="auto">
          <a:xfrm>
            <a:off x="146050" y="188913"/>
            <a:ext cx="5686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Chapter 14. 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람다와 스트림</a:t>
            </a: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(Lambda &amp; Stream)</a:t>
            </a:r>
          </a:p>
        </p:txBody>
      </p:sp>
      <p:sp>
        <p:nvSpPr>
          <p:cNvPr id="36" name="Text Box 20"/>
          <p:cNvSpPr txBox="1">
            <a:spLocks noChangeArrowheads="1"/>
          </p:cNvSpPr>
          <p:nvPr/>
        </p:nvSpPr>
        <p:spPr bwMode="auto">
          <a:xfrm>
            <a:off x="468313" y="1603350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smtClean="0"/>
              <a:t>기본형을 사용하는 함수형 인터페이스</a:t>
            </a:r>
            <a:endParaRPr lang="en-US" altLang="ko-KR" b="1" dirty="0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74648" y="2004994"/>
            <a:ext cx="6754905" cy="2538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849955" y="1148977"/>
            <a:ext cx="3176631" cy="819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9" name="그룹 51"/>
          <p:cNvGrpSpPr/>
          <p:nvPr/>
        </p:nvGrpSpPr>
        <p:grpSpPr>
          <a:xfrm>
            <a:off x="701622" y="4629159"/>
            <a:ext cx="7813782" cy="990621"/>
            <a:chOff x="752303" y="5695604"/>
            <a:chExt cx="4131328" cy="1309458"/>
          </a:xfrm>
        </p:grpSpPr>
        <p:sp>
          <p:nvSpPr>
            <p:cNvPr id="20" name="모서리가 둥근 직사각형 19"/>
            <p:cNvSpPr/>
            <p:nvPr/>
          </p:nvSpPr>
          <p:spPr bwMode="auto">
            <a:xfrm>
              <a:off x="752303" y="5695604"/>
              <a:ext cx="4052636" cy="130315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807741" y="5743870"/>
              <a:ext cx="4075890" cy="1261192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Supplier&lt;Integer&gt;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 s = ()-&gt;(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)(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Math.random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()*100)+1;</a:t>
              </a:r>
            </a:p>
            <a:p>
              <a:pPr>
                <a:spcBef>
                  <a:spcPts val="0"/>
                </a:spcBef>
              </a:pPr>
              <a:endParaRPr lang="en-US" sz="8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static &lt;T&gt; void 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makeRandomList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Supplier&lt;T&gt;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 s, List&lt;T&gt; list) {</a:t>
              </a:r>
            </a:p>
            <a:p>
              <a:pPr>
                <a:spcBef>
                  <a:spcPts val="0"/>
                </a:spcBef>
              </a:pP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    for(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=0;i&lt;10;i++)</a:t>
              </a:r>
            </a:p>
            <a:p>
              <a:pPr>
                <a:spcBef>
                  <a:spcPts val="0"/>
                </a:spcBef>
              </a:pP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         </a:t>
              </a:r>
              <a:r>
                <a:rPr lang="en-US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list.add</a:t>
              </a:r>
              <a:r>
                <a:rPr lang="en-US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s.get</a:t>
              </a:r>
              <a:r>
                <a:rPr lang="en-US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())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; // List&lt;Integer&gt; list = new 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ArrayList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&lt;&gt;();</a:t>
              </a:r>
            </a:p>
          </p:txBody>
        </p:sp>
      </p:grpSp>
      <p:grpSp>
        <p:nvGrpSpPr>
          <p:cNvPr id="28" name="그룹 27"/>
          <p:cNvGrpSpPr/>
          <p:nvPr/>
        </p:nvGrpSpPr>
        <p:grpSpPr>
          <a:xfrm>
            <a:off x="701622" y="5578497"/>
            <a:ext cx="7813782" cy="1136673"/>
            <a:chOff x="701622" y="5656293"/>
            <a:chExt cx="7813782" cy="1136673"/>
          </a:xfrm>
        </p:grpSpPr>
        <p:grpSp>
          <p:nvGrpSpPr>
            <p:cNvPr id="29" name="그룹 51"/>
            <p:cNvGrpSpPr/>
            <p:nvPr/>
          </p:nvGrpSpPr>
          <p:grpSpPr>
            <a:xfrm>
              <a:off x="701622" y="5802349"/>
              <a:ext cx="7813782" cy="990617"/>
              <a:chOff x="752303" y="5695604"/>
              <a:chExt cx="4131328" cy="1309452"/>
            </a:xfrm>
          </p:grpSpPr>
          <p:sp>
            <p:nvSpPr>
              <p:cNvPr id="31" name="모서리가 둥근 직사각형 30"/>
              <p:cNvSpPr/>
              <p:nvPr/>
            </p:nvSpPr>
            <p:spPr bwMode="auto">
              <a:xfrm>
                <a:off x="752303" y="5695604"/>
                <a:ext cx="4052636" cy="1303150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49263" marR="0" indent="-449263" algn="l" defTabSz="914400" rtl="0" eaLnBrk="1" fontAlgn="base" latin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urier New" pitchFamily="49" charset="0"/>
                  <a:ea typeface="견명조" pitchFamily="18" charset="-127"/>
                </a:endParaRPr>
              </a:p>
            </p:txBody>
          </p:sp>
          <p:sp>
            <p:nvSpPr>
              <p:cNvPr id="32" name="직사각형 31"/>
              <p:cNvSpPr/>
              <p:nvPr/>
            </p:nvSpPr>
            <p:spPr>
              <a:xfrm>
                <a:off x="807741" y="5743865"/>
                <a:ext cx="4075890" cy="1261191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>
                  <a:spcBef>
                    <a:spcPts val="0"/>
                  </a:spcBef>
                </a:pPr>
                <a:r>
                  <a:rPr lang="en-US" sz="1200" b="1" dirty="0" err="1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IntSupplier</a:t>
                </a:r>
                <a:r>
                  <a:rPr lang="en-US" sz="1200" b="1" dirty="0" smtClean="0">
                    <a:latin typeface="Courier New" pitchFamily="49" charset="0"/>
                    <a:cs typeface="Courier New" pitchFamily="49" charset="0"/>
                  </a:rPr>
                  <a:t> s = ()-&gt;(</a:t>
                </a:r>
                <a:r>
                  <a:rPr lang="en-US" sz="1200" b="1" dirty="0" err="1" smtClean="0">
                    <a:latin typeface="Courier New" pitchFamily="49" charset="0"/>
                    <a:cs typeface="Courier New" pitchFamily="49" charset="0"/>
                  </a:rPr>
                  <a:t>int</a:t>
                </a:r>
                <a:r>
                  <a:rPr lang="en-US" sz="1200" b="1" dirty="0" smtClean="0">
                    <a:latin typeface="Courier New" pitchFamily="49" charset="0"/>
                    <a:cs typeface="Courier New" pitchFamily="49" charset="0"/>
                  </a:rPr>
                  <a:t>)(</a:t>
                </a:r>
                <a:r>
                  <a:rPr lang="en-US" sz="1200" b="1" dirty="0" err="1" smtClean="0">
                    <a:latin typeface="Courier New" pitchFamily="49" charset="0"/>
                    <a:cs typeface="Courier New" pitchFamily="49" charset="0"/>
                  </a:rPr>
                  <a:t>Math.random</a:t>
                </a:r>
                <a:r>
                  <a:rPr lang="en-US" sz="1200" b="1" dirty="0" smtClean="0">
                    <a:latin typeface="Courier New" pitchFamily="49" charset="0"/>
                    <a:cs typeface="Courier New" pitchFamily="49" charset="0"/>
                  </a:rPr>
                  <a:t>()*100)+1;</a:t>
                </a:r>
              </a:p>
              <a:p>
                <a:pPr>
                  <a:spcBef>
                    <a:spcPts val="0"/>
                  </a:spcBef>
                </a:pPr>
                <a:endParaRPr lang="en-US" sz="800" b="1" dirty="0" smtClean="0">
                  <a:latin typeface="Courier New" pitchFamily="49" charset="0"/>
                  <a:cs typeface="Courier New" pitchFamily="49" charset="0"/>
                </a:endParaRPr>
              </a:p>
              <a:p>
                <a:pPr>
                  <a:spcBef>
                    <a:spcPts val="0"/>
                  </a:spcBef>
                </a:pPr>
                <a:r>
                  <a:rPr lang="en-US" sz="1200" b="1" dirty="0" smtClean="0">
                    <a:latin typeface="Courier New" pitchFamily="49" charset="0"/>
                    <a:cs typeface="Courier New" pitchFamily="49" charset="0"/>
                  </a:rPr>
                  <a:t>static void </a:t>
                </a:r>
                <a:r>
                  <a:rPr lang="en-US" sz="1200" b="1" dirty="0" err="1" smtClean="0">
                    <a:latin typeface="Courier New" pitchFamily="49" charset="0"/>
                    <a:cs typeface="Courier New" pitchFamily="49" charset="0"/>
                  </a:rPr>
                  <a:t>makeRandomList</a:t>
                </a:r>
                <a:r>
                  <a:rPr lang="en-US" sz="1200" b="1" dirty="0" smtClean="0">
                    <a:latin typeface="Courier New" pitchFamily="49" charset="0"/>
                    <a:cs typeface="Courier New" pitchFamily="49" charset="0"/>
                  </a:rPr>
                  <a:t>(</a:t>
                </a:r>
                <a:r>
                  <a:rPr lang="en-US" sz="1200" b="1" dirty="0" err="1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IntSupplier</a:t>
                </a:r>
                <a:r>
                  <a:rPr lang="en-US" sz="1200" b="1" dirty="0" smtClean="0">
                    <a:latin typeface="Courier New" pitchFamily="49" charset="0"/>
                    <a:cs typeface="Courier New" pitchFamily="49" charset="0"/>
                  </a:rPr>
                  <a:t> s, </a:t>
                </a:r>
                <a:r>
                  <a:rPr lang="en-US" sz="1200" b="1" dirty="0" err="1" smtClean="0">
                    <a:latin typeface="Courier New" pitchFamily="49" charset="0"/>
                    <a:cs typeface="Courier New" pitchFamily="49" charset="0"/>
                  </a:rPr>
                  <a:t>int</a:t>
                </a:r>
                <a:r>
                  <a:rPr lang="en-US" sz="1200" b="1" dirty="0" smtClean="0">
                    <a:latin typeface="Courier New" pitchFamily="49" charset="0"/>
                    <a:cs typeface="Courier New" pitchFamily="49" charset="0"/>
                  </a:rPr>
                  <a:t>[] </a:t>
                </a:r>
                <a:r>
                  <a:rPr lang="en-US" sz="1200" b="1" dirty="0" err="1" smtClean="0">
                    <a:latin typeface="Courier New" pitchFamily="49" charset="0"/>
                    <a:cs typeface="Courier New" pitchFamily="49" charset="0"/>
                  </a:rPr>
                  <a:t>arr</a:t>
                </a:r>
                <a:r>
                  <a:rPr lang="en-US" sz="1200" b="1" dirty="0" smtClean="0">
                    <a:latin typeface="Courier New" pitchFamily="49" charset="0"/>
                    <a:cs typeface="Courier New" pitchFamily="49" charset="0"/>
                  </a:rPr>
                  <a:t>) {</a:t>
                </a:r>
              </a:p>
              <a:p>
                <a:pPr>
                  <a:spcBef>
                    <a:spcPts val="0"/>
                  </a:spcBef>
                </a:pPr>
                <a:r>
                  <a:rPr lang="en-US" sz="1200" b="1" dirty="0" smtClean="0">
                    <a:latin typeface="Courier New" pitchFamily="49" charset="0"/>
                    <a:cs typeface="Courier New" pitchFamily="49" charset="0"/>
                  </a:rPr>
                  <a:t>    for(</a:t>
                </a:r>
                <a:r>
                  <a:rPr lang="en-US" sz="1200" b="1" dirty="0" err="1" smtClean="0">
                    <a:latin typeface="Courier New" pitchFamily="49" charset="0"/>
                    <a:cs typeface="Courier New" pitchFamily="49" charset="0"/>
                  </a:rPr>
                  <a:t>int</a:t>
                </a:r>
                <a:r>
                  <a:rPr lang="en-US" sz="1200" b="1" dirty="0" smtClean="0">
                    <a:latin typeface="Courier New" pitchFamily="49" charset="0"/>
                    <a:cs typeface="Courier New" pitchFamily="49" charset="0"/>
                  </a:rPr>
                  <a:t> </a:t>
                </a:r>
                <a:r>
                  <a:rPr lang="en-US" sz="1200" b="1" dirty="0" err="1" smtClean="0">
                    <a:latin typeface="Courier New" pitchFamily="49" charset="0"/>
                    <a:cs typeface="Courier New" pitchFamily="49" charset="0"/>
                  </a:rPr>
                  <a:t>i</a:t>
                </a:r>
                <a:r>
                  <a:rPr lang="en-US" sz="1200" b="1" dirty="0" smtClean="0">
                    <a:latin typeface="Courier New" pitchFamily="49" charset="0"/>
                    <a:cs typeface="Courier New" pitchFamily="49" charset="0"/>
                  </a:rPr>
                  <a:t>=0;i&lt;</a:t>
                </a:r>
                <a:r>
                  <a:rPr lang="en-US" sz="1200" b="1" dirty="0" err="1" smtClean="0">
                    <a:latin typeface="Courier New" pitchFamily="49" charset="0"/>
                    <a:cs typeface="Courier New" pitchFamily="49" charset="0"/>
                  </a:rPr>
                  <a:t>arr.length;i</a:t>
                </a:r>
                <a:r>
                  <a:rPr lang="en-US" sz="1200" b="1" dirty="0" smtClean="0">
                    <a:latin typeface="Courier New" pitchFamily="49" charset="0"/>
                    <a:cs typeface="Courier New" pitchFamily="49" charset="0"/>
                  </a:rPr>
                  <a:t>++)</a:t>
                </a:r>
              </a:p>
              <a:p>
                <a:pPr>
                  <a:spcBef>
                    <a:spcPts val="0"/>
                  </a:spcBef>
                </a:pPr>
                <a:r>
                  <a:rPr lang="en-US" sz="1200" b="1" dirty="0" smtClean="0">
                    <a:latin typeface="Courier New" pitchFamily="49" charset="0"/>
                    <a:cs typeface="Courier New" pitchFamily="49" charset="0"/>
                  </a:rPr>
                  <a:t>         </a:t>
                </a:r>
                <a:r>
                  <a:rPr lang="en-US" sz="1200" b="1" dirty="0" err="1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arr</a:t>
                </a:r>
                <a:r>
                  <a:rPr lang="en-US" sz="1200" b="1" dirty="0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[</a:t>
                </a:r>
                <a:r>
                  <a:rPr lang="en-US" sz="1200" b="1" dirty="0" err="1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i</a:t>
                </a:r>
                <a:r>
                  <a:rPr lang="en-US" sz="1200" b="1" dirty="0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] = </a:t>
                </a:r>
                <a:r>
                  <a:rPr lang="en-US" sz="1200" b="1" dirty="0" err="1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s.getAsInt</a:t>
                </a:r>
                <a:r>
                  <a:rPr lang="en-US" sz="1200" b="1" dirty="0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()</a:t>
                </a:r>
                <a:r>
                  <a:rPr lang="en-US" sz="1200" b="1" dirty="0" smtClean="0">
                    <a:latin typeface="Courier New" pitchFamily="49" charset="0"/>
                    <a:cs typeface="Courier New" pitchFamily="49" charset="0"/>
                  </a:rPr>
                  <a:t>;   // get()</a:t>
                </a:r>
                <a:r>
                  <a:rPr lang="ko-KR" altLang="en-US" sz="1200" b="1" dirty="0" smtClean="0">
                    <a:latin typeface="Courier New" pitchFamily="49" charset="0"/>
                    <a:cs typeface="Courier New" pitchFamily="49" charset="0"/>
                  </a:rPr>
                  <a:t>이 아니라 </a:t>
                </a:r>
                <a:r>
                  <a:rPr lang="en-US" altLang="ko-KR" sz="1200" b="1" dirty="0" err="1" smtClean="0">
                    <a:latin typeface="Courier New" pitchFamily="49" charset="0"/>
                    <a:cs typeface="Courier New" pitchFamily="49" charset="0"/>
                  </a:rPr>
                  <a:t>getAsInt</a:t>
                </a:r>
                <a:r>
                  <a:rPr lang="en-US" altLang="ko-KR" sz="1200" b="1" dirty="0" smtClean="0">
                    <a:latin typeface="Courier New" pitchFamily="49" charset="0"/>
                    <a:cs typeface="Courier New" pitchFamily="49" charset="0"/>
                  </a:rPr>
                  <a:t>()</a:t>
                </a:r>
                <a:r>
                  <a:rPr lang="ko-KR" altLang="en-US" sz="1200" b="1" dirty="0" smtClean="0">
                    <a:latin typeface="Courier New" pitchFamily="49" charset="0"/>
                    <a:cs typeface="Courier New" pitchFamily="49" charset="0"/>
                  </a:rPr>
                  <a:t>임에 주의</a:t>
                </a:r>
                <a:endParaRPr lang="en-US" sz="1200" b="1" dirty="0" smtClean="0"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  <p:sp>
          <p:nvSpPr>
            <p:cNvPr id="30" name="아래쪽 화살표 29"/>
            <p:cNvSpPr/>
            <p:nvPr/>
          </p:nvSpPr>
          <p:spPr bwMode="auto">
            <a:xfrm>
              <a:off x="4425948" y="5656293"/>
              <a:ext cx="328617" cy="255591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863600"/>
          </a:xfrm>
          <a:prstGeom prst="rect">
            <a:avLst/>
          </a:prstGeom>
          <a:solidFill>
            <a:srgbClr val="E4D394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576263"/>
            <a:ext cx="8388350" cy="53975"/>
          </a:xfrm>
          <a:prstGeom prst="rect">
            <a:avLst/>
          </a:prstGeom>
          <a:solidFill>
            <a:srgbClr val="81705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883525" y="42863"/>
            <a:ext cx="1368425" cy="722312"/>
            <a:chOff x="3787" y="1570"/>
            <a:chExt cx="862" cy="455"/>
          </a:xfrm>
        </p:grpSpPr>
        <p:sp>
          <p:nvSpPr>
            <p:cNvPr id="3090" name="Text Box 5"/>
            <p:cNvSpPr txBox="1">
              <a:spLocks noChangeArrowheads="1"/>
            </p:cNvSpPr>
            <p:nvPr/>
          </p:nvSpPr>
          <p:spPr bwMode="auto">
            <a:xfrm>
              <a:off x="3787" y="1570"/>
              <a:ext cx="7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2800">
                  <a:latin typeface="Elephant" pitchFamily="18" charset="0"/>
                  <a:ea typeface="굴림" charset="-127"/>
                </a:rPr>
                <a:t>Java</a:t>
              </a:r>
            </a:p>
          </p:txBody>
        </p:sp>
        <p:sp>
          <p:nvSpPr>
            <p:cNvPr id="3091" name="Text Box 6"/>
            <p:cNvSpPr txBox="1">
              <a:spLocks noChangeArrowheads="1"/>
            </p:cNvSpPr>
            <p:nvPr/>
          </p:nvSpPr>
          <p:spPr bwMode="auto">
            <a:xfrm>
              <a:off x="4308" y="1643"/>
              <a:ext cx="34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1600">
                  <a:latin typeface="HY견고딕" pitchFamily="18" charset="-127"/>
                  <a:ea typeface="HY견고딕" pitchFamily="18" charset="-127"/>
                </a:rPr>
                <a:t>의</a:t>
              </a:r>
            </a:p>
          </p:txBody>
        </p:sp>
        <p:sp>
          <p:nvSpPr>
            <p:cNvPr id="3092" name="Text Box 7"/>
            <p:cNvSpPr txBox="1">
              <a:spLocks noChangeArrowheads="1"/>
            </p:cNvSpPr>
            <p:nvPr/>
          </p:nvSpPr>
          <p:spPr bwMode="auto">
            <a:xfrm>
              <a:off x="4121" y="1775"/>
              <a:ext cx="5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2000">
                  <a:latin typeface="바탕" pitchFamily="18" charset="-127"/>
                  <a:ea typeface="HY견고딕" pitchFamily="18" charset="-127"/>
                </a:rPr>
                <a:t>정석</a:t>
              </a:r>
            </a:p>
          </p:txBody>
        </p:sp>
      </p:grp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443663" y="620713"/>
            <a:ext cx="2016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 err="1">
                <a:latin typeface="Courier New" pitchFamily="49" charset="0"/>
                <a:ea typeface="굴림" charset="-127"/>
              </a:rPr>
              <a:t>http://</a:t>
            </a:r>
            <a:r>
              <a:rPr lang="en-US" altLang="ko-KR" sz="1000" b="1" dirty="0" err="1" smtClean="0">
                <a:latin typeface="Courier New" pitchFamily="49" charset="0"/>
                <a:ea typeface="굴림" charset="-127"/>
              </a:rPr>
              <a:t>www.codechobo.com</a:t>
            </a:r>
            <a:endParaRPr lang="en-US" altLang="ko-KR" sz="1000" b="1" dirty="0">
              <a:latin typeface="Courier New" pitchFamily="49" charset="0"/>
              <a:ea typeface="굴림" charset="-127"/>
            </a:endParaRPr>
          </a:p>
        </p:txBody>
      </p:sp>
      <p:sp>
        <p:nvSpPr>
          <p:cNvPr id="3078" name="Text Box 19"/>
          <p:cNvSpPr txBox="1">
            <a:spLocks noChangeArrowheads="1"/>
          </p:cNvSpPr>
          <p:nvPr/>
        </p:nvSpPr>
        <p:spPr bwMode="auto">
          <a:xfrm>
            <a:off x="358775" y="1016000"/>
            <a:ext cx="8569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800" b="1" dirty="0" smtClean="0"/>
              <a:t>1.5  Function</a:t>
            </a:r>
            <a:r>
              <a:rPr lang="ko-KR" altLang="en-US" sz="2800" b="1" dirty="0" smtClean="0"/>
              <a:t>의 합성</a:t>
            </a:r>
            <a:r>
              <a:rPr lang="en-US" altLang="ko-KR" sz="2800" b="1" dirty="0" smtClean="0"/>
              <a:t>(1/2)</a:t>
            </a:r>
            <a:endParaRPr lang="en-US" altLang="ko-KR" sz="2800" b="1" dirty="0"/>
          </a:p>
        </p:txBody>
      </p:sp>
      <p:sp>
        <p:nvSpPr>
          <p:cNvPr id="3089" name="Text Box 9"/>
          <p:cNvSpPr txBox="1">
            <a:spLocks noChangeArrowheads="1"/>
          </p:cNvSpPr>
          <p:nvPr/>
        </p:nvSpPr>
        <p:spPr bwMode="auto">
          <a:xfrm>
            <a:off x="146050" y="188913"/>
            <a:ext cx="5686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Chapter 14. 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람다와 스트림</a:t>
            </a: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(Lambda &amp; Stream)</a:t>
            </a:r>
          </a:p>
        </p:txBody>
      </p:sp>
      <p:sp>
        <p:nvSpPr>
          <p:cNvPr id="36" name="Text Box 20"/>
          <p:cNvSpPr txBox="1">
            <a:spLocks noChangeArrowheads="1"/>
          </p:cNvSpPr>
          <p:nvPr/>
        </p:nvSpPr>
        <p:spPr bwMode="auto">
          <a:xfrm>
            <a:off x="468313" y="1712889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Function</a:t>
            </a:r>
            <a:r>
              <a:rPr lang="ko-KR" altLang="en-US" b="1" dirty="0" smtClean="0"/>
              <a:t>타입의 두 </a:t>
            </a:r>
            <a:r>
              <a:rPr lang="ko-KR" altLang="en-US" b="1" dirty="0" err="1" smtClean="0"/>
              <a:t>람다식을</a:t>
            </a:r>
            <a:r>
              <a:rPr lang="ko-KR" altLang="en-US" b="1" dirty="0" smtClean="0"/>
              <a:t> 하나로 합성 </a:t>
            </a:r>
            <a:r>
              <a:rPr lang="en-US" altLang="ko-KR" b="1" dirty="0" smtClean="0"/>
              <a:t>– </a:t>
            </a:r>
            <a:r>
              <a:rPr lang="en-US" altLang="ko-KR" b="1" dirty="0" err="1" smtClean="0"/>
              <a:t>andThen</a:t>
            </a:r>
            <a:r>
              <a:rPr lang="en-US" altLang="ko-KR" b="1" dirty="0" smtClean="0"/>
              <a:t>(</a:t>
            </a:r>
            <a:r>
              <a:rPr lang="en-US" altLang="ko-KR" sz="600" b="1" dirty="0" smtClean="0"/>
              <a:t> </a:t>
            </a:r>
            <a:r>
              <a:rPr lang="en-US" altLang="ko-KR" b="1" dirty="0" smtClean="0"/>
              <a:t>)</a:t>
            </a:r>
            <a:endParaRPr lang="en-US" altLang="ko-KR" b="1" dirty="0"/>
          </a:p>
        </p:txBody>
      </p:sp>
      <p:sp>
        <p:nvSpPr>
          <p:cNvPr id="22" name="십자형 21"/>
          <p:cNvSpPr/>
          <p:nvPr/>
        </p:nvSpPr>
        <p:spPr bwMode="auto">
          <a:xfrm>
            <a:off x="4425948" y="3543586"/>
            <a:ext cx="365130" cy="367308"/>
          </a:xfrm>
          <a:prstGeom prst="plus">
            <a:avLst>
              <a:gd name="adj" fmla="val 39677"/>
            </a:avLst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449263" marR="0" indent="-449263" algn="l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ea typeface="견명조" pitchFamily="18" charset="-127"/>
            </a:endParaRPr>
          </a:p>
        </p:txBody>
      </p:sp>
      <p:grpSp>
        <p:nvGrpSpPr>
          <p:cNvPr id="24" name="그룹 51"/>
          <p:cNvGrpSpPr/>
          <p:nvPr/>
        </p:nvGrpSpPr>
        <p:grpSpPr>
          <a:xfrm>
            <a:off x="774648" y="2206642"/>
            <a:ext cx="7841398" cy="949336"/>
            <a:chOff x="752303" y="5695603"/>
            <a:chExt cx="4086053" cy="1303150"/>
          </a:xfrm>
        </p:grpSpPr>
        <p:sp>
          <p:nvSpPr>
            <p:cNvPr id="25" name="모서리가 둥근 직사각형 24"/>
            <p:cNvSpPr/>
            <p:nvPr/>
          </p:nvSpPr>
          <p:spPr bwMode="auto">
            <a:xfrm>
              <a:off x="752303" y="5695603"/>
              <a:ext cx="4052636" cy="130315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771329" y="5781731"/>
              <a:ext cx="4067027" cy="1140706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Function&lt;</a:t>
              </a:r>
              <a:r>
                <a:rPr lang="en-US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String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, Integer&gt; f = (s) -&gt; 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Integer.parseInt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(s, 16); // s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를 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16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진 정수로 변환</a:t>
              </a:r>
            </a:p>
            <a:p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Function&lt;Integer, </a:t>
              </a:r>
              <a:r>
                <a:rPr lang="en-US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String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&gt; g = (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) -&gt; 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Integer.toBinaryString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); // 2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진 문자열로 변환</a:t>
              </a:r>
              <a:endParaRPr lang="en-US" sz="1200" b="1" dirty="0" smtClean="0"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Function&lt;</a:t>
              </a:r>
              <a:r>
                <a:rPr lang="en-US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String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en-US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String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&gt;  h =  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f.</a:t>
              </a:r>
              <a:r>
                <a:rPr lang="en-US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andThen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(g);   // f + g </a:t>
              </a:r>
              <a:r>
                <a:rPr lang="en-US" sz="1200" dirty="0" smtClean="0">
                  <a:latin typeface="Courier New" pitchFamily="49" charset="0"/>
                  <a:cs typeface="Courier New" pitchFamily="49" charset="0"/>
                </a:rPr>
                <a:t>→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 h</a:t>
              </a:r>
              <a:endParaRPr lang="en-US" sz="1200" b="1" dirty="0">
                <a:latin typeface="Courier New" pitchFamily="49" charset="0"/>
                <a:cs typeface="Courier New" pitchFamily="49" charset="0"/>
              </a:endParaRPr>
            </a:p>
          </p:txBody>
        </p:sp>
      </p:grp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26195" y="3246435"/>
            <a:ext cx="3390214" cy="933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00617" y="3282948"/>
            <a:ext cx="3373479" cy="862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31" name="그룹 51"/>
          <p:cNvGrpSpPr/>
          <p:nvPr/>
        </p:nvGrpSpPr>
        <p:grpSpPr>
          <a:xfrm>
            <a:off x="774648" y="6057936"/>
            <a:ext cx="7777269" cy="438156"/>
            <a:chOff x="752303" y="5695603"/>
            <a:chExt cx="4052636" cy="1303150"/>
          </a:xfrm>
        </p:grpSpPr>
        <p:sp>
          <p:nvSpPr>
            <p:cNvPr id="32" name="모서리가 둥근 직사각형 31"/>
            <p:cNvSpPr/>
            <p:nvPr/>
          </p:nvSpPr>
          <p:spPr bwMode="auto">
            <a:xfrm>
              <a:off x="752303" y="5695603"/>
              <a:ext cx="4052636" cy="130315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814018" y="5957719"/>
              <a:ext cx="3961531" cy="823842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   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System.out.println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h.apply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("FF")); // "FF" → 255 → "11111111"</a:t>
              </a:r>
            </a:p>
          </p:txBody>
        </p:sp>
      </p:grpSp>
      <p:grpSp>
        <p:nvGrpSpPr>
          <p:cNvPr id="27" name="그룹 26"/>
          <p:cNvGrpSpPr/>
          <p:nvPr/>
        </p:nvGrpSpPr>
        <p:grpSpPr>
          <a:xfrm>
            <a:off x="1387494" y="4054768"/>
            <a:ext cx="6543702" cy="1915110"/>
            <a:chOff x="1387494" y="4054768"/>
            <a:chExt cx="6543702" cy="1915110"/>
          </a:xfrm>
        </p:grpSpPr>
        <p:pic>
          <p:nvPicPr>
            <p:cNvPr id="2057" name="Picture 9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1387494" y="4378338"/>
              <a:ext cx="6543702" cy="15915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23" name="아래쪽 화살표 22"/>
            <p:cNvSpPr/>
            <p:nvPr/>
          </p:nvSpPr>
          <p:spPr bwMode="auto">
            <a:xfrm>
              <a:off x="4443366" y="4054768"/>
              <a:ext cx="328617" cy="401643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2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863600"/>
          </a:xfrm>
          <a:prstGeom prst="rect">
            <a:avLst/>
          </a:prstGeom>
          <a:solidFill>
            <a:srgbClr val="E4D394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576263"/>
            <a:ext cx="8388350" cy="53975"/>
          </a:xfrm>
          <a:prstGeom prst="rect">
            <a:avLst/>
          </a:prstGeom>
          <a:solidFill>
            <a:srgbClr val="81705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883525" y="42863"/>
            <a:ext cx="1368425" cy="722312"/>
            <a:chOff x="3787" y="1570"/>
            <a:chExt cx="862" cy="455"/>
          </a:xfrm>
        </p:grpSpPr>
        <p:sp>
          <p:nvSpPr>
            <p:cNvPr id="3090" name="Text Box 5"/>
            <p:cNvSpPr txBox="1">
              <a:spLocks noChangeArrowheads="1"/>
            </p:cNvSpPr>
            <p:nvPr/>
          </p:nvSpPr>
          <p:spPr bwMode="auto">
            <a:xfrm>
              <a:off x="3787" y="1570"/>
              <a:ext cx="7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2800">
                  <a:latin typeface="Elephant" pitchFamily="18" charset="0"/>
                  <a:ea typeface="굴림" charset="-127"/>
                </a:rPr>
                <a:t>Java</a:t>
              </a:r>
            </a:p>
          </p:txBody>
        </p:sp>
        <p:sp>
          <p:nvSpPr>
            <p:cNvPr id="3091" name="Text Box 6"/>
            <p:cNvSpPr txBox="1">
              <a:spLocks noChangeArrowheads="1"/>
            </p:cNvSpPr>
            <p:nvPr/>
          </p:nvSpPr>
          <p:spPr bwMode="auto">
            <a:xfrm>
              <a:off x="4308" y="1643"/>
              <a:ext cx="34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1600">
                  <a:latin typeface="HY견고딕" pitchFamily="18" charset="-127"/>
                  <a:ea typeface="HY견고딕" pitchFamily="18" charset="-127"/>
                </a:rPr>
                <a:t>의</a:t>
              </a:r>
            </a:p>
          </p:txBody>
        </p:sp>
        <p:sp>
          <p:nvSpPr>
            <p:cNvPr id="3092" name="Text Box 7"/>
            <p:cNvSpPr txBox="1">
              <a:spLocks noChangeArrowheads="1"/>
            </p:cNvSpPr>
            <p:nvPr/>
          </p:nvSpPr>
          <p:spPr bwMode="auto">
            <a:xfrm>
              <a:off x="4121" y="1775"/>
              <a:ext cx="5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2000">
                  <a:latin typeface="바탕" pitchFamily="18" charset="-127"/>
                  <a:ea typeface="HY견고딕" pitchFamily="18" charset="-127"/>
                </a:rPr>
                <a:t>정석</a:t>
              </a:r>
            </a:p>
          </p:txBody>
        </p:sp>
      </p:grp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443663" y="620713"/>
            <a:ext cx="2016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 err="1">
                <a:latin typeface="Courier New" pitchFamily="49" charset="0"/>
                <a:ea typeface="굴림" charset="-127"/>
              </a:rPr>
              <a:t>http://</a:t>
            </a:r>
            <a:r>
              <a:rPr lang="en-US" altLang="ko-KR" sz="1000" b="1" dirty="0" err="1" smtClean="0">
                <a:latin typeface="Courier New" pitchFamily="49" charset="0"/>
                <a:ea typeface="굴림" charset="-127"/>
              </a:rPr>
              <a:t>www.codechobo.com</a:t>
            </a:r>
            <a:endParaRPr lang="en-US" altLang="ko-KR" sz="1000" b="1" dirty="0">
              <a:latin typeface="Courier New" pitchFamily="49" charset="0"/>
              <a:ea typeface="굴림" charset="-127"/>
            </a:endParaRPr>
          </a:p>
        </p:txBody>
      </p:sp>
      <p:sp>
        <p:nvSpPr>
          <p:cNvPr id="3078" name="Text Box 19"/>
          <p:cNvSpPr txBox="1">
            <a:spLocks noChangeArrowheads="1"/>
          </p:cNvSpPr>
          <p:nvPr/>
        </p:nvSpPr>
        <p:spPr bwMode="auto">
          <a:xfrm>
            <a:off x="358775" y="1016000"/>
            <a:ext cx="8569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800" b="1" dirty="0" smtClean="0"/>
              <a:t>1.5  Function</a:t>
            </a:r>
            <a:r>
              <a:rPr lang="ko-KR" altLang="en-US" sz="2800" b="1" dirty="0" smtClean="0"/>
              <a:t>의 합성</a:t>
            </a:r>
            <a:r>
              <a:rPr lang="en-US" altLang="ko-KR" sz="2800" b="1" dirty="0" smtClean="0"/>
              <a:t>(2/2)</a:t>
            </a:r>
            <a:endParaRPr lang="en-US" altLang="ko-KR" sz="2800" b="1" dirty="0"/>
          </a:p>
        </p:txBody>
      </p:sp>
      <p:sp>
        <p:nvSpPr>
          <p:cNvPr id="3089" name="Text Box 9"/>
          <p:cNvSpPr txBox="1">
            <a:spLocks noChangeArrowheads="1"/>
          </p:cNvSpPr>
          <p:nvPr/>
        </p:nvSpPr>
        <p:spPr bwMode="auto">
          <a:xfrm>
            <a:off x="146050" y="188913"/>
            <a:ext cx="5686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Chapter 14. 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람다와 스트림</a:t>
            </a: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(Lambda &amp; Stream)</a:t>
            </a:r>
          </a:p>
        </p:txBody>
      </p:sp>
      <p:sp>
        <p:nvSpPr>
          <p:cNvPr id="36" name="Text Box 20"/>
          <p:cNvSpPr txBox="1">
            <a:spLocks noChangeArrowheads="1"/>
          </p:cNvSpPr>
          <p:nvPr/>
        </p:nvSpPr>
        <p:spPr bwMode="auto">
          <a:xfrm>
            <a:off x="468313" y="1712889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Function</a:t>
            </a:r>
            <a:r>
              <a:rPr lang="ko-KR" altLang="en-US" b="1" dirty="0" smtClean="0"/>
              <a:t>타입의 두 </a:t>
            </a:r>
            <a:r>
              <a:rPr lang="ko-KR" altLang="en-US" b="1" dirty="0" err="1" smtClean="0"/>
              <a:t>람다식을</a:t>
            </a:r>
            <a:r>
              <a:rPr lang="ko-KR" altLang="en-US" b="1" dirty="0" smtClean="0"/>
              <a:t> 하나로 합성 </a:t>
            </a:r>
            <a:r>
              <a:rPr lang="en-US" altLang="ko-KR" b="1" dirty="0" smtClean="0"/>
              <a:t>– compose(</a:t>
            </a:r>
            <a:r>
              <a:rPr lang="en-US" altLang="ko-KR" sz="600" b="1" dirty="0" smtClean="0"/>
              <a:t> </a:t>
            </a:r>
            <a:r>
              <a:rPr lang="en-US" altLang="ko-KR" b="1" dirty="0" smtClean="0"/>
              <a:t>)</a:t>
            </a:r>
            <a:endParaRPr lang="en-US" altLang="ko-KR" b="1" dirty="0"/>
          </a:p>
        </p:txBody>
      </p:sp>
      <p:sp>
        <p:nvSpPr>
          <p:cNvPr id="22" name="십자형 21"/>
          <p:cNvSpPr/>
          <p:nvPr/>
        </p:nvSpPr>
        <p:spPr bwMode="auto">
          <a:xfrm>
            <a:off x="4425948" y="3543586"/>
            <a:ext cx="365130" cy="367308"/>
          </a:xfrm>
          <a:prstGeom prst="plus">
            <a:avLst>
              <a:gd name="adj" fmla="val 39677"/>
            </a:avLst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449263" marR="0" indent="-449263" algn="l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ea typeface="견명조" pitchFamily="18" charset="-127"/>
            </a:endParaRPr>
          </a:p>
        </p:txBody>
      </p:sp>
      <p:grpSp>
        <p:nvGrpSpPr>
          <p:cNvPr id="3" name="그룹 51"/>
          <p:cNvGrpSpPr/>
          <p:nvPr/>
        </p:nvGrpSpPr>
        <p:grpSpPr>
          <a:xfrm>
            <a:off x="774648" y="2206642"/>
            <a:ext cx="7777269" cy="949336"/>
            <a:chOff x="752303" y="5695603"/>
            <a:chExt cx="4052636" cy="1303150"/>
          </a:xfrm>
        </p:grpSpPr>
        <p:sp>
          <p:nvSpPr>
            <p:cNvPr id="25" name="모서리가 둥근 직사각형 24"/>
            <p:cNvSpPr/>
            <p:nvPr/>
          </p:nvSpPr>
          <p:spPr bwMode="auto">
            <a:xfrm>
              <a:off x="752303" y="5695603"/>
              <a:ext cx="4052636" cy="130315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790356" y="5781730"/>
              <a:ext cx="4009948" cy="1140706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Function&lt;</a:t>
              </a:r>
              <a:r>
                <a:rPr lang="en-US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Integer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, String&gt; g = (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) -&gt; 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Integer.toBinaryString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); // 2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진 문자열로 변환</a:t>
              </a:r>
              <a:endParaRPr lang="en-US" sz="1200" b="1" dirty="0" smtClean="0"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Function&lt;String, </a:t>
              </a:r>
              <a:r>
                <a:rPr lang="en-US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Integer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&gt; f = (s) -&gt; 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Integer.parseInt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(s, 16);// s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를 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16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진 정수로 변환</a:t>
              </a:r>
            </a:p>
            <a:p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Function&lt;</a:t>
              </a:r>
              <a:r>
                <a:rPr lang="en-US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 Integer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en-US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Integer 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&gt;  h =  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f.compose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(g);   // g + f </a:t>
              </a:r>
              <a:r>
                <a:rPr lang="en-US" sz="1200" dirty="0" smtClean="0">
                  <a:latin typeface="Courier New" pitchFamily="49" charset="0"/>
                  <a:cs typeface="Courier New" pitchFamily="49" charset="0"/>
                </a:rPr>
                <a:t>→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 h</a:t>
              </a:r>
              <a:endParaRPr lang="en-US" sz="1200" b="1" dirty="0">
                <a:latin typeface="Courier New" pitchFamily="49" charset="0"/>
                <a:cs typeface="Courier New" pitchFamily="49" charset="0"/>
              </a:endParaRPr>
            </a:p>
          </p:txBody>
        </p:sp>
      </p:grp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06112" y="3255144"/>
            <a:ext cx="3390214" cy="933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20700" y="3282948"/>
            <a:ext cx="3373479" cy="862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4" name="그룹 51"/>
          <p:cNvGrpSpPr/>
          <p:nvPr/>
        </p:nvGrpSpPr>
        <p:grpSpPr>
          <a:xfrm>
            <a:off x="774648" y="6057936"/>
            <a:ext cx="7777269" cy="438156"/>
            <a:chOff x="752303" y="5695603"/>
            <a:chExt cx="4052636" cy="1303150"/>
          </a:xfrm>
        </p:grpSpPr>
        <p:sp>
          <p:nvSpPr>
            <p:cNvPr id="32" name="모서리가 둥근 직사각형 31"/>
            <p:cNvSpPr/>
            <p:nvPr/>
          </p:nvSpPr>
          <p:spPr bwMode="auto">
            <a:xfrm>
              <a:off x="752303" y="5695603"/>
              <a:ext cx="4052636" cy="130315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814018" y="5957719"/>
              <a:ext cx="3961531" cy="823842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   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System.out.println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h.apply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(2)); // 2 → "10" → 16</a:t>
              </a:r>
            </a:p>
          </p:txBody>
        </p:sp>
      </p:grpSp>
      <p:grpSp>
        <p:nvGrpSpPr>
          <p:cNvPr id="27" name="그룹 26"/>
          <p:cNvGrpSpPr/>
          <p:nvPr/>
        </p:nvGrpSpPr>
        <p:grpSpPr>
          <a:xfrm>
            <a:off x="1450977" y="4054768"/>
            <a:ext cx="6316749" cy="1883808"/>
            <a:chOff x="1450977" y="4054768"/>
            <a:chExt cx="6316749" cy="1883808"/>
          </a:xfrm>
        </p:grpSpPr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1450977" y="4378338"/>
              <a:ext cx="6316749" cy="1560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23" name="아래쪽 화살표 22"/>
            <p:cNvSpPr/>
            <p:nvPr/>
          </p:nvSpPr>
          <p:spPr bwMode="auto">
            <a:xfrm>
              <a:off x="4443366" y="4054768"/>
              <a:ext cx="328617" cy="401643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2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863600"/>
          </a:xfrm>
          <a:prstGeom prst="rect">
            <a:avLst/>
          </a:prstGeom>
          <a:solidFill>
            <a:srgbClr val="E4D394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576263"/>
            <a:ext cx="8388350" cy="53975"/>
          </a:xfrm>
          <a:prstGeom prst="rect">
            <a:avLst/>
          </a:prstGeom>
          <a:solidFill>
            <a:srgbClr val="81705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883525" y="42863"/>
            <a:ext cx="1368425" cy="722312"/>
            <a:chOff x="3787" y="1570"/>
            <a:chExt cx="862" cy="455"/>
          </a:xfrm>
        </p:grpSpPr>
        <p:sp>
          <p:nvSpPr>
            <p:cNvPr id="3090" name="Text Box 5"/>
            <p:cNvSpPr txBox="1">
              <a:spLocks noChangeArrowheads="1"/>
            </p:cNvSpPr>
            <p:nvPr/>
          </p:nvSpPr>
          <p:spPr bwMode="auto">
            <a:xfrm>
              <a:off x="3787" y="1570"/>
              <a:ext cx="7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2800">
                  <a:latin typeface="Elephant" pitchFamily="18" charset="0"/>
                  <a:ea typeface="굴림" charset="-127"/>
                </a:rPr>
                <a:t>Java</a:t>
              </a:r>
            </a:p>
          </p:txBody>
        </p:sp>
        <p:sp>
          <p:nvSpPr>
            <p:cNvPr id="3091" name="Text Box 6"/>
            <p:cNvSpPr txBox="1">
              <a:spLocks noChangeArrowheads="1"/>
            </p:cNvSpPr>
            <p:nvPr/>
          </p:nvSpPr>
          <p:spPr bwMode="auto">
            <a:xfrm>
              <a:off x="4308" y="1643"/>
              <a:ext cx="34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1600">
                  <a:latin typeface="HY견고딕" pitchFamily="18" charset="-127"/>
                  <a:ea typeface="HY견고딕" pitchFamily="18" charset="-127"/>
                </a:rPr>
                <a:t>의</a:t>
              </a:r>
            </a:p>
          </p:txBody>
        </p:sp>
        <p:sp>
          <p:nvSpPr>
            <p:cNvPr id="3092" name="Text Box 7"/>
            <p:cNvSpPr txBox="1">
              <a:spLocks noChangeArrowheads="1"/>
            </p:cNvSpPr>
            <p:nvPr/>
          </p:nvSpPr>
          <p:spPr bwMode="auto">
            <a:xfrm>
              <a:off x="4121" y="1775"/>
              <a:ext cx="5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2000">
                  <a:latin typeface="바탕" pitchFamily="18" charset="-127"/>
                  <a:ea typeface="HY견고딕" pitchFamily="18" charset="-127"/>
                </a:rPr>
                <a:t>정석</a:t>
              </a:r>
            </a:p>
          </p:txBody>
        </p:sp>
      </p:grp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443663" y="620713"/>
            <a:ext cx="2016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 err="1">
                <a:latin typeface="Courier New" pitchFamily="49" charset="0"/>
                <a:ea typeface="굴림" charset="-127"/>
              </a:rPr>
              <a:t>http://</a:t>
            </a:r>
            <a:r>
              <a:rPr lang="en-US" altLang="ko-KR" sz="1000" b="1" dirty="0" err="1" smtClean="0">
                <a:latin typeface="Courier New" pitchFamily="49" charset="0"/>
                <a:ea typeface="굴림" charset="-127"/>
              </a:rPr>
              <a:t>www.codechobo.com</a:t>
            </a:r>
            <a:endParaRPr lang="en-US" altLang="ko-KR" sz="1000" b="1" dirty="0">
              <a:latin typeface="Courier New" pitchFamily="49" charset="0"/>
              <a:ea typeface="굴림" charset="-127"/>
            </a:endParaRPr>
          </a:p>
        </p:txBody>
      </p:sp>
      <p:sp>
        <p:nvSpPr>
          <p:cNvPr id="3078" name="Text Box 19"/>
          <p:cNvSpPr txBox="1">
            <a:spLocks noChangeArrowheads="1"/>
          </p:cNvSpPr>
          <p:nvPr/>
        </p:nvSpPr>
        <p:spPr bwMode="auto">
          <a:xfrm>
            <a:off x="358775" y="1016000"/>
            <a:ext cx="8569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800" b="1" dirty="0" smtClean="0"/>
              <a:t>1.6  Predicate</a:t>
            </a:r>
            <a:r>
              <a:rPr lang="ko-KR" altLang="en-US" sz="2800" b="1" dirty="0" smtClean="0"/>
              <a:t>의 결합</a:t>
            </a:r>
            <a:endParaRPr lang="en-US" altLang="ko-KR" sz="2800" b="1" dirty="0"/>
          </a:p>
        </p:txBody>
      </p:sp>
      <p:sp>
        <p:nvSpPr>
          <p:cNvPr id="3089" name="Text Box 9"/>
          <p:cNvSpPr txBox="1">
            <a:spLocks noChangeArrowheads="1"/>
          </p:cNvSpPr>
          <p:nvPr/>
        </p:nvSpPr>
        <p:spPr bwMode="auto">
          <a:xfrm>
            <a:off x="146050" y="188913"/>
            <a:ext cx="5686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Chapter 14. 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람다와 스트림</a:t>
            </a: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(Lambda &amp; Stream)</a:t>
            </a:r>
          </a:p>
        </p:txBody>
      </p:sp>
      <p:sp>
        <p:nvSpPr>
          <p:cNvPr id="36" name="Text Box 20"/>
          <p:cNvSpPr txBox="1">
            <a:spLocks noChangeArrowheads="1"/>
          </p:cNvSpPr>
          <p:nvPr/>
        </p:nvSpPr>
        <p:spPr bwMode="auto">
          <a:xfrm>
            <a:off x="468313" y="1712889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and(</a:t>
            </a:r>
            <a:r>
              <a:rPr lang="en-US" altLang="ko-KR" sz="300" b="1" dirty="0" smtClean="0"/>
              <a:t> </a:t>
            </a:r>
            <a:r>
              <a:rPr lang="en-US" altLang="ko-KR" b="1" dirty="0" smtClean="0"/>
              <a:t>), or(</a:t>
            </a:r>
            <a:r>
              <a:rPr lang="en-US" altLang="ko-KR" sz="300" b="1" dirty="0" smtClean="0"/>
              <a:t> </a:t>
            </a:r>
            <a:r>
              <a:rPr lang="en-US" altLang="ko-KR" b="1" dirty="0" smtClean="0"/>
              <a:t>), negate(</a:t>
            </a:r>
            <a:r>
              <a:rPr lang="en-US" altLang="ko-KR" sz="300" b="1" dirty="0" smtClean="0"/>
              <a:t> </a:t>
            </a:r>
            <a:r>
              <a:rPr lang="en-US" altLang="ko-KR" b="1" dirty="0" smtClean="0"/>
              <a:t>)</a:t>
            </a:r>
            <a:r>
              <a:rPr lang="ko-KR" altLang="en-US" b="1" dirty="0" smtClean="0"/>
              <a:t>로 두 </a:t>
            </a:r>
            <a:r>
              <a:rPr lang="en-US" altLang="ko-KR" b="1" dirty="0" smtClean="0"/>
              <a:t>Predicate</a:t>
            </a:r>
            <a:r>
              <a:rPr lang="ko-KR" altLang="en-US" b="1" dirty="0" smtClean="0"/>
              <a:t>를 하나로 결합</a:t>
            </a:r>
            <a:r>
              <a:rPr lang="en-US" altLang="ko-KR" b="1" dirty="0" smtClean="0"/>
              <a:t>(default</a:t>
            </a:r>
            <a:r>
              <a:rPr lang="ko-KR" altLang="en-US" b="1" dirty="0" err="1" smtClean="0"/>
              <a:t>메서드</a:t>
            </a:r>
            <a:r>
              <a:rPr lang="en-US" altLang="ko-KR" b="1" dirty="0" smtClean="0"/>
              <a:t>)</a:t>
            </a:r>
            <a:r>
              <a:rPr lang="ko-KR" altLang="en-US" b="1" dirty="0" smtClean="0"/>
              <a:t> </a:t>
            </a:r>
            <a:endParaRPr lang="en-US" altLang="ko-KR" b="1" dirty="0"/>
          </a:p>
        </p:txBody>
      </p:sp>
      <p:grpSp>
        <p:nvGrpSpPr>
          <p:cNvPr id="12" name="그룹 51"/>
          <p:cNvGrpSpPr/>
          <p:nvPr/>
        </p:nvGrpSpPr>
        <p:grpSpPr>
          <a:xfrm>
            <a:off x="774648" y="2092907"/>
            <a:ext cx="7841398" cy="1003283"/>
            <a:chOff x="752303" y="5695605"/>
            <a:chExt cx="4086053" cy="1303150"/>
          </a:xfrm>
        </p:grpSpPr>
        <p:sp>
          <p:nvSpPr>
            <p:cNvPr id="13" name="모서리가 둥근 직사각형 12"/>
            <p:cNvSpPr/>
            <p:nvPr/>
          </p:nvSpPr>
          <p:spPr bwMode="auto">
            <a:xfrm>
              <a:off x="752303" y="5695605"/>
              <a:ext cx="4052636" cy="130315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771329" y="5922955"/>
              <a:ext cx="4067027" cy="862845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r>
                <a:rPr lang="it-IT" sz="1200" b="1" dirty="0" smtClean="0">
                  <a:latin typeface="Courier New" pitchFamily="49" charset="0"/>
                  <a:cs typeface="Courier New" pitchFamily="49" charset="0"/>
                </a:rPr>
                <a:t>  Predicate&lt;Integer&gt; p = i -&gt; i &lt; 100;</a:t>
              </a:r>
            </a:p>
            <a:p>
              <a:r>
                <a:rPr lang="it-IT" sz="1200" b="1" dirty="0" smtClean="0">
                  <a:latin typeface="Courier New" pitchFamily="49" charset="0"/>
                  <a:cs typeface="Courier New" pitchFamily="49" charset="0"/>
                </a:rPr>
                <a:t>  Predicate&lt;Integer&gt; q = i -&gt; i &lt; 200;</a:t>
              </a:r>
            </a:p>
            <a:p>
              <a:r>
                <a:rPr lang="it-IT" sz="1200" b="1" dirty="0" smtClean="0">
                  <a:latin typeface="Courier New" pitchFamily="49" charset="0"/>
                  <a:cs typeface="Courier New" pitchFamily="49" charset="0"/>
                </a:rPr>
                <a:t>  Predicate&lt;Integer&gt; r = i -&gt; i%2 == 0;</a:t>
              </a:r>
            </a:p>
          </p:txBody>
        </p:sp>
      </p:grpSp>
      <p:grpSp>
        <p:nvGrpSpPr>
          <p:cNvPr id="15" name="그룹 51"/>
          <p:cNvGrpSpPr/>
          <p:nvPr/>
        </p:nvGrpSpPr>
        <p:grpSpPr>
          <a:xfrm>
            <a:off x="774648" y="3169216"/>
            <a:ext cx="7841398" cy="1001137"/>
            <a:chOff x="752303" y="5695605"/>
            <a:chExt cx="4086053" cy="1303150"/>
          </a:xfrm>
        </p:grpSpPr>
        <p:sp>
          <p:nvSpPr>
            <p:cNvPr id="16" name="모서리가 둥근 직사각형 15"/>
            <p:cNvSpPr/>
            <p:nvPr/>
          </p:nvSpPr>
          <p:spPr bwMode="auto">
            <a:xfrm>
              <a:off x="752303" y="5695605"/>
              <a:ext cx="4052636" cy="130315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771329" y="5802121"/>
              <a:ext cx="4067027" cy="1081684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r>
                <a:rPr lang="it-IT" sz="1200" b="1" dirty="0" smtClean="0">
                  <a:latin typeface="Courier New" pitchFamily="49" charset="0"/>
                  <a:cs typeface="Courier New" pitchFamily="49" charset="0"/>
                </a:rPr>
                <a:t>  Predicate&lt;Integer&gt; notP = p.</a:t>
              </a:r>
              <a:r>
                <a:rPr lang="it-IT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negate</a:t>
              </a:r>
              <a:r>
                <a:rPr lang="it-IT" sz="1200" b="1" dirty="0" smtClean="0">
                  <a:latin typeface="Courier New" pitchFamily="49" charset="0"/>
                  <a:cs typeface="Courier New" pitchFamily="49" charset="0"/>
                </a:rPr>
                <a:t>();        // i &gt;= 100</a:t>
              </a:r>
            </a:p>
            <a:p>
              <a:r>
                <a:rPr lang="it-IT" sz="1200" b="1" dirty="0" smtClean="0">
                  <a:latin typeface="Courier New" pitchFamily="49" charset="0"/>
                  <a:cs typeface="Courier New" pitchFamily="49" charset="0"/>
                </a:rPr>
                <a:t>  Predicate&lt;Integer&gt; all = notP.</a:t>
              </a:r>
              <a:r>
                <a:rPr lang="it-IT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and</a:t>
              </a:r>
              <a:r>
                <a:rPr lang="it-IT" sz="1200" b="1" dirty="0" smtClean="0">
                  <a:latin typeface="Courier New" pitchFamily="49" charset="0"/>
                  <a:cs typeface="Courier New" pitchFamily="49" charset="0"/>
                </a:rPr>
                <a:t>(q).</a:t>
              </a:r>
              <a:r>
                <a:rPr lang="it-IT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or</a:t>
              </a:r>
              <a:r>
                <a:rPr lang="it-IT" sz="1200" b="1" dirty="0" smtClean="0">
                  <a:latin typeface="Courier New" pitchFamily="49" charset="0"/>
                  <a:cs typeface="Courier New" pitchFamily="49" charset="0"/>
                </a:rPr>
                <a:t>(r);  // 100 &lt;= i &amp;&amp; i &lt; 200 || i%2==0</a:t>
              </a:r>
            </a:p>
            <a:p>
              <a:r>
                <a:rPr lang="it-IT" sz="1200" b="1" dirty="0" smtClean="0">
                  <a:latin typeface="Courier New" pitchFamily="49" charset="0"/>
                  <a:cs typeface="Courier New" pitchFamily="49" charset="0"/>
                </a:rPr>
                <a:t>  Predicate&lt;Integer&gt; all2 = notP.and(</a:t>
              </a:r>
              <a:r>
                <a:rPr lang="it-IT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q.or(r)</a:t>
              </a:r>
              <a:r>
                <a:rPr lang="it-IT" sz="1200" b="1" dirty="0" smtClean="0">
                  <a:latin typeface="Courier New" pitchFamily="49" charset="0"/>
                  <a:cs typeface="Courier New" pitchFamily="49" charset="0"/>
                </a:rPr>
                <a:t>); // 100 &lt;= i &amp;&amp; </a:t>
              </a:r>
              <a:r>
                <a:rPr lang="it-IT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(i &lt; 200 || i%2==0)</a:t>
              </a:r>
            </a:p>
          </p:txBody>
        </p:sp>
      </p:grpSp>
      <p:grpSp>
        <p:nvGrpSpPr>
          <p:cNvPr id="18" name="그룹 51"/>
          <p:cNvGrpSpPr/>
          <p:nvPr/>
        </p:nvGrpSpPr>
        <p:grpSpPr>
          <a:xfrm>
            <a:off x="774648" y="4232287"/>
            <a:ext cx="7777269" cy="584207"/>
            <a:chOff x="752303" y="5695603"/>
            <a:chExt cx="4052636" cy="1303150"/>
          </a:xfrm>
        </p:grpSpPr>
        <p:sp>
          <p:nvSpPr>
            <p:cNvPr id="19" name="모서리가 둥근 직사각형 18"/>
            <p:cNvSpPr/>
            <p:nvPr/>
          </p:nvSpPr>
          <p:spPr bwMode="auto">
            <a:xfrm>
              <a:off x="752303" y="5695603"/>
              <a:ext cx="4052636" cy="130315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814018" y="5848649"/>
              <a:ext cx="3961531" cy="1029804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System.out.println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all.</a:t>
              </a:r>
              <a:r>
                <a:rPr lang="en-US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test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(2));   // true</a:t>
              </a:r>
            </a:p>
            <a:p>
              <a:pPr>
                <a:spcBef>
                  <a:spcPts val="0"/>
                </a:spcBef>
              </a:pP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System.out.println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(all2.</a:t>
              </a:r>
              <a:r>
                <a:rPr lang="en-US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test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(2));  // false</a:t>
              </a:r>
            </a:p>
          </p:txBody>
        </p:sp>
      </p:grpSp>
      <p:grpSp>
        <p:nvGrpSpPr>
          <p:cNvPr id="24" name="그룹 51"/>
          <p:cNvGrpSpPr/>
          <p:nvPr/>
        </p:nvGrpSpPr>
        <p:grpSpPr>
          <a:xfrm>
            <a:off x="811161" y="5396508"/>
            <a:ext cx="7777269" cy="661429"/>
            <a:chOff x="752303" y="5695603"/>
            <a:chExt cx="4052636" cy="1303150"/>
          </a:xfrm>
        </p:grpSpPr>
        <p:sp>
          <p:nvSpPr>
            <p:cNvPr id="25" name="모서리가 둥근 직사각형 24"/>
            <p:cNvSpPr/>
            <p:nvPr/>
          </p:nvSpPr>
          <p:spPr bwMode="auto">
            <a:xfrm>
              <a:off x="752303" y="5695603"/>
              <a:ext cx="4052636" cy="130315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814018" y="5865102"/>
              <a:ext cx="3961531" cy="909574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Predicate&lt;String&gt; p = 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Predicate.</a:t>
              </a:r>
              <a:r>
                <a:rPr lang="en-US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isEqual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(str1);  // 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isEquals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()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은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 static</a:t>
              </a:r>
              <a:r>
                <a:rPr lang="ko-KR" altLang="en-US" sz="1200" b="1" dirty="0" err="1" smtClean="0">
                  <a:latin typeface="Courier New" pitchFamily="49" charset="0"/>
                  <a:cs typeface="Courier New" pitchFamily="49" charset="0"/>
                </a:rPr>
                <a:t>메서드</a:t>
              </a:r>
              <a:endParaRPr lang="en-US" sz="12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Boolean result = 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p.</a:t>
              </a:r>
              <a:r>
                <a:rPr lang="en-US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test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(str2);  // str1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과 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str2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가 같은지 비교한 결과를 반환</a:t>
              </a:r>
              <a:endParaRPr lang="en-US" sz="1200" b="1" dirty="0" smtClean="0">
                <a:latin typeface="Courier New" pitchFamily="49" charset="0"/>
                <a:cs typeface="Courier New" pitchFamily="49" charset="0"/>
              </a:endParaRPr>
            </a:p>
          </p:txBody>
        </p:sp>
      </p:grpSp>
      <p:sp>
        <p:nvSpPr>
          <p:cNvPr id="27" name="Text Box 20"/>
          <p:cNvSpPr txBox="1">
            <a:spLocks noChangeArrowheads="1"/>
          </p:cNvSpPr>
          <p:nvPr/>
        </p:nvSpPr>
        <p:spPr bwMode="auto">
          <a:xfrm>
            <a:off x="463449" y="4997477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smtClean="0"/>
              <a:t>등가비교를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위한 </a:t>
            </a:r>
            <a:r>
              <a:rPr lang="en-US" altLang="ko-KR" b="1" dirty="0" smtClean="0"/>
              <a:t>Predicate</a:t>
            </a:r>
            <a:r>
              <a:rPr lang="ko-KR" altLang="en-US" b="1" dirty="0" smtClean="0"/>
              <a:t>의 작성에는 </a:t>
            </a:r>
            <a:r>
              <a:rPr lang="en-US" altLang="ko-KR" b="1" dirty="0" err="1" smtClean="0"/>
              <a:t>isEqual</a:t>
            </a:r>
            <a:r>
              <a:rPr lang="en-US" altLang="ko-KR" b="1" dirty="0" smtClean="0"/>
              <a:t>(</a:t>
            </a:r>
            <a:r>
              <a:rPr lang="en-US" altLang="ko-KR" sz="300" b="1" dirty="0" smtClean="0"/>
              <a:t> </a:t>
            </a:r>
            <a:r>
              <a:rPr lang="en-US" altLang="ko-KR" b="1" dirty="0" smtClean="0"/>
              <a:t>)</a:t>
            </a:r>
            <a:r>
              <a:rPr lang="ko-KR" altLang="en-US" b="1" dirty="0" smtClean="0"/>
              <a:t>를 사용</a:t>
            </a:r>
            <a:r>
              <a:rPr lang="en-US" altLang="ko-KR" b="1" dirty="0" smtClean="0"/>
              <a:t>(static</a:t>
            </a:r>
            <a:r>
              <a:rPr lang="ko-KR" altLang="en-US" b="1" dirty="0" err="1" smtClean="0"/>
              <a:t>메서드</a:t>
            </a:r>
            <a:r>
              <a:rPr lang="en-US" altLang="ko-KR" b="1" dirty="0" smtClean="0"/>
              <a:t>)</a:t>
            </a:r>
            <a:endParaRPr lang="en-US" altLang="ko-KR" b="1" dirty="0"/>
          </a:p>
        </p:txBody>
      </p:sp>
      <p:grpSp>
        <p:nvGrpSpPr>
          <p:cNvPr id="32" name="그룹 31"/>
          <p:cNvGrpSpPr/>
          <p:nvPr/>
        </p:nvGrpSpPr>
        <p:grpSpPr>
          <a:xfrm>
            <a:off x="2052603" y="6017229"/>
            <a:ext cx="5908757" cy="551889"/>
            <a:chOff x="2052603" y="6021423"/>
            <a:chExt cx="5908757" cy="551889"/>
          </a:xfrm>
        </p:grpSpPr>
        <p:grpSp>
          <p:nvGrpSpPr>
            <p:cNvPr id="28" name="그룹 51"/>
            <p:cNvGrpSpPr/>
            <p:nvPr/>
          </p:nvGrpSpPr>
          <p:grpSpPr>
            <a:xfrm>
              <a:off x="2746350" y="6130962"/>
              <a:ext cx="5215010" cy="442350"/>
              <a:chOff x="752303" y="5695603"/>
              <a:chExt cx="4052636" cy="1303150"/>
            </a:xfrm>
          </p:grpSpPr>
          <p:sp>
            <p:nvSpPr>
              <p:cNvPr id="29" name="모서리가 둥근 직사각형 28"/>
              <p:cNvSpPr/>
              <p:nvPr/>
            </p:nvSpPr>
            <p:spPr bwMode="auto">
              <a:xfrm>
                <a:off x="752303" y="5695603"/>
                <a:ext cx="4052636" cy="1303150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49263" marR="0" indent="-449263" algn="l" defTabSz="914400" rtl="0" eaLnBrk="1" fontAlgn="base" latin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urier New" pitchFamily="49" charset="0"/>
                  <a:ea typeface="견명조" pitchFamily="18" charset="-127"/>
                </a:endParaRPr>
              </a:p>
            </p:txBody>
          </p:sp>
          <p:sp>
            <p:nvSpPr>
              <p:cNvPr id="30" name="직사각형 29"/>
              <p:cNvSpPr/>
              <p:nvPr/>
            </p:nvSpPr>
            <p:spPr>
              <a:xfrm>
                <a:off x="814018" y="5957724"/>
                <a:ext cx="3961531" cy="816031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>
                  <a:spcBef>
                    <a:spcPts val="0"/>
                  </a:spcBef>
                </a:pPr>
                <a:r>
                  <a:rPr lang="en-US" sz="1200" b="1" dirty="0" err="1" smtClean="0">
                    <a:latin typeface="Courier New" pitchFamily="49" charset="0"/>
                    <a:cs typeface="Courier New" pitchFamily="49" charset="0"/>
                  </a:rPr>
                  <a:t>boolean</a:t>
                </a:r>
                <a:r>
                  <a:rPr lang="en-US" sz="1200" b="1" dirty="0" smtClean="0">
                    <a:latin typeface="Courier New" pitchFamily="49" charset="0"/>
                    <a:cs typeface="Courier New" pitchFamily="49" charset="0"/>
                  </a:rPr>
                  <a:t> result = </a:t>
                </a:r>
                <a:r>
                  <a:rPr lang="en-US" sz="1200" b="1" dirty="0" err="1" smtClean="0">
                    <a:latin typeface="Courier New" pitchFamily="49" charset="0"/>
                    <a:cs typeface="Courier New" pitchFamily="49" charset="0"/>
                  </a:rPr>
                  <a:t>Predicate.</a:t>
                </a:r>
                <a:r>
                  <a:rPr lang="en-US" sz="1200" b="1" dirty="0" err="1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isEqual</a:t>
                </a:r>
                <a:r>
                  <a:rPr lang="en-US" sz="1200" b="1" dirty="0" smtClean="0">
                    <a:latin typeface="Courier New" pitchFamily="49" charset="0"/>
                    <a:cs typeface="Courier New" pitchFamily="49" charset="0"/>
                  </a:rPr>
                  <a:t>(str1).</a:t>
                </a:r>
                <a:r>
                  <a:rPr lang="en-US" sz="1200" b="1" dirty="0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test</a:t>
                </a:r>
                <a:r>
                  <a:rPr lang="en-US" sz="1200" b="1" dirty="0" smtClean="0">
                    <a:latin typeface="Courier New" pitchFamily="49" charset="0"/>
                    <a:cs typeface="Courier New" pitchFamily="49" charset="0"/>
                  </a:rPr>
                  <a:t>(str2);</a:t>
                </a:r>
              </a:p>
            </p:txBody>
          </p:sp>
        </p:grpSp>
        <p:sp>
          <p:nvSpPr>
            <p:cNvPr id="31" name="굽은 화살표 30"/>
            <p:cNvSpPr/>
            <p:nvPr/>
          </p:nvSpPr>
          <p:spPr bwMode="auto">
            <a:xfrm rot="10800000" flipH="1">
              <a:off x="2052603" y="6021423"/>
              <a:ext cx="693747" cy="474669"/>
            </a:xfrm>
            <a:prstGeom prst="bentArrow">
              <a:avLst/>
            </a:prstGeom>
            <a:solidFill>
              <a:schemeClr val="bg1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2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863600"/>
          </a:xfrm>
          <a:prstGeom prst="rect">
            <a:avLst/>
          </a:prstGeom>
          <a:solidFill>
            <a:srgbClr val="E4D394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576263"/>
            <a:ext cx="8388350" cy="53975"/>
          </a:xfrm>
          <a:prstGeom prst="rect">
            <a:avLst/>
          </a:prstGeom>
          <a:solidFill>
            <a:srgbClr val="81705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883525" y="42863"/>
            <a:ext cx="1368425" cy="722312"/>
            <a:chOff x="3787" y="1570"/>
            <a:chExt cx="862" cy="455"/>
          </a:xfrm>
        </p:grpSpPr>
        <p:sp>
          <p:nvSpPr>
            <p:cNvPr id="3090" name="Text Box 5"/>
            <p:cNvSpPr txBox="1">
              <a:spLocks noChangeArrowheads="1"/>
            </p:cNvSpPr>
            <p:nvPr/>
          </p:nvSpPr>
          <p:spPr bwMode="auto">
            <a:xfrm>
              <a:off x="3787" y="1570"/>
              <a:ext cx="7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2800">
                  <a:latin typeface="Elephant" pitchFamily="18" charset="0"/>
                  <a:ea typeface="굴림" charset="-127"/>
                </a:rPr>
                <a:t>Java</a:t>
              </a:r>
            </a:p>
          </p:txBody>
        </p:sp>
        <p:sp>
          <p:nvSpPr>
            <p:cNvPr id="3091" name="Text Box 6"/>
            <p:cNvSpPr txBox="1">
              <a:spLocks noChangeArrowheads="1"/>
            </p:cNvSpPr>
            <p:nvPr/>
          </p:nvSpPr>
          <p:spPr bwMode="auto">
            <a:xfrm>
              <a:off x="4308" y="1643"/>
              <a:ext cx="34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1600">
                  <a:latin typeface="HY견고딕" pitchFamily="18" charset="-127"/>
                  <a:ea typeface="HY견고딕" pitchFamily="18" charset="-127"/>
                </a:rPr>
                <a:t>의</a:t>
              </a:r>
            </a:p>
          </p:txBody>
        </p:sp>
        <p:sp>
          <p:nvSpPr>
            <p:cNvPr id="3092" name="Text Box 7"/>
            <p:cNvSpPr txBox="1">
              <a:spLocks noChangeArrowheads="1"/>
            </p:cNvSpPr>
            <p:nvPr/>
          </p:nvSpPr>
          <p:spPr bwMode="auto">
            <a:xfrm>
              <a:off x="4121" y="1775"/>
              <a:ext cx="5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2000">
                  <a:latin typeface="바탕" pitchFamily="18" charset="-127"/>
                  <a:ea typeface="HY견고딕" pitchFamily="18" charset="-127"/>
                </a:rPr>
                <a:t>정석</a:t>
              </a:r>
            </a:p>
          </p:txBody>
        </p:sp>
      </p:grp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443663" y="620713"/>
            <a:ext cx="2016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 err="1">
                <a:latin typeface="Courier New" pitchFamily="49" charset="0"/>
                <a:ea typeface="굴림" charset="-127"/>
              </a:rPr>
              <a:t>http://</a:t>
            </a:r>
            <a:r>
              <a:rPr lang="en-US" altLang="ko-KR" sz="1000" b="1" dirty="0" err="1" smtClean="0">
                <a:latin typeface="Courier New" pitchFamily="49" charset="0"/>
                <a:ea typeface="굴림" charset="-127"/>
              </a:rPr>
              <a:t>www.codechobo.com</a:t>
            </a:r>
            <a:endParaRPr lang="en-US" altLang="ko-KR" sz="1000" b="1" dirty="0">
              <a:latin typeface="Courier New" pitchFamily="49" charset="0"/>
              <a:ea typeface="굴림" charset="-127"/>
            </a:endParaRPr>
          </a:p>
        </p:txBody>
      </p:sp>
      <p:sp>
        <p:nvSpPr>
          <p:cNvPr id="3078" name="Text Box 19"/>
          <p:cNvSpPr txBox="1">
            <a:spLocks noChangeArrowheads="1"/>
          </p:cNvSpPr>
          <p:nvPr/>
        </p:nvSpPr>
        <p:spPr bwMode="auto">
          <a:xfrm>
            <a:off x="358775" y="1016000"/>
            <a:ext cx="8569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800" b="1" dirty="0" smtClean="0"/>
              <a:t>1.7  </a:t>
            </a:r>
            <a:r>
              <a:rPr lang="ko-KR" altLang="en-US" sz="2800" b="1" dirty="0" err="1" smtClean="0"/>
              <a:t>메서드</a:t>
            </a:r>
            <a:r>
              <a:rPr lang="ko-KR" altLang="en-US" sz="2800" b="1" dirty="0" smtClean="0"/>
              <a:t> 참조</a:t>
            </a:r>
            <a:r>
              <a:rPr lang="en-US" altLang="ko-KR" sz="2800" b="1" dirty="0" smtClean="0"/>
              <a:t>(method </a:t>
            </a:r>
            <a:r>
              <a:rPr lang="en-US" altLang="ko-KR" sz="1000" b="1" dirty="0" smtClean="0"/>
              <a:t> </a:t>
            </a:r>
            <a:r>
              <a:rPr lang="en-US" altLang="ko-KR" sz="2800" b="1" dirty="0" smtClean="0"/>
              <a:t>reference)(1/2)</a:t>
            </a:r>
            <a:endParaRPr lang="en-US" altLang="ko-KR" sz="2800" b="1" dirty="0"/>
          </a:p>
        </p:txBody>
      </p:sp>
      <p:sp>
        <p:nvSpPr>
          <p:cNvPr id="3089" name="Text Box 9"/>
          <p:cNvSpPr txBox="1">
            <a:spLocks noChangeArrowheads="1"/>
          </p:cNvSpPr>
          <p:nvPr/>
        </p:nvSpPr>
        <p:spPr bwMode="auto">
          <a:xfrm>
            <a:off x="146050" y="188913"/>
            <a:ext cx="5686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Chapter 14. 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람다와 스트림</a:t>
            </a: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(Lambda &amp; Stream)</a:t>
            </a:r>
          </a:p>
        </p:txBody>
      </p:sp>
      <p:sp>
        <p:nvSpPr>
          <p:cNvPr id="36" name="Text Box 20"/>
          <p:cNvSpPr txBox="1">
            <a:spLocks noChangeArrowheads="1"/>
          </p:cNvSpPr>
          <p:nvPr/>
        </p:nvSpPr>
        <p:spPr bwMode="auto">
          <a:xfrm>
            <a:off x="468313" y="1712889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smtClean="0"/>
              <a:t>하나의 </a:t>
            </a:r>
            <a:r>
              <a:rPr lang="ko-KR" altLang="en-US" b="1" dirty="0" err="1" smtClean="0"/>
              <a:t>메서드만</a:t>
            </a:r>
            <a:r>
              <a:rPr lang="ko-KR" altLang="en-US" b="1" dirty="0" smtClean="0"/>
              <a:t> 호출하는 </a:t>
            </a:r>
            <a:r>
              <a:rPr lang="ko-KR" altLang="en-US" b="1" dirty="0" err="1" smtClean="0"/>
              <a:t>람다식은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‘</a:t>
            </a:r>
            <a:r>
              <a:rPr lang="ko-KR" altLang="en-US" b="1" dirty="0" err="1" smtClean="0"/>
              <a:t>메서드</a:t>
            </a:r>
            <a:r>
              <a:rPr lang="ko-KR" altLang="en-US" b="1" dirty="0" smtClean="0"/>
              <a:t> 참조</a:t>
            </a:r>
            <a:r>
              <a:rPr lang="en-US" altLang="ko-KR" b="1" dirty="0" smtClean="0"/>
              <a:t>’</a:t>
            </a:r>
            <a:r>
              <a:rPr lang="ko-KR" altLang="en-US" b="1" dirty="0" smtClean="0"/>
              <a:t>로 간단히 할 수 있다</a:t>
            </a:r>
            <a:r>
              <a:rPr lang="en-US" altLang="ko-KR" b="1" dirty="0" smtClean="0"/>
              <a:t>.</a:t>
            </a:r>
            <a:endParaRPr lang="en-US" altLang="ko-KR" b="1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9778" y="2151045"/>
            <a:ext cx="6947869" cy="1277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4" name="그룹 51"/>
          <p:cNvGrpSpPr/>
          <p:nvPr/>
        </p:nvGrpSpPr>
        <p:grpSpPr>
          <a:xfrm>
            <a:off x="774648" y="4195776"/>
            <a:ext cx="7886810" cy="1076659"/>
            <a:chOff x="752303" y="5695605"/>
            <a:chExt cx="4086053" cy="1303149"/>
          </a:xfrm>
        </p:grpSpPr>
        <p:sp>
          <p:nvSpPr>
            <p:cNvPr id="19" name="모서리가 둥근 직사각형 18"/>
            <p:cNvSpPr/>
            <p:nvPr/>
          </p:nvSpPr>
          <p:spPr bwMode="auto">
            <a:xfrm>
              <a:off x="752303" y="5695605"/>
              <a:ext cx="4052636" cy="1303149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771328" y="5778217"/>
              <a:ext cx="4067028" cy="1154817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r>
                <a:rPr lang="it-IT" sz="1400" b="1" dirty="0" smtClean="0">
                  <a:latin typeface="Courier New" pitchFamily="49" charset="0"/>
                  <a:cs typeface="Courier New" pitchFamily="49" charset="0"/>
                </a:rPr>
                <a:t>  </a:t>
              </a:r>
              <a:r>
                <a:rPr lang="it-IT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Integer</a:t>
              </a:r>
              <a:r>
                <a:rPr lang="it-IT" sz="1400" b="1" dirty="0" smtClean="0">
                  <a:latin typeface="Courier New" pitchFamily="49" charset="0"/>
                  <a:cs typeface="Courier New" pitchFamily="49" charset="0"/>
                </a:rPr>
                <a:t> method(</a:t>
              </a:r>
              <a:r>
                <a:rPr lang="it-IT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String</a:t>
              </a:r>
              <a:r>
                <a:rPr lang="it-IT" sz="1400" b="1" dirty="0" smtClean="0">
                  <a:latin typeface="Courier New" pitchFamily="49" charset="0"/>
                  <a:cs typeface="Courier New" pitchFamily="49" charset="0"/>
                </a:rPr>
                <a:t> s) {  // 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그저 </a:t>
              </a:r>
              <a:r>
                <a:rPr lang="it-IT" sz="1400" b="1" dirty="0" smtClean="0">
                  <a:latin typeface="Courier New" pitchFamily="49" charset="0"/>
                  <a:cs typeface="Courier New" pitchFamily="49" charset="0"/>
                </a:rPr>
                <a:t>Integer.parseInt(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String s)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만 호출 </a:t>
              </a:r>
              <a:endParaRPr lang="it-IT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r>
                <a:rPr lang="it-IT" sz="1400" b="1" dirty="0" smtClean="0">
                  <a:latin typeface="Courier New" pitchFamily="49" charset="0"/>
                  <a:cs typeface="Courier New" pitchFamily="49" charset="0"/>
                </a:rPr>
                <a:t>      return Integer.parseInt(s);</a:t>
              </a:r>
            </a:p>
            <a:p>
              <a:r>
                <a:rPr lang="it-IT" sz="1400" b="1" dirty="0" smtClean="0">
                  <a:latin typeface="Courier New" pitchFamily="49" charset="0"/>
                  <a:cs typeface="Courier New" pitchFamily="49" charset="0"/>
                </a:rPr>
                <a:t>  }</a:t>
              </a:r>
            </a:p>
          </p:txBody>
        </p:sp>
      </p:grpSp>
      <p:grpSp>
        <p:nvGrpSpPr>
          <p:cNvPr id="5" name="그룹 51"/>
          <p:cNvGrpSpPr/>
          <p:nvPr/>
        </p:nvGrpSpPr>
        <p:grpSpPr>
          <a:xfrm>
            <a:off x="5046669" y="4779980"/>
            <a:ext cx="3760839" cy="657235"/>
            <a:chOff x="752303" y="5500138"/>
            <a:chExt cx="4086053" cy="1533120"/>
          </a:xfrm>
        </p:grpSpPr>
        <p:sp>
          <p:nvSpPr>
            <p:cNvPr id="23" name="모서리가 둥근 직사각형 22"/>
            <p:cNvSpPr/>
            <p:nvPr/>
          </p:nvSpPr>
          <p:spPr bwMode="auto">
            <a:xfrm>
              <a:off x="752303" y="5500138"/>
              <a:ext cx="4052636" cy="130315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771329" y="5676342"/>
              <a:ext cx="4067027" cy="1356916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it-IT" sz="1200" b="1" dirty="0" smtClean="0">
                  <a:latin typeface="Courier New" pitchFamily="49" charset="0"/>
                  <a:cs typeface="Courier New" pitchFamily="49" charset="0"/>
                </a:rPr>
                <a:t> int result = 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obj.</a:t>
              </a:r>
              <a:r>
                <a:rPr lang="it-IT" sz="1200" b="1" dirty="0" smtClean="0">
                  <a:latin typeface="Courier New" pitchFamily="49" charset="0"/>
                  <a:cs typeface="Courier New" pitchFamily="49" charset="0"/>
                </a:rPr>
                <a:t>method("123");</a:t>
              </a:r>
            </a:p>
            <a:p>
              <a:pPr>
                <a:spcBef>
                  <a:spcPts val="0"/>
                </a:spcBef>
              </a:pPr>
              <a:r>
                <a:rPr lang="it-IT" sz="1200" b="1" dirty="0" smtClean="0">
                  <a:latin typeface="Courier New" pitchFamily="49" charset="0"/>
                  <a:cs typeface="Courier New" pitchFamily="49" charset="0"/>
                </a:rPr>
                <a:t> int result = Integer.parseInt("123");</a:t>
              </a:r>
            </a:p>
            <a:p>
              <a:pPr>
                <a:spcBef>
                  <a:spcPts val="0"/>
                </a:spcBef>
              </a:pPr>
              <a:endParaRPr lang="it-IT" sz="1200" b="1" dirty="0" smtClean="0">
                <a:latin typeface="Courier New" pitchFamily="49" charset="0"/>
                <a:cs typeface="Courier New" pitchFamily="49" charset="0"/>
              </a:endParaRPr>
            </a:p>
          </p:txBody>
        </p:sp>
      </p:grpSp>
      <p:grpSp>
        <p:nvGrpSpPr>
          <p:cNvPr id="6" name="그룹 41"/>
          <p:cNvGrpSpPr/>
          <p:nvPr/>
        </p:nvGrpSpPr>
        <p:grpSpPr>
          <a:xfrm>
            <a:off x="774648" y="5072084"/>
            <a:ext cx="7886808" cy="803287"/>
            <a:chOff x="847674" y="5181624"/>
            <a:chExt cx="7886808" cy="803287"/>
          </a:xfrm>
        </p:grpSpPr>
        <p:grpSp>
          <p:nvGrpSpPr>
            <p:cNvPr id="7" name="그룹 51"/>
            <p:cNvGrpSpPr/>
            <p:nvPr/>
          </p:nvGrpSpPr>
          <p:grpSpPr>
            <a:xfrm>
              <a:off x="847674" y="5510241"/>
              <a:ext cx="7886808" cy="474670"/>
              <a:chOff x="770046" y="5484958"/>
              <a:chExt cx="4090511" cy="912824"/>
            </a:xfrm>
          </p:grpSpPr>
          <p:sp>
            <p:nvSpPr>
              <p:cNvPr id="31" name="모서리가 둥근 직사각형 30"/>
              <p:cNvSpPr/>
              <p:nvPr/>
            </p:nvSpPr>
            <p:spPr bwMode="auto">
              <a:xfrm>
                <a:off x="770046" y="5484958"/>
                <a:ext cx="4052636" cy="912824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49263" marR="0" indent="-449263" algn="l" defTabSz="914400" rtl="0" eaLnBrk="1" fontAlgn="base" latin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urier New" pitchFamily="49" charset="0"/>
                  <a:ea typeface="견명조" pitchFamily="18" charset="-127"/>
                </a:endParaRPr>
              </a:p>
            </p:txBody>
          </p:sp>
          <p:sp>
            <p:nvSpPr>
              <p:cNvPr id="32" name="직사각형 31"/>
              <p:cNvSpPr/>
              <p:nvPr/>
            </p:nvSpPr>
            <p:spPr>
              <a:xfrm>
                <a:off x="770047" y="5625394"/>
                <a:ext cx="4090510" cy="591877"/>
              </a:xfrm>
              <a:prstGeom prst="rect">
                <a:avLst/>
              </a:prstGeom>
            </p:spPr>
            <p:txBody>
              <a:bodyPr wrap="square" anchor="b">
                <a:spAutoFit/>
              </a:bodyPr>
              <a:lstStyle/>
              <a:p>
                <a:pPr>
                  <a:spcBef>
                    <a:spcPts val="0"/>
                  </a:spcBef>
                </a:pPr>
                <a:r>
                  <a:rPr lang="en-US" sz="1400" b="1" dirty="0" smtClean="0">
                    <a:latin typeface="Courier New" pitchFamily="49" charset="0"/>
                    <a:cs typeface="Courier New" pitchFamily="49" charset="0"/>
                  </a:rPr>
                  <a:t> Function&lt;</a:t>
                </a:r>
                <a:r>
                  <a:rPr lang="en-US" sz="1400" b="1" dirty="0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String</a:t>
                </a:r>
                <a:r>
                  <a:rPr lang="en-US" sz="1400" b="1" dirty="0" smtClean="0">
                    <a:latin typeface="Courier New" pitchFamily="49" charset="0"/>
                    <a:cs typeface="Courier New" pitchFamily="49" charset="0"/>
                  </a:rPr>
                  <a:t>, </a:t>
                </a:r>
                <a:r>
                  <a:rPr lang="en-US" sz="1400" b="1" dirty="0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Integer</a:t>
                </a:r>
                <a:r>
                  <a:rPr lang="en-US" sz="1400" b="1" dirty="0" smtClean="0">
                    <a:latin typeface="Courier New" pitchFamily="49" charset="0"/>
                    <a:cs typeface="Courier New" pitchFamily="49" charset="0"/>
                  </a:rPr>
                  <a:t>&gt; f = (</a:t>
                </a:r>
                <a:r>
                  <a:rPr lang="en-US" sz="1400" b="1" dirty="0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String</a:t>
                </a:r>
                <a:r>
                  <a:rPr lang="en-US" sz="1400" b="1" dirty="0" smtClean="0">
                    <a:latin typeface="Courier New" pitchFamily="49" charset="0"/>
                    <a:cs typeface="Courier New" pitchFamily="49" charset="0"/>
                  </a:rPr>
                  <a:t> s) -&gt; </a:t>
                </a:r>
                <a:r>
                  <a:rPr lang="en-US" sz="1400" b="1" dirty="0" err="1" smtClean="0">
                    <a:latin typeface="Courier New" pitchFamily="49" charset="0"/>
                    <a:cs typeface="Courier New" pitchFamily="49" charset="0"/>
                  </a:rPr>
                  <a:t>Integer.parseInt</a:t>
                </a:r>
                <a:r>
                  <a:rPr lang="en-US" sz="1400" b="1" dirty="0" smtClean="0">
                    <a:latin typeface="Courier New" pitchFamily="49" charset="0"/>
                    <a:cs typeface="Courier New" pitchFamily="49" charset="0"/>
                  </a:rPr>
                  <a:t>(s);</a:t>
                </a:r>
                <a:endParaRPr lang="en-US" sz="1400" b="1" dirty="0"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  <p:sp>
          <p:nvSpPr>
            <p:cNvPr id="33" name="아래쪽 화살표 32"/>
            <p:cNvSpPr/>
            <p:nvPr/>
          </p:nvSpPr>
          <p:spPr bwMode="auto">
            <a:xfrm>
              <a:off x="4498974" y="5181624"/>
              <a:ext cx="365130" cy="438156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</p:grpSp>
      <p:grpSp>
        <p:nvGrpSpPr>
          <p:cNvPr id="8" name="그룹 40"/>
          <p:cNvGrpSpPr/>
          <p:nvPr/>
        </p:nvGrpSpPr>
        <p:grpSpPr>
          <a:xfrm>
            <a:off x="774648" y="5802345"/>
            <a:ext cx="7813782" cy="730260"/>
            <a:chOff x="847674" y="5911884"/>
            <a:chExt cx="7813782" cy="730260"/>
          </a:xfrm>
        </p:grpSpPr>
        <p:grpSp>
          <p:nvGrpSpPr>
            <p:cNvPr id="9" name="그룹 51"/>
            <p:cNvGrpSpPr/>
            <p:nvPr/>
          </p:nvGrpSpPr>
          <p:grpSpPr>
            <a:xfrm>
              <a:off x="847674" y="6167474"/>
              <a:ext cx="7813782" cy="474670"/>
              <a:chOff x="770046" y="5484958"/>
              <a:chExt cx="4052636" cy="912824"/>
            </a:xfrm>
          </p:grpSpPr>
          <p:sp>
            <p:nvSpPr>
              <p:cNvPr id="39" name="모서리가 둥근 직사각형 38"/>
              <p:cNvSpPr/>
              <p:nvPr/>
            </p:nvSpPr>
            <p:spPr bwMode="auto">
              <a:xfrm>
                <a:off x="770046" y="5484958"/>
                <a:ext cx="4052636" cy="912824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49263" marR="0" indent="-449263" algn="l" defTabSz="914400" rtl="0" eaLnBrk="1" fontAlgn="base" latin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urier New" pitchFamily="49" charset="0"/>
                  <a:ea typeface="견명조" pitchFamily="18" charset="-127"/>
                </a:endParaRPr>
              </a:p>
            </p:txBody>
          </p:sp>
          <p:sp>
            <p:nvSpPr>
              <p:cNvPr id="40" name="직사각형 39"/>
              <p:cNvSpPr/>
              <p:nvPr/>
            </p:nvSpPr>
            <p:spPr>
              <a:xfrm>
                <a:off x="770047" y="5625394"/>
                <a:ext cx="3973171" cy="591877"/>
              </a:xfrm>
              <a:prstGeom prst="rect">
                <a:avLst/>
              </a:prstGeom>
            </p:spPr>
            <p:txBody>
              <a:bodyPr wrap="square" anchor="b">
                <a:spAutoFit/>
              </a:bodyPr>
              <a:lstStyle/>
              <a:p>
                <a:pPr>
                  <a:spcBef>
                    <a:spcPts val="0"/>
                  </a:spcBef>
                </a:pPr>
                <a:r>
                  <a:rPr lang="en-US" sz="1400" b="1" dirty="0" smtClean="0">
                    <a:latin typeface="Courier New" pitchFamily="49" charset="0"/>
                    <a:cs typeface="Courier New" pitchFamily="49" charset="0"/>
                  </a:rPr>
                  <a:t> Function&lt;</a:t>
                </a:r>
                <a:r>
                  <a:rPr lang="en-US" sz="1400" b="1" dirty="0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String</a:t>
                </a:r>
                <a:r>
                  <a:rPr lang="en-US" sz="1400" b="1" dirty="0" smtClean="0">
                    <a:latin typeface="Courier New" pitchFamily="49" charset="0"/>
                    <a:cs typeface="Courier New" pitchFamily="49" charset="0"/>
                  </a:rPr>
                  <a:t>, </a:t>
                </a:r>
                <a:r>
                  <a:rPr lang="en-US" sz="1400" b="1" dirty="0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Integer</a:t>
                </a:r>
                <a:r>
                  <a:rPr lang="en-US" sz="1400" b="1" dirty="0" smtClean="0">
                    <a:latin typeface="Courier New" pitchFamily="49" charset="0"/>
                    <a:cs typeface="Courier New" pitchFamily="49" charset="0"/>
                  </a:rPr>
                  <a:t>&gt; f = </a:t>
                </a:r>
                <a:r>
                  <a:rPr lang="en-US" sz="1400" b="1" dirty="0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Integer::</a:t>
                </a:r>
                <a:r>
                  <a:rPr lang="en-US" sz="1400" b="1" dirty="0" err="1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parseInt</a:t>
                </a:r>
                <a:r>
                  <a:rPr lang="en-US" sz="1400" b="1" dirty="0" smtClean="0">
                    <a:latin typeface="Courier New" pitchFamily="49" charset="0"/>
                    <a:cs typeface="Courier New" pitchFamily="49" charset="0"/>
                  </a:rPr>
                  <a:t>;  // </a:t>
                </a:r>
                <a:r>
                  <a:rPr lang="ko-KR" altLang="en-US" sz="1400" b="1" dirty="0" err="1" smtClean="0">
                    <a:latin typeface="Courier New" pitchFamily="49" charset="0"/>
                    <a:cs typeface="Courier New" pitchFamily="49" charset="0"/>
                  </a:rPr>
                  <a:t>메서드</a:t>
                </a:r>
                <a:r>
                  <a:rPr lang="ko-KR" altLang="en-US" sz="1400" b="1" dirty="0" smtClean="0">
                    <a:latin typeface="Courier New" pitchFamily="49" charset="0"/>
                    <a:cs typeface="Courier New" pitchFamily="49" charset="0"/>
                  </a:rPr>
                  <a:t> 참조</a:t>
                </a:r>
                <a:endParaRPr lang="en-US" sz="1400" b="1" dirty="0"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  <p:sp>
          <p:nvSpPr>
            <p:cNvPr id="38" name="아래쪽 화살표 37"/>
            <p:cNvSpPr/>
            <p:nvPr/>
          </p:nvSpPr>
          <p:spPr bwMode="auto">
            <a:xfrm>
              <a:off x="4498974" y="5911884"/>
              <a:ext cx="365130" cy="438156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</p:grpSp>
      <p:sp>
        <p:nvSpPr>
          <p:cNvPr id="34" name="Text Box 20"/>
          <p:cNvSpPr txBox="1">
            <a:spLocks noChangeArrowheads="1"/>
          </p:cNvSpPr>
          <p:nvPr/>
        </p:nvSpPr>
        <p:spPr bwMode="auto">
          <a:xfrm>
            <a:off x="472270" y="3719522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static</a:t>
            </a:r>
            <a:r>
              <a:rPr lang="ko-KR" altLang="en-US" b="1" dirty="0" err="1" smtClean="0"/>
              <a:t>메서드</a:t>
            </a:r>
            <a:r>
              <a:rPr lang="ko-KR" altLang="en-US" b="1" dirty="0" smtClean="0"/>
              <a:t> 참조</a:t>
            </a:r>
            <a:endParaRPr lang="en-US" altLang="ko-KR" b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863600"/>
          </a:xfrm>
          <a:prstGeom prst="rect">
            <a:avLst/>
          </a:prstGeom>
          <a:solidFill>
            <a:srgbClr val="E4D394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576263"/>
            <a:ext cx="8388350" cy="53975"/>
          </a:xfrm>
          <a:prstGeom prst="rect">
            <a:avLst/>
          </a:prstGeom>
          <a:solidFill>
            <a:srgbClr val="81705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883525" y="42863"/>
            <a:ext cx="1368425" cy="722312"/>
            <a:chOff x="3787" y="1570"/>
            <a:chExt cx="862" cy="455"/>
          </a:xfrm>
        </p:grpSpPr>
        <p:sp>
          <p:nvSpPr>
            <p:cNvPr id="3090" name="Text Box 5"/>
            <p:cNvSpPr txBox="1">
              <a:spLocks noChangeArrowheads="1"/>
            </p:cNvSpPr>
            <p:nvPr/>
          </p:nvSpPr>
          <p:spPr bwMode="auto">
            <a:xfrm>
              <a:off x="3787" y="1570"/>
              <a:ext cx="7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2800">
                  <a:latin typeface="Elephant" pitchFamily="18" charset="0"/>
                  <a:ea typeface="굴림" charset="-127"/>
                </a:rPr>
                <a:t>Java</a:t>
              </a:r>
            </a:p>
          </p:txBody>
        </p:sp>
        <p:sp>
          <p:nvSpPr>
            <p:cNvPr id="3091" name="Text Box 6"/>
            <p:cNvSpPr txBox="1">
              <a:spLocks noChangeArrowheads="1"/>
            </p:cNvSpPr>
            <p:nvPr/>
          </p:nvSpPr>
          <p:spPr bwMode="auto">
            <a:xfrm>
              <a:off x="4308" y="1643"/>
              <a:ext cx="34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1600">
                  <a:latin typeface="HY견고딕" pitchFamily="18" charset="-127"/>
                  <a:ea typeface="HY견고딕" pitchFamily="18" charset="-127"/>
                </a:rPr>
                <a:t>의</a:t>
              </a:r>
            </a:p>
          </p:txBody>
        </p:sp>
        <p:sp>
          <p:nvSpPr>
            <p:cNvPr id="3092" name="Text Box 7"/>
            <p:cNvSpPr txBox="1">
              <a:spLocks noChangeArrowheads="1"/>
            </p:cNvSpPr>
            <p:nvPr/>
          </p:nvSpPr>
          <p:spPr bwMode="auto">
            <a:xfrm>
              <a:off x="4121" y="1775"/>
              <a:ext cx="5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2000">
                  <a:latin typeface="바탕" pitchFamily="18" charset="-127"/>
                  <a:ea typeface="HY견고딕" pitchFamily="18" charset="-127"/>
                </a:rPr>
                <a:t>정석</a:t>
              </a:r>
            </a:p>
          </p:txBody>
        </p:sp>
      </p:grp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443663" y="620713"/>
            <a:ext cx="2016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 err="1">
                <a:latin typeface="Courier New" pitchFamily="49" charset="0"/>
                <a:ea typeface="굴림" charset="-127"/>
              </a:rPr>
              <a:t>http://</a:t>
            </a:r>
            <a:r>
              <a:rPr lang="en-US" altLang="ko-KR" sz="1000" b="1" dirty="0" err="1" smtClean="0">
                <a:latin typeface="Courier New" pitchFamily="49" charset="0"/>
                <a:ea typeface="굴림" charset="-127"/>
              </a:rPr>
              <a:t>www.codechobo.com</a:t>
            </a:r>
            <a:endParaRPr lang="en-US" altLang="ko-KR" sz="1000" b="1" dirty="0">
              <a:latin typeface="Courier New" pitchFamily="49" charset="0"/>
              <a:ea typeface="굴림" charset="-127"/>
            </a:endParaRPr>
          </a:p>
        </p:txBody>
      </p:sp>
      <p:sp>
        <p:nvSpPr>
          <p:cNvPr id="3078" name="Text Box 19"/>
          <p:cNvSpPr txBox="1">
            <a:spLocks noChangeArrowheads="1"/>
          </p:cNvSpPr>
          <p:nvPr/>
        </p:nvSpPr>
        <p:spPr bwMode="auto">
          <a:xfrm>
            <a:off x="358775" y="1016000"/>
            <a:ext cx="8569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800" b="1" dirty="0" smtClean="0"/>
              <a:t>1.7  </a:t>
            </a:r>
            <a:r>
              <a:rPr lang="ko-KR" altLang="en-US" sz="2800" b="1" dirty="0" err="1" smtClean="0"/>
              <a:t>메서드</a:t>
            </a:r>
            <a:r>
              <a:rPr lang="ko-KR" altLang="en-US" sz="2800" b="1" dirty="0" smtClean="0"/>
              <a:t> 참조</a:t>
            </a:r>
            <a:r>
              <a:rPr lang="en-US" altLang="ko-KR" sz="2800" b="1" dirty="0" smtClean="0"/>
              <a:t>(method </a:t>
            </a:r>
            <a:r>
              <a:rPr lang="en-US" altLang="ko-KR" sz="1000" b="1" dirty="0" smtClean="0"/>
              <a:t> </a:t>
            </a:r>
            <a:r>
              <a:rPr lang="en-US" altLang="ko-KR" sz="2800" b="1" dirty="0" smtClean="0"/>
              <a:t>reference)(2/2)</a:t>
            </a:r>
            <a:endParaRPr lang="en-US" altLang="ko-KR" sz="2800" b="1" dirty="0"/>
          </a:p>
        </p:txBody>
      </p:sp>
      <p:sp>
        <p:nvSpPr>
          <p:cNvPr id="3089" name="Text Box 9"/>
          <p:cNvSpPr txBox="1">
            <a:spLocks noChangeArrowheads="1"/>
          </p:cNvSpPr>
          <p:nvPr/>
        </p:nvSpPr>
        <p:spPr bwMode="auto">
          <a:xfrm>
            <a:off x="146050" y="188913"/>
            <a:ext cx="5686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Chapter 14. 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람다와 스트림</a:t>
            </a: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(Lambda &amp; Stream)</a:t>
            </a:r>
          </a:p>
        </p:txBody>
      </p:sp>
      <p:grpSp>
        <p:nvGrpSpPr>
          <p:cNvPr id="6" name="그룹 51"/>
          <p:cNvGrpSpPr/>
          <p:nvPr/>
        </p:nvGrpSpPr>
        <p:grpSpPr>
          <a:xfrm>
            <a:off x="774648" y="2151045"/>
            <a:ext cx="7886808" cy="474670"/>
            <a:chOff x="770046" y="5484958"/>
            <a:chExt cx="4090511" cy="912824"/>
          </a:xfrm>
        </p:grpSpPr>
        <p:sp>
          <p:nvSpPr>
            <p:cNvPr id="31" name="모서리가 둥근 직사각형 30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770047" y="5625394"/>
              <a:ext cx="4090510" cy="591877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BiFunction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&lt;</a:t>
              </a:r>
              <a:r>
                <a:rPr lang="en-US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String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,</a:t>
              </a:r>
              <a:r>
                <a:rPr lang="en-US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String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,Boolean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&gt; f = (s1, s2) -&gt; s1.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equals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(s2);</a:t>
              </a:r>
              <a:endParaRPr lang="en-US" sz="1400" b="1" dirty="0">
                <a:latin typeface="Courier New" pitchFamily="49" charset="0"/>
                <a:cs typeface="Courier New" pitchFamily="49" charset="0"/>
              </a:endParaRPr>
            </a:p>
          </p:txBody>
        </p:sp>
      </p:grpSp>
      <p:grpSp>
        <p:nvGrpSpPr>
          <p:cNvPr id="7" name="그룹 40"/>
          <p:cNvGrpSpPr/>
          <p:nvPr/>
        </p:nvGrpSpPr>
        <p:grpSpPr>
          <a:xfrm>
            <a:off x="774648" y="2552688"/>
            <a:ext cx="7813782" cy="766773"/>
            <a:chOff x="847674" y="5875371"/>
            <a:chExt cx="7813782" cy="766773"/>
          </a:xfrm>
        </p:grpSpPr>
        <p:grpSp>
          <p:nvGrpSpPr>
            <p:cNvPr id="8" name="그룹 51"/>
            <p:cNvGrpSpPr/>
            <p:nvPr/>
          </p:nvGrpSpPr>
          <p:grpSpPr>
            <a:xfrm>
              <a:off x="847674" y="6167474"/>
              <a:ext cx="7813782" cy="474670"/>
              <a:chOff x="770046" y="5484958"/>
              <a:chExt cx="4052636" cy="912824"/>
            </a:xfrm>
          </p:grpSpPr>
          <p:sp>
            <p:nvSpPr>
              <p:cNvPr id="39" name="모서리가 둥근 직사각형 38"/>
              <p:cNvSpPr/>
              <p:nvPr/>
            </p:nvSpPr>
            <p:spPr bwMode="auto">
              <a:xfrm>
                <a:off x="770046" y="5484958"/>
                <a:ext cx="4052636" cy="912824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49263" marR="0" indent="-449263" algn="l" defTabSz="914400" rtl="0" eaLnBrk="1" fontAlgn="base" latin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urier New" pitchFamily="49" charset="0"/>
                  <a:ea typeface="견명조" pitchFamily="18" charset="-127"/>
                </a:endParaRPr>
              </a:p>
            </p:txBody>
          </p:sp>
          <p:sp>
            <p:nvSpPr>
              <p:cNvPr id="40" name="직사각형 39"/>
              <p:cNvSpPr/>
              <p:nvPr/>
            </p:nvSpPr>
            <p:spPr>
              <a:xfrm>
                <a:off x="770047" y="5625394"/>
                <a:ext cx="3973171" cy="591877"/>
              </a:xfrm>
              <a:prstGeom prst="rect">
                <a:avLst/>
              </a:prstGeom>
            </p:spPr>
            <p:txBody>
              <a:bodyPr wrap="square" anchor="b">
                <a:spAutoFit/>
              </a:bodyPr>
              <a:lstStyle/>
              <a:p>
                <a:pPr>
                  <a:spcBef>
                    <a:spcPts val="0"/>
                  </a:spcBef>
                </a:pPr>
                <a:r>
                  <a:rPr lang="en-US" sz="1400" b="1" dirty="0" smtClean="0">
                    <a:latin typeface="Courier New" pitchFamily="49" charset="0"/>
                    <a:cs typeface="Courier New" pitchFamily="49" charset="0"/>
                  </a:rPr>
                  <a:t> </a:t>
                </a:r>
                <a:r>
                  <a:rPr lang="en-US" sz="1400" b="1" dirty="0" err="1" smtClean="0">
                    <a:latin typeface="Courier New" pitchFamily="49" charset="0"/>
                    <a:cs typeface="Courier New" pitchFamily="49" charset="0"/>
                  </a:rPr>
                  <a:t>BiFunction</a:t>
                </a:r>
                <a:r>
                  <a:rPr lang="en-US" sz="1400" b="1" dirty="0" smtClean="0">
                    <a:latin typeface="Courier New" pitchFamily="49" charset="0"/>
                    <a:cs typeface="Courier New" pitchFamily="49" charset="0"/>
                  </a:rPr>
                  <a:t>&lt;</a:t>
                </a:r>
                <a:r>
                  <a:rPr lang="en-US" sz="1400" b="1" dirty="0" err="1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String</a:t>
                </a:r>
                <a:r>
                  <a:rPr lang="en-US" sz="1400" b="1" dirty="0" err="1" smtClean="0">
                    <a:latin typeface="Courier New" pitchFamily="49" charset="0"/>
                    <a:cs typeface="Courier New" pitchFamily="49" charset="0"/>
                  </a:rPr>
                  <a:t>,</a:t>
                </a:r>
                <a:r>
                  <a:rPr lang="en-US" sz="1400" b="1" dirty="0" err="1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String</a:t>
                </a:r>
                <a:r>
                  <a:rPr lang="en-US" sz="1400" b="1" dirty="0" err="1" smtClean="0">
                    <a:latin typeface="Courier New" pitchFamily="49" charset="0"/>
                    <a:cs typeface="Courier New" pitchFamily="49" charset="0"/>
                  </a:rPr>
                  <a:t>,Boolean</a:t>
                </a:r>
                <a:r>
                  <a:rPr lang="en-US" sz="1400" b="1" dirty="0" smtClean="0">
                    <a:latin typeface="Courier New" pitchFamily="49" charset="0"/>
                    <a:cs typeface="Courier New" pitchFamily="49" charset="0"/>
                  </a:rPr>
                  <a:t>&gt; f = </a:t>
                </a:r>
                <a:r>
                  <a:rPr lang="en-US" sz="1400" b="1" dirty="0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String::equals</a:t>
                </a:r>
                <a:r>
                  <a:rPr lang="en-US" sz="1400" b="1" dirty="0" smtClean="0">
                    <a:latin typeface="Courier New" pitchFamily="49" charset="0"/>
                    <a:cs typeface="Courier New" pitchFamily="49" charset="0"/>
                  </a:rPr>
                  <a:t>;</a:t>
                </a:r>
                <a:endParaRPr lang="en-US" sz="1400" b="1" dirty="0"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  <p:sp>
          <p:nvSpPr>
            <p:cNvPr id="38" name="아래쪽 화살표 37"/>
            <p:cNvSpPr/>
            <p:nvPr/>
          </p:nvSpPr>
          <p:spPr bwMode="auto">
            <a:xfrm>
              <a:off x="4498974" y="5875371"/>
              <a:ext cx="365130" cy="438156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</p:grpSp>
      <p:sp>
        <p:nvSpPr>
          <p:cNvPr id="34" name="Text Box 20"/>
          <p:cNvSpPr txBox="1">
            <a:spLocks noChangeArrowheads="1"/>
          </p:cNvSpPr>
          <p:nvPr/>
        </p:nvSpPr>
        <p:spPr bwMode="auto">
          <a:xfrm>
            <a:off x="472270" y="1711307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err="1" smtClean="0"/>
              <a:t>인스턴스</a:t>
            </a:r>
            <a:r>
              <a:rPr lang="ko-KR" altLang="en-US" b="1" dirty="0" smtClean="0"/>
              <a:t> </a:t>
            </a:r>
            <a:r>
              <a:rPr lang="ko-KR" altLang="en-US" b="1" dirty="0" err="1" smtClean="0"/>
              <a:t>메서드</a:t>
            </a:r>
            <a:r>
              <a:rPr lang="ko-KR" altLang="en-US" b="1" dirty="0" smtClean="0"/>
              <a:t> 참조</a:t>
            </a:r>
            <a:endParaRPr lang="en-US" altLang="ko-KR" b="1" dirty="0"/>
          </a:p>
        </p:txBody>
      </p:sp>
      <p:grpSp>
        <p:nvGrpSpPr>
          <p:cNvPr id="30" name="그룹 51"/>
          <p:cNvGrpSpPr/>
          <p:nvPr/>
        </p:nvGrpSpPr>
        <p:grpSpPr>
          <a:xfrm>
            <a:off x="779231" y="3867156"/>
            <a:ext cx="7886808" cy="959937"/>
            <a:chOff x="770046" y="5484958"/>
            <a:chExt cx="4090511" cy="912824"/>
          </a:xfrm>
        </p:grpSpPr>
        <p:sp>
          <p:nvSpPr>
            <p:cNvPr id="35" name="모서리가 둥근 직사각형 34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770047" y="5587618"/>
              <a:ext cx="4090510" cy="702411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MyClass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obj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= new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MyClass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();</a:t>
              </a: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Function&lt;String, Boolean&gt; f  = (x) -&gt; </a:t>
              </a:r>
              <a:r>
                <a:rPr lang="en-US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obj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.equals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(x); // </a:t>
              </a:r>
              <a:r>
                <a:rPr lang="ko-KR" altLang="en-US" sz="1400" b="1" dirty="0" err="1" smtClean="0">
                  <a:latin typeface="Courier New" pitchFamily="49" charset="0"/>
                  <a:cs typeface="Courier New" pitchFamily="49" charset="0"/>
                </a:rPr>
                <a:t>람다식</a:t>
              </a:r>
              <a:endParaRPr lang="ko-KR" altLang="en-US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Function&lt;String, Boolean&gt; f2 = </a:t>
              </a:r>
              <a:r>
                <a:rPr lang="en-US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obj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::equals;          // </a:t>
              </a:r>
              <a:r>
                <a:rPr lang="ko-KR" altLang="en-US" sz="1400" b="1" dirty="0" err="1" smtClean="0">
                  <a:latin typeface="Courier New" pitchFamily="49" charset="0"/>
                  <a:cs typeface="Courier New" pitchFamily="49" charset="0"/>
                </a:rPr>
                <a:t>메서드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 참조</a:t>
              </a:r>
            </a:p>
          </p:txBody>
        </p:sp>
      </p:grpSp>
      <p:sp>
        <p:nvSpPr>
          <p:cNvPr id="46" name="Text Box 20"/>
          <p:cNvSpPr txBox="1">
            <a:spLocks noChangeArrowheads="1"/>
          </p:cNvSpPr>
          <p:nvPr/>
        </p:nvSpPr>
        <p:spPr bwMode="auto">
          <a:xfrm>
            <a:off x="476853" y="3465513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smtClean="0"/>
              <a:t>특정 객체의 </a:t>
            </a:r>
            <a:r>
              <a:rPr lang="ko-KR" altLang="en-US" b="1" dirty="0" err="1" smtClean="0"/>
              <a:t>인스턴스</a:t>
            </a:r>
            <a:r>
              <a:rPr lang="ko-KR" altLang="en-US" b="1" dirty="0" smtClean="0"/>
              <a:t> </a:t>
            </a:r>
            <a:r>
              <a:rPr lang="ko-KR" altLang="en-US" b="1" dirty="0" err="1" smtClean="0"/>
              <a:t>메서드</a:t>
            </a:r>
            <a:r>
              <a:rPr lang="ko-KR" altLang="en-US" b="1" dirty="0" smtClean="0"/>
              <a:t> 참조</a:t>
            </a:r>
            <a:endParaRPr lang="en-US" altLang="ko-KR" b="1" dirty="0"/>
          </a:p>
        </p:txBody>
      </p:sp>
      <p:grpSp>
        <p:nvGrpSpPr>
          <p:cNvPr id="47" name="그룹 51"/>
          <p:cNvGrpSpPr/>
          <p:nvPr/>
        </p:nvGrpSpPr>
        <p:grpSpPr>
          <a:xfrm>
            <a:off x="777192" y="5437215"/>
            <a:ext cx="7886808" cy="1204929"/>
            <a:chOff x="770046" y="5484958"/>
            <a:chExt cx="4090511" cy="912824"/>
          </a:xfrm>
        </p:grpSpPr>
        <p:sp>
          <p:nvSpPr>
            <p:cNvPr id="48" name="모서리가 둥근 직사각형 47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770047" y="5587617"/>
              <a:ext cx="4090510" cy="72718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Supplier&lt;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MyClass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&gt; s = </a:t>
              </a:r>
              <a:r>
                <a:rPr lang="en-US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MyClass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::new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;           // 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()  -&gt; new </a:t>
              </a:r>
              <a:r>
                <a:rPr lang="en-US" altLang="ko-KR" sz="1400" b="1" dirty="0" err="1" smtClean="0">
                  <a:latin typeface="Courier New" pitchFamily="49" charset="0"/>
                  <a:cs typeface="Courier New" pitchFamily="49" charset="0"/>
                </a:rPr>
                <a:t>MyClass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()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 Function&lt;Integer, </a:t>
              </a:r>
              <a:r>
                <a:rPr lang="en-US" altLang="ko-KR" sz="1400" b="1" dirty="0" err="1" smtClean="0">
                  <a:latin typeface="Courier New" pitchFamily="49" charset="0"/>
                  <a:cs typeface="Courier New" pitchFamily="49" charset="0"/>
                </a:rPr>
                <a:t>MyClass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&gt; f2 = </a:t>
              </a:r>
              <a:r>
                <a:rPr lang="en-US" altLang="ko-KR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MyClass</a:t>
              </a:r>
              <a:r>
                <a:rPr lang="en-US" altLang="ko-KR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::new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; // (</a:t>
              </a:r>
              <a:r>
                <a:rPr lang="en-US" altLang="ko-KR" sz="1400" b="1" dirty="0" err="1" smtClean="0"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) -&gt; new </a:t>
              </a:r>
              <a:r>
                <a:rPr lang="en-US" altLang="ko-KR" sz="1400" b="1" dirty="0" err="1" smtClean="0">
                  <a:latin typeface="Courier New" pitchFamily="49" charset="0"/>
                  <a:cs typeface="Courier New" pitchFamily="49" charset="0"/>
                </a:rPr>
                <a:t>MyClass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altLang="ko-KR" sz="1400" b="1" dirty="0" err="1" smtClean="0"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)</a:t>
              </a:r>
            </a:p>
            <a:p>
              <a:pPr>
                <a:spcBef>
                  <a:spcPts val="0"/>
                </a:spcBef>
              </a:pPr>
              <a:endParaRPr lang="en-US" altLang="ko-KR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 Function&lt;Integer, </a:t>
              </a:r>
              <a:r>
                <a:rPr lang="en-US" altLang="ko-KR" sz="1400" b="1" dirty="0" err="1" smtClean="0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[]&gt; f2 = </a:t>
              </a:r>
              <a:r>
                <a:rPr lang="en-US" altLang="ko-KR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altLang="ko-KR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[]::new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;     // x -&gt; new </a:t>
              </a:r>
              <a:r>
                <a:rPr lang="en-US" altLang="ko-KR" sz="1400" b="1" dirty="0" err="1" smtClean="0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[x];</a:t>
              </a:r>
              <a:endParaRPr lang="ko-KR" altLang="en-US" sz="1400" b="1" dirty="0" smtClean="0">
                <a:latin typeface="Courier New" pitchFamily="49" charset="0"/>
                <a:cs typeface="Courier New" pitchFamily="49" charset="0"/>
              </a:endParaRPr>
            </a:p>
          </p:txBody>
        </p:sp>
      </p:grpSp>
      <p:sp>
        <p:nvSpPr>
          <p:cNvPr id="50" name="Text Box 20"/>
          <p:cNvSpPr txBox="1">
            <a:spLocks noChangeArrowheads="1"/>
          </p:cNvSpPr>
          <p:nvPr/>
        </p:nvSpPr>
        <p:spPr bwMode="auto">
          <a:xfrm>
            <a:off x="474814" y="5035572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new</a:t>
            </a:r>
            <a:r>
              <a:rPr lang="ko-KR" altLang="en-US" b="1" dirty="0" smtClean="0"/>
              <a:t>연산자</a:t>
            </a:r>
            <a:r>
              <a:rPr lang="en-US" altLang="ko-KR" b="1" dirty="0" smtClean="0"/>
              <a:t>(</a:t>
            </a:r>
            <a:r>
              <a:rPr lang="ko-KR" altLang="en-US" b="1" dirty="0" err="1" smtClean="0"/>
              <a:t>생성자</a:t>
            </a:r>
            <a:r>
              <a:rPr lang="en-US" altLang="ko-KR" b="1" dirty="0" smtClean="0"/>
              <a:t>,</a:t>
            </a:r>
            <a:r>
              <a:rPr lang="ko-KR" altLang="en-US" b="1" dirty="0" smtClean="0"/>
              <a:t> 배열</a:t>
            </a:r>
            <a:r>
              <a:rPr lang="en-US" altLang="ko-KR" b="1" dirty="0" smtClean="0"/>
              <a:t>)</a:t>
            </a:r>
            <a:r>
              <a:rPr lang="ko-KR" altLang="en-US" b="1" dirty="0" smtClean="0"/>
              <a:t>와 메서드 참조</a:t>
            </a:r>
            <a:endParaRPr lang="en-US" altLang="ko-KR" b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46" grpId="0"/>
      <p:bldP spid="5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863600"/>
          </a:xfrm>
          <a:prstGeom prst="rect">
            <a:avLst/>
          </a:prstGeom>
          <a:solidFill>
            <a:srgbClr val="E4D394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576263"/>
            <a:ext cx="8388350" cy="53975"/>
          </a:xfrm>
          <a:prstGeom prst="rect">
            <a:avLst/>
          </a:prstGeom>
          <a:solidFill>
            <a:srgbClr val="81705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883525" y="42863"/>
            <a:ext cx="1368425" cy="722312"/>
            <a:chOff x="3787" y="1570"/>
            <a:chExt cx="862" cy="455"/>
          </a:xfrm>
        </p:grpSpPr>
        <p:sp>
          <p:nvSpPr>
            <p:cNvPr id="3090" name="Text Box 5"/>
            <p:cNvSpPr txBox="1">
              <a:spLocks noChangeArrowheads="1"/>
            </p:cNvSpPr>
            <p:nvPr/>
          </p:nvSpPr>
          <p:spPr bwMode="auto">
            <a:xfrm>
              <a:off x="3787" y="1570"/>
              <a:ext cx="7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2800">
                  <a:latin typeface="Elephant" pitchFamily="18" charset="0"/>
                  <a:ea typeface="굴림" charset="-127"/>
                </a:rPr>
                <a:t>Java</a:t>
              </a:r>
            </a:p>
          </p:txBody>
        </p:sp>
        <p:sp>
          <p:nvSpPr>
            <p:cNvPr id="3091" name="Text Box 6"/>
            <p:cNvSpPr txBox="1">
              <a:spLocks noChangeArrowheads="1"/>
            </p:cNvSpPr>
            <p:nvPr/>
          </p:nvSpPr>
          <p:spPr bwMode="auto">
            <a:xfrm>
              <a:off x="4308" y="1643"/>
              <a:ext cx="34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1600">
                  <a:latin typeface="HY견고딕" pitchFamily="18" charset="-127"/>
                  <a:ea typeface="HY견고딕" pitchFamily="18" charset="-127"/>
                </a:rPr>
                <a:t>의</a:t>
              </a:r>
            </a:p>
          </p:txBody>
        </p:sp>
        <p:sp>
          <p:nvSpPr>
            <p:cNvPr id="3092" name="Text Box 7"/>
            <p:cNvSpPr txBox="1">
              <a:spLocks noChangeArrowheads="1"/>
            </p:cNvSpPr>
            <p:nvPr/>
          </p:nvSpPr>
          <p:spPr bwMode="auto">
            <a:xfrm>
              <a:off x="4121" y="1775"/>
              <a:ext cx="5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2000">
                  <a:latin typeface="바탕" pitchFamily="18" charset="-127"/>
                  <a:ea typeface="HY견고딕" pitchFamily="18" charset="-127"/>
                </a:rPr>
                <a:t>정석</a:t>
              </a:r>
            </a:p>
          </p:txBody>
        </p:sp>
      </p:grp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443663" y="620713"/>
            <a:ext cx="2016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 err="1">
                <a:latin typeface="Courier New" pitchFamily="49" charset="0"/>
                <a:ea typeface="굴림" charset="-127"/>
              </a:rPr>
              <a:t>http://</a:t>
            </a:r>
            <a:r>
              <a:rPr lang="en-US" altLang="ko-KR" sz="1000" b="1" dirty="0" err="1" smtClean="0">
                <a:latin typeface="Courier New" pitchFamily="49" charset="0"/>
                <a:ea typeface="굴림" charset="-127"/>
              </a:rPr>
              <a:t>www.codechobo.com</a:t>
            </a:r>
            <a:endParaRPr lang="en-US" altLang="ko-KR" sz="1000" b="1" dirty="0">
              <a:latin typeface="Courier New" pitchFamily="49" charset="0"/>
              <a:ea typeface="굴림" charset="-127"/>
            </a:endParaRPr>
          </a:p>
        </p:txBody>
      </p:sp>
      <p:sp>
        <p:nvSpPr>
          <p:cNvPr id="3078" name="Text Box 19"/>
          <p:cNvSpPr txBox="1">
            <a:spLocks noChangeArrowheads="1"/>
          </p:cNvSpPr>
          <p:nvPr/>
        </p:nvSpPr>
        <p:spPr bwMode="auto">
          <a:xfrm>
            <a:off x="358775" y="1016000"/>
            <a:ext cx="8569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800" b="1" dirty="0" smtClean="0"/>
              <a:t>2.1  </a:t>
            </a:r>
            <a:r>
              <a:rPr lang="ko-KR" altLang="en-US" sz="2800" b="1" dirty="0" err="1" smtClean="0"/>
              <a:t>스트림</a:t>
            </a:r>
            <a:r>
              <a:rPr lang="en-US" altLang="ko-KR" sz="2800" b="1" dirty="0" smtClean="0"/>
              <a:t>(Stream)</a:t>
            </a:r>
            <a:r>
              <a:rPr lang="ko-KR" altLang="en-US" sz="2800" b="1" dirty="0" smtClean="0"/>
              <a:t>이란</a:t>
            </a:r>
            <a:r>
              <a:rPr lang="en-US" altLang="ko-KR" sz="2800" b="1" dirty="0" smtClean="0"/>
              <a:t>?</a:t>
            </a:r>
            <a:endParaRPr lang="en-US" altLang="ko-KR" sz="2800" b="1" dirty="0"/>
          </a:p>
        </p:txBody>
      </p:sp>
      <p:sp>
        <p:nvSpPr>
          <p:cNvPr id="3089" name="Text Box 9"/>
          <p:cNvSpPr txBox="1">
            <a:spLocks noChangeArrowheads="1"/>
          </p:cNvSpPr>
          <p:nvPr/>
        </p:nvSpPr>
        <p:spPr bwMode="auto">
          <a:xfrm>
            <a:off x="146050" y="188913"/>
            <a:ext cx="5686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Chapter 14. 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람다와 스트림</a:t>
            </a: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(Lambda &amp; Stream)</a:t>
            </a:r>
          </a:p>
        </p:txBody>
      </p:sp>
      <p:sp>
        <p:nvSpPr>
          <p:cNvPr id="11" name="Text Box 20"/>
          <p:cNvSpPr txBox="1">
            <a:spLocks noChangeArrowheads="1"/>
          </p:cNvSpPr>
          <p:nvPr/>
        </p:nvSpPr>
        <p:spPr bwMode="auto">
          <a:xfrm>
            <a:off x="472270" y="1639863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smtClean="0"/>
              <a:t>다양한 데이터 소스를 표준화된 방법으로 다루기 위한 것</a:t>
            </a:r>
            <a:endParaRPr lang="en-US" altLang="ko-KR" b="1" dirty="0"/>
          </a:p>
        </p:txBody>
      </p:sp>
      <p:sp>
        <p:nvSpPr>
          <p:cNvPr id="12" name="Text Box 20"/>
          <p:cNvSpPr txBox="1">
            <a:spLocks noChangeArrowheads="1"/>
          </p:cNvSpPr>
          <p:nvPr/>
        </p:nvSpPr>
        <p:spPr bwMode="auto">
          <a:xfrm>
            <a:off x="473835" y="3463931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err="1" smtClean="0"/>
              <a:t>스트림이</a:t>
            </a:r>
            <a:r>
              <a:rPr lang="ko-KR" altLang="en-US" b="1" dirty="0" smtClean="0"/>
              <a:t> 제공하는 기능 </a:t>
            </a:r>
            <a:r>
              <a:rPr lang="en-US" altLang="ko-KR" b="1" dirty="0" smtClean="0"/>
              <a:t>– </a:t>
            </a:r>
            <a:r>
              <a:rPr lang="ko-KR" altLang="en-US" b="1" dirty="0" smtClean="0"/>
              <a:t>중간 연산과 최종 연산</a:t>
            </a:r>
            <a:endParaRPr lang="en-US" altLang="ko-KR" b="1" dirty="0"/>
          </a:p>
        </p:txBody>
      </p:sp>
      <p:grpSp>
        <p:nvGrpSpPr>
          <p:cNvPr id="13" name="그룹 51"/>
          <p:cNvGrpSpPr/>
          <p:nvPr/>
        </p:nvGrpSpPr>
        <p:grpSpPr>
          <a:xfrm>
            <a:off x="774648" y="3868739"/>
            <a:ext cx="8178912" cy="546112"/>
            <a:chOff x="770046" y="5484958"/>
            <a:chExt cx="4090511" cy="912824"/>
          </a:xfrm>
        </p:grpSpPr>
        <p:sp>
          <p:nvSpPr>
            <p:cNvPr id="14" name="모서리가 둥근 직사각형 13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770047" y="5695690"/>
              <a:ext cx="4090510" cy="688448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  <a:buFont typeface="Arial" pitchFamily="34" charset="0"/>
                <a:buChar char="•"/>
              </a:pP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 중간 연산 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– 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연산결과가 </a:t>
              </a:r>
              <a:r>
                <a:rPr lang="ko-KR" altLang="en-US" sz="1400" b="1" dirty="0" err="1" smtClean="0">
                  <a:latin typeface="Courier New" pitchFamily="49" charset="0"/>
                  <a:cs typeface="Courier New" pitchFamily="49" charset="0"/>
                </a:rPr>
                <a:t>스트림인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 연산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. 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반복적으로 적용가능 </a:t>
              </a:r>
              <a:endParaRPr lang="en-US" altLang="ko-KR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  <a:buFont typeface="Arial" pitchFamily="34" charset="0"/>
                <a:buChar char="•"/>
              </a:pP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 최종 연산 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– 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연산결과가 </a:t>
              </a:r>
              <a:r>
                <a:rPr lang="ko-KR" altLang="en-US" sz="1400" b="1" dirty="0" err="1" smtClean="0">
                  <a:latin typeface="Courier New" pitchFamily="49" charset="0"/>
                  <a:cs typeface="Courier New" pitchFamily="49" charset="0"/>
                </a:rPr>
                <a:t>스트림이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 아닌 연산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. </a:t>
              </a:r>
              <a:r>
                <a:rPr lang="ko-KR" altLang="en-US" sz="1400" b="1" dirty="0" err="1" smtClean="0">
                  <a:latin typeface="Courier New" pitchFamily="49" charset="0"/>
                  <a:cs typeface="Courier New" pitchFamily="49" charset="0"/>
                </a:rPr>
                <a:t>스트림의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 요소를 소모하므로 한번만 적용가능</a:t>
              </a:r>
            </a:p>
          </p:txBody>
        </p: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03265" y="4478753"/>
            <a:ext cx="7156548" cy="539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7" name="그룹 51"/>
          <p:cNvGrpSpPr/>
          <p:nvPr/>
        </p:nvGrpSpPr>
        <p:grpSpPr>
          <a:xfrm>
            <a:off x="774648" y="5067391"/>
            <a:ext cx="8251938" cy="1720805"/>
            <a:chOff x="770046" y="5484958"/>
            <a:chExt cx="4127033" cy="912824"/>
          </a:xfrm>
        </p:grpSpPr>
        <p:sp>
          <p:nvSpPr>
            <p:cNvPr id="18" name="모서리가 둥근 직사각형 17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806569" y="5507581"/>
              <a:ext cx="4090510" cy="848974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String[]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strArr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= { "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dd","aaa","CC","cc","b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" };</a:t>
              </a: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Stream&lt;String&gt;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stream =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Stream.of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strArr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); // 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문자열 배열이 소스인 </a:t>
              </a:r>
              <a:r>
                <a:rPr lang="ko-KR" altLang="en-US" sz="1400" b="1" dirty="0" err="1" smtClean="0">
                  <a:latin typeface="Courier New" pitchFamily="49" charset="0"/>
                  <a:cs typeface="Courier New" pitchFamily="49" charset="0"/>
                </a:rPr>
                <a:t>스트림</a:t>
              </a:r>
              <a:endParaRPr lang="ko-KR" altLang="en-US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Stream&lt;String&gt;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filteredStream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  =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stream.filter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();   // 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걸러내기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중간 연산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)</a:t>
              </a: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Stream&lt;String&gt;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distinctedStream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stream.distinct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(); // 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중복제거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중간 연산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)</a:t>
              </a: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Stream&lt;String&gt;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sortedStream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    =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stream.sort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();     // 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정렬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중간 연산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)</a:t>
              </a: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Stream&lt;String&gt;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limitedStream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   =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stream.limit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(5); // </a:t>
              </a:r>
              <a:r>
                <a:rPr lang="ko-KR" altLang="en-US" sz="1400" b="1" dirty="0" err="1" smtClean="0">
                  <a:latin typeface="Courier New" pitchFamily="49" charset="0"/>
                  <a:cs typeface="Courier New" pitchFamily="49" charset="0"/>
                </a:rPr>
                <a:t>스트림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 자르기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중간 연산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)</a:t>
              </a:r>
            </a:p>
            <a:p>
              <a:pPr>
                <a:spcBef>
                  <a:spcPts val="0"/>
                </a:spcBef>
              </a:pPr>
              <a:r>
                <a:rPr lang="en-US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total =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stream.count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(); // 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요소 개수 세기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최종연산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)</a:t>
              </a:r>
            </a:p>
          </p:txBody>
        </p:sp>
      </p:grpSp>
      <p:grpSp>
        <p:nvGrpSpPr>
          <p:cNvPr id="20" name="그룹 51"/>
          <p:cNvGrpSpPr/>
          <p:nvPr/>
        </p:nvGrpSpPr>
        <p:grpSpPr>
          <a:xfrm>
            <a:off x="793743" y="2007495"/>
            <a:ext cx="8251938" cy="1384995"/>
            <a:chOff x="770046" y="5461337"/>
            <a:chExt cx="4127033" cy="961799"/>
          </a:xfrm>
        </p:grpSpPr>
        <p:sp>
          <p:nvSpPr>
            <p:cNvPr id="21" name="모서리가 둥근 직사각형 20"/>
            <p:cNvSpPr/>
            <p:nvPr/>
          </p:nvSpPr>
          <p:spPr bwMode="auto">
            <a:xfrm>
              <a:off x="770046" y="5484961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806569" y="5461337"/>
              <a:ext cx="4090510" cy="961799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List&lt;Integer&gt; list =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Arrays.asList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(1,2,3,4,5); </a:t>
              </a: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Stream&lt;Integer&gt;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intStream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 =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list.stream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(); // 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컬렉션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. </a:t>
              </a:r>
              <a:endParaRPr lang="en-US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Stream&lt;String&gt;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strStream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 =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Stream.of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(new String[]{"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a","b","c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"}); // 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배열</a:t>
              </a: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Stream&lt;Integer&gt;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evenStream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  =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Stream.iterate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(0, n-&gt;n+2);  // 0,2,4,6, ...</a:t>
              </a: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Stream&lt;Double&gt;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randomStream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Stream.generate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(Math::random);    // </a:t>
              </a:r>
              <a:r>
                <a:rPr lang="ko-KR" altLang="en-US" sz="1400" b="1" dirty="0" err="1" smtClean="0">
                  <a:latin typeface="Courier New" pitchFamily="49" charset="0"/>
                  <a:cs typeface="Courier New" pitchFamily="49" charset="0"/>
                </a:rPr>
                <a:t>람다식</a:t>
              </a:r>
              <a:endParaRPr lang="en-US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IntStream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    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intStream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   = new Random().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ints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(5); // </a:t>
              </a:r>
              <a:r>
                <a:rPr lang="ko-KR" altLang="en-US" sz="1400" b="1" dirty="0" err="1" smtClean="0">
                  <a:latin typeface="Courier New" pitchFamily="49" charset="0"/>
                  <a:cs typeface="Courier New" pitchFamily="49" charset="0"/>
                </a:rPr>
                <a:t>난수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ko-KR" altLang="en-US" sz="1400" b="1" dirty="0" err="1" smtClean="0">
                  <a:latin typeface="Courier New" pitchFamily="49" charset="0"/>
                  <a:cs typeface="Courier New" pitchFamily="49" charset="0"/>
                </a:rPr>
                <a:t>스트림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크기가 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5)</a:t>
              </a:r>
              <a:endParaRPr lang="ko-KR" altLang="en-US" sz="1400" b="1" dirty="0" smtClean="0">
                <a:latin typeface="Courier New" pitchFamily="49" charset="0"/>
                <a:cs typeface="Courier New" pitchFamily="49" charset="0"/>
              </a:endParaRPr>
            </a:p>
          </p:txBody>
        </p:sp>
      </p:grpSp>
      <p:grpSp>
        <p:nvGrpSpPr>
          <p:cNvPr id="23" name="그룹 51"/>
          <p:cNvGrpSpPr/>
          <p:nvPr/>
        </p:nvGrpSpPr>
        <p:grpSpPr>
          <a:xfrm>
            <a:off x="6653241" y="1895454"/>
            <a:ext cx="2409857" cy="448309"/>
            <a:chOff x="770046" y="5484958"/>
            <a:chExt cx="4127033" cy="1018883"/>
          </a:xfrm>
        </p:grpSpPr>
        <p:sp>
          <p:nvSpPr>
            <p:cNvPr id="24" name="모서리가 둥근 직사각형 23"/>
            <p:cNvSpPr/>
            <p:nvPr/>
          </p:nvSpPr>
          <p:spPr bwMode="auto">
            <a:xfrm>
              <a:off x="770046" y="5484958"/>
              <a:ext cx="4052636" cy="696515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1200" b="1" spc="-150" dirty="0" smtClean="0">
                  <a:solidFill>
                    <a:schemeClr val="tx1"/>
                  </a:solidFill>
                  <a:latin typeface="Courier New" pitchFamily="49" charset="0"/>
                  <a:ea typeface="견명조" pitchFamily="18" charset="-127"/>
                </a:rPr>
                <a:t>Stream&lt;T&gt; </a:t>
              </a:r>
              <a:r>
                <a:rPr lang="en-US" altLang="ko-KR" sz="1200" b="1" spc="-150" dirty="0" err="1" smtClean="0">
                  <a:solidFill>
                    <a:schemeClr val="tx1"/>
                  </a:solidFill>
                  <a:latin typeface="Courier New" pitchFamily="49" charset="0"/>
                  <a:ea typeface="견명조" pitchFamily="18" charset="-127"/>
                </a:rPr>
                <a:t>Collection.stream</a:t>
              </a:r>
              <a:r>
                <a:rPr lang="en-US" altLang="ko-KR" sz="1200" b="1" spc="-150" dirty="0" smtClean="0">
                  <a:solidFill>
                    <a:schemeClr val="tx1"/>
                  </a:solidFill>
                  <a:latin typeface="Courier New" pitchFamily="49" charset="0"/>
                  <a:ea typeface="견명조" pitchFamily="18" charset="-127"/>
                </a:rPr>
                <a:t>()</a:t>
              </a:r>
              <a:endParaRPr kumimoji="1" lang="ko-KR" altLang="en-US" sz="1200" b="1" i="0" u="none" strike="noStrike" cap="none" spc="-15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806569" y="5804349"/>
              <a:ext cx="4090510" cy="699492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endParaRPr lang="en-US" sz="1400" b="1" spc="-150" dirty="0" smtClean="0">
                <a:latin typeface="Courier New" pitchFamily="49" charset="0"/>
                <a:cs typeface="Courier New" pitchFamily="49" charset="0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863600"/>
          </a:xfrm>
          <a:prstGeom prst="rect">
            <a:avLst/>
          </a:prstGeom>
          <a:solidFill>
            <a:srgbClr val="E4D394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576263"/>
            <a:ext cx="8388350" cy="53975"/>
          </a:xfrm>
          <a:prstGeom prst="rect">
            <a:avLst/>
          </a:prstGeom>
          <a:solidFill>
            <a:srgbClr val="81705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883525" y="42863"/>
            <a:ext cx="1368425" cy="722312"/>
            <a:chOff x="3787" y="1570"/>
            <a:chExt cx="862" cy="455"/>
          </a:xfrm>
        </p:grpSpPr>
        <p:sp>
          <p:nvSpPr>
            <p:cNvPr id="3090" name="Text Box 5"/>
            <p:cNvSpPr txBox="1">
              <a:spLocks noChangeArrowheads="1"/>
            </p:cNvSpPr>
            <p:nvPr/>
          </p:nvSpPr>
          <p:spPr bwMode="auto">
            <a:xfrm>
              <a:off x="3787" y="1570"/>
              <a:ext cx="7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2800">
                  <a:latin typeface="Elephant" pitchFamily="18" charset="0"/>
                  <a:ea typeface="굴림" charset="-127"/>
                </a:rPr>
                <a:t>Java</a:t>
              </a:r>
            </a:p>
          </p:txBody>
        </p:sp>
        <p:sp>
          <p:nvSpPr>
            <p:cNvPr id="3091" name="Text Box 6"/>
            <p:cNvSpPr txBox="1">
              <a:spLocks noChangeArrowheads="1"/>
            </p:cNvSpPr>
            <p:nvPr/>
          </p:nvSpPr>
          <p:spPr bwMode="auto">
            <a:xfrm>
              <a:off x="4308" y="1643"/>
              <a:ext cx="34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1600">
                  <a:latin typeface="HY견고딕" pitchFamily="18" charset="-127"/>
                  <a:ea typeface="HY견고딕" pitchFamily="18" charset="-127"/>
                </a:rPr>
                <a:t>의</a:t>
              </a:r>
            </a:p>
          </p:txBody>
        </p:sp>
        <p:sp>
          <p:nvSpPr>
            <p:cNvPr id="3092" name="Text Box 7"/>
            <p:cNvSpPr txBox="1">
              <a:spLocks noChangeArrowheads="1"/>
            </p:cNvSpPr>
            <p:nvPr/>
          </p:nvSpPr>
          <p:spPr bwMode="auto">
            <a:xfrm>
              <a:off x="4121" y="1775"/>
              <a:ext cx="5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2000">
                  <a:latin typeface="바탕" pitchFamily="18" charset="-127"/>
                  <a:ea typeface="HY견고딕" pitchFamily="18" charset="-127"/>
                </a:rPr>
                <a:t>정석</a:t>
              </a:r>
            </a:p>
          </p:txBody>
        </p:sp>
      </p:grp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443663" y="620713"/>
            <a:ext cx="2016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 err="1">
                <a:latin typeface="Courier New" pitchFamily="49" charset="0"/>
                <a:ea typeface="굴림" charset="-127"/>
              </a:rPr>
              <a:t>http://</a:t>
            </a:r>
            <a:r>
              <a:rPr lang="en-US" altLang="ko-KR" sz="1000" b="1" dirty="0" err="1" smtClean="0">
                <a:latin typeface="Courier New" pitchFamily="49" charset="0"/>
                <a:ea typeface="굴림" charset="-127"/>
              </a:rPr>
              <a:t>www.codechobo.com</a:t>
            </a:r>
            <a:endParaRPr lang="en-US" altLang="ko-KR" sz="1000" b="1" dirty="0">
              <a:latin typeface="Courier New" pitchFamily="49" charset="0"/>
              <a:ea typeface="굴림" charset="-127"/>
            </a:endParaRPr>
          </a:p>
        </p:txBody>
      </p:sp>
      <p:sp>
        <p:nvSpPr>
          <p:cNvPr id="3078" name="Text Box 19"/>
          <p:cNvSpPr txBox="1">
            <a:spLocks noChangeArrowheads="1"/>
          </p:cNvSpPr>
          <p:nvPr/>
        </p:nvSpPr>
        <p:spPr bwMode="auto">
          <a:xfrm>
            <a:off x="358775" y="1016000"/>
            <a:ext cx="8569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800" b="1" dirty="0" smtClean="0"/>
              <a:t>2.2  </a:t>
            </a:r>
            <a:r>
              <a:rPr lang="ko-KR" altLang="en-US" sz="2800" b="1" dirty="0" err="1" smtClean="0"/>
              <a:t>스트림</a:t>
            </a:r>
            <a:r>
              <a:rPr lang="en-US" altLang="ko-KR" sz="2800" b="1" dirty="0" smtClean="0"/>
              <a:t>(Stream)</a:t>
            </a:r>
            <a:r>
              <a:rPr lang="ko-KR" altLang="en-US" sz="2800" b="1" dirty="0" smtClean="0"/>
              <a:t>의</a:t>
            </a:r>
            <a:r>
              <a:rPr lang="en-US" altLang="ko-KR" sz="2800" b="1" dirty="0" smtClean="0"/>
              <a:t> </a:t>
            </a:r>
            <a:r>
              <a:rPr lang="ko-KR" altLang="en-US" sz="2800" b="1" dirty="0" smtClean="0"/>
              <a:t>특징</a:t>
            </a:r>
            <a:r>
              <a:rPr lang="en-US" altLang="ko-KR" sz="2800" b="1" dirty="0" smtClean="0"/>
              <a:t>(1/2)</a:t>
            </a:r>
            <a:endParaRPr lang="en-US" altLang="ko-KR" sz="2800" b="1" dirty="0"/>
          </a:p>
        </p:txBody>
      </p:sp>
      <p:sp>
        <p:nvSpPr>
          <p:cNvPr id="3089" name="Text Box 9"/>
          <p:cNvSpPr txBox="1">
            <a:spLocks noChangeArrowheads="1"/>
          </p:cNvSpPr>
          <p:nvPr/>
        </p:nvSpPr>
        <p:spPr bwMode="auto">
          <a:xfrm>
            <a:off x="146050" y="188913"/>
            <a:ext cx="5686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Chapter 14. 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람다와 스트림</a:t>
            </a: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(Lambda &amp; Stream)</a:t>
            </a:r>
          </a:p>
        </p:txBody>
      </p:sp>
      <p:sp>
        <p:nvSpPr>
          <p:cNvPr id="11" name="Text Box 20"/>
          <p:cNvSpPr txBox="1">
            <a:spLocks noChangeArrowheads="1"/>
          </p:cNvSpPr>
          <p:nvPr/>
        </p:nvSpPr>
        <p:spPr bwMode="auto">
          <a:xfrm>
            <a:off x="472270" y="1639863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err="1" smtClean="0"/>
              <a:t>스트림은</a:t>
            </a:r>
            <a:r>
              <a:rPr lang="ko-KR" altLang="en-US" b="1" dirty="0" smtClean="0"/>
              <a:t> 데이터 소스로부터 데이터를 읽기만할 뿐 변경하지 않는다</a:t>
            </a:r>
            <a:r>
              <a:rPr lang="en-US" altLang="ko-KR" b="1" dirty="0" smtClean="0"/>
              <a:t>.</a:t>
            </a:r>
            <a:endParaRPr lang="en-US" altLang="ko-KR" b="1" dirty="0"/>
          </a:p>
        </p:txBody>
      </p:sp>
      <p:grpSp>
        <p:nvGrpSpPr>
          <p:cNvPr id="5" name="그룹 51"/>
          <p:cNvGrpSpPr/>
          <p:nvPr/>
        </p:nvGrpSpPr>
        <p:grpSpPr>
          <a:xfrm>
            <a:off x="793743" y="2041515"/>
            <a:ext cx="8232841" cy="1314471"/>
            <a:chOff x="770046" y="5484961"/>
            <a:chExt cx="4117482" cy="912824"/>
          </a:xfrm>
        </p:grpSpPr>
        <p:sp>
          <p:nvSpPr>
            <p:cNvPr id="21" name="모서리가 둥근 직사각형 20"/>
            <p:cNvSpPr/>
            <p:nvPr/>
          </p:nvSpPr>
          <p:spPr bwMode="auto">
            <a:xfrm>
              <a:off x="770046" y="5484961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797018" y="5509523"/>
              <a:ext cx="4090510" cy="812185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List&lt;Integer&gt; list =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Arrays.asList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(3,1,5,4,2); </a:t>
              </a: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List&lt;Integer&gt;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sortedList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list.stream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().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sorted()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  // list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를 정렬해서</a:t>
              </a:r>
              <a:endParaRPr lang="en-US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                    .collect(</a:t>
              </a:r>
              <a:r>
                <a:rPr lang="en-US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Collectors.toList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()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); // 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새로운 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List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에 저장</a:t>
              </a:r>
              <a:endParaRPr lang="en-US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System.out.println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(list);        // [3, 1, 5, 4, 2] </a:t>
              </a:r>
            </a:p>
            <a:p>
              <a:pPr>
                <a:spcBef>
                  <a:spcPts val="0"/>
                </a:spcBef>
              </a:pP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System.out.println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sortedList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);  // [1, 2, 3, 4, 5]</a:t>
              </a:r>
            </a:p>
          </p:txBody>
        </p:sp>
      </p:grpSp>
      <p:sp>
        <p:nvSpPr>
          <p:cNvPr id="23" name="Text Box 20"/>
          <p:cNvSpPr txBox="1">
            <a:spLocks noChangeArrowheads="1"/>
          </p:cNvSpPr>
          <p:nvPr/>
        </p:nvSpPr>
        <p:spPr bwMode="auto">
          <a:xfrm>
            <a:off x="473835" y="3479430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err="1" smtClean="0"/>
              <a:t>스트림은</a:t>
            </a:r>
            <a:r>
              <a:rPr lang="ko-KR" altLang="en-US" b="1" dirty="0" smtClean="0"/>
              <a:t> </a:t>
            </a:r>
            <a:r>
              <a:rPr lang="en-US" altLang="ko-KR" b="1" dirty="0" err="1" smtClean="0"/>
              <a:t>Iterator</a:t>
            </a:r>
            <a:r>
              <a:rPr lang="ko-KR" altLang="en-US" b="1" dirty="0" smtClean="0"/>
              <a:t>처럼 일회용이다</a:t>
            </a:r>
            <a:r>
              <a:rPr lang="en-US" altLang="ko-KR" b="1" dirty="0" smtClean="0"/>
              <a:t>.(</a:t>
            </a:r>
            <a:r>
              <a:rPr lang="ko-KR" altLang="en-US" b="1" dirty="0" smtClean="0"/>
              <a:t>필요하면 다시 </a:t>
            </a:r>
            <a:r>
              <a:rPr lang="ko-KR" altLang="en-US" b="1" dirty="0" err="1" smtClean="0"/>
              <a:t>스트림을</a:t>
            </a:r>
            <a:r>
              <a:rPr lang="ko-KR" altLang="en-US" b="1" dirty="0" smtClean="0"/>
              <a:t> 생성해야 함</a:t>
            </a:r>
            <a:r>
              <a:rPr lang="en-US" altLang="ko-KR" b="1" dirty="0" smtClean="0"/>
              <a:t>)</a:t>
            </a:r>
            <a:endParaRPr lang="en-US" altLang="ko-KR" b="1" dirty="0"/>
          </a:p>
        </p:txBody>
      </p:sp>
      <p:grpSp>
        <p:nvGrpSpPr>
          <p:cNvPr id="27" name="그룹 51"/>
          <p:cNvGrpSpPr/>
          <p:nvPr/>
        </p:nvGrpSpPr>
        <p:grpSpPr>
          <a:xfrm>
            <a:off x="802452" y="3881085"/>
            <a:ext cx="8178912" cy="693746"/>
            <a:chOff x="770046" y="5484958"/>
            <a:chExt cx="4090511" cy="912824"/>
          </a:xfrm>
        </p:grpSpPr>
        <p:sp>
          <p:nvSpPr>
            <p:cNvPr id="28" name="모서리가 둥근 직사각형 27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770047" y="5625392"/>
              <a:ext cx="4090510" cy="688448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strStream.</a:t>
              </a:r>
              <a:r>
                <a:rPr lang="en-US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forEach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System.out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::</a:t>
              </a:r>
              <a:r>
                <a:rPr lang="en-US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println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)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; // 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모든 요소를 화면에 출력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최종연산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)</a:t>
              </a:r>
              <a:endParaRPr lang="en-US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numOfStr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strStream.</a:t>
              </a:r>
              <a:r>
                <a:rPr lang="en-US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count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()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;       // 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에러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. </a:t>
              </a:r>
              <a:r>
                <a:rPr lang="ko-KR" altLang="en-US" sz="1400" b="1" dirty="0" err="1" smtClean="0">
                  <a:latin typeface="Courier New" pitchFamily="49" charset="0"/>
                  <a:cs typeface="Courier New" pitchFamily="49" charset="0"/>
                </a:rPr>
                <a:t>스트림이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 이미 닫혔음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.</a:t>
              </a:r>
            </a:p>
          </p:txBody>
        </p:sp>
      </p:grpSp>
      <p:sp>
        <p:nvSpPr>
          <p:cNvPr id="30" name="Text Box 20"/>
          <p:cNvSpPr txBox="1">
            <a:spLocks noChangeArrowheads="1"/>
          </p:cNvSpPr>
          <p:nvPr/>
        </p:nvSpPr>
        <p:spPr bwMode="auto">
          <a:xfrm>
            <a:off x="473835" y="4757397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smtClean="0"/>
              <a:t>최종 연산 전까지 중간연산이 수행되지 않는다</a:t>
            </a:r>
            <a:r>
              <a:rPr lang="en-US" altLang="ko-KR" b="1" dirty="0" smtClean="0"/>
              <a:t>. – </a:t>
            </a:r>
            <a:r>
              <a:rPr lang="ko-KR" altLang="en-US" b="1" dirty="0" smtClean="0"/>
              <a:t>지연된 연산</a:t>
            </a:r>
            <a:endParaRPr lang="en-US" altLang="ko-KR" b="1" dirty="0"/>
          </a:p>
        </p:txBody>
      </p:sp>
      <p:grpSp>
        <p:nvGrpSpPr>
          <p:cNvPr id="31" name="그룹 51"/>
          <p:cNvGrpSpPr/>
          <p:nvPr/>
        </p:nvGrpSpPr>
        <p:grpSpPr>
          <a:xfrm>
            <a:off x="802452" y="5159049"/>
            <a:ext cx="8178912" cy="898887"/>
            <a:chOff x="770046" y="5484958"/>
            <a:chExt cx="4090511" cy="912824"/>
          </a:xfrm>
        </p:grpSpPr>
        <p:sp>
          <p:nvSpPr>
            <p:cNvPr id="32" name="모서리가 둥근 직사각형 31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770047" y="5559107"/>
              <a:ext cx="4090510" cy="750117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IntStream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intStream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= new Random().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ints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(1,46);  // 1~45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범위의 무한 </a:t>
              </a:r>
              <a:r>
                <a:rPr lang="ko-KR" altLang="en-US" sz="1400" b="1" dirty="0" err="1" smtClean="0">
                  <a:latin typeface="Courier New" pitchFamily="49" charset="0"/>
                  <a:cs typeface="Courier New" pitchFamily="49" charset="0"/>
                </a:rPr>
                <a:t>스트림</a:t>
              </a:r>
              <a:endParaRPr lang="en-US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intStream.</a:t>
              </a:r>
              <a:r>
                <a:rPr lang="en-US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distinct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().limit(6).sorted()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         // </a:t>
              </a:r>
              <a:r>
                <a:rPr lang="ko-KR" alt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중간 연산</a:t>
              </a:r>
              <a:endParaRPr lang="en-US" sz="1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        .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forEach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-&gt;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System.out.print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+","));  // 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최종 연산</a:t>
              </a:r>
              <a:endParaRPr lang="en-US" altLang="ko-KR" sz="1400" b="1" dirty="0" smtClean="0">
                <a:latin typeface="Courier New" pitchFamily="49" charset="0"/>
                <a:cs typeface="Courier New" pitchFamily="49" charset="0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3" grpId="0"/>
      <p:bldP spid="3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863600"/>
          </a:xfrm>
          <a:prstGeom prst="rect">
            <a:avLst/>
          </a:prstGeom>
          <a:solidFill>
            <a:srgbClr val="E4D394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576263"/>
            <a:ext cx="8388350" cy="53975"/>
          </a:xfrm>
          <a:prstGeom prst="rect">
            <a:avLst/>
          </a:prstGeom>
          <a:solidFill>
            <a:srgbClr val="81705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883525" y="42863"/>
            <a:ext cx="1368425" cy="722312"/>
            <a:chOff x="3787" y="1570"/>
            <a:chExt cx="862" cy="455"/>
          </a:xfrm>
        </p:grpSpPr>
        <p:sp>
          <p:nvSpPr>
            <p:cNvPr id="3090" name="Text Box 5"/>
            <p:cNvSpPr txBox="1">
              <a:spLocks noChangeArrowheads="1"/>
            </p:cNvSpPr>
            <p:nvPr/>
          </p:nvSpPr>
          <p:spPr bwMode="auto">
            <a:xfrm>
              <a:off x="3787" y="1570"/>
              <a:ext cx="7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2800">
                  <a:latin typeface="Elephant" pitchFamily="18" charset="0"/>
                  <a:ea typeface="굴림" charset="-127"/>
                </a:rPr>
                <a:t>Java</a:t>
              </a:r>
            </a:p>
          </p:txBody>
        </p:sp>
        <p:sp>
          <p:nvSpPr>
            <p:cNvPr id="3091" name="Text Box 6"/>
            <p:cNvSpPr txBox="1">
              <a:spLocks noChangeArrowheads="1"/>
            </p:cNvSpPr>
            <p:nvPr/>
          </p:nvSpPr>
          <p:spPr bwMode="auto">
            <a:xfrm>
              <a:off x="4308" y="1643"/>
              <a:ext cx="34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1600">
                  <a:latin typeface="HY견고딕" pitchFamily="18" charset="-127"/>
                  <a:ea typeface="HY견고딕" pitchFamily="18" charset="-127"/>
                </a:rPr>
                <a:t>의</a:t>
              </a:r>
            </a:p>
          </p:txBody>
        </p:sp>
        <p:sp>
          <p:nvSpPr>
            <p:cNvPr id="3092" name="Text Box 7"/>
            <p:cNvSpPr txBox="1">
              <a:spLocks noChangeArrowheads="1"/>
            </p:cNvSpPr>
            <p:nvPr/>
          </p:nvSpPr>
          <p:spPr bwMode="auto">
            <a:xfrm>
              <a:off x="4121" y="1775"/>
              <a:ext cx="5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2000">
                  <a:latin typeface="바탕" pitchFamily="18" charset="-127"/>
                  <a:ea typeface="HY견고딕" pitchFamily="18" charset="-127"/>
                </a:rPr>
                <a:t>정석</a:t>
              </a:r>
            </a:p>
          </p:txBody>
        </p:sp>
      </p:grp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443663" y="620713"/>
            <a:ext cx="2016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 err="1">
                <a:latin typeface="Courier New" pitchFamily="49" charset="0"/>
                <a:ea typeface="굴림" charset="-127"/>
              </a:rPr>
              <a:t>http://</a:t>
            </a:r>
            <a:r>
              <a:rPr lang="en-US" altLang="ko-KR" sz="1000" b="1" dirty="0" err="1" smtClean="0">
                <a:latin typeface="Courier New" pitchFamily="49" charset="0"/>
                <a:ea typeface="굴림" charset="-127"/>
              </a:rPr>
              <a:t>www.codechobo.com</a:t>
            </a:r>
            <a:endParaRPr lang="en-US" altLang="ko-KR" sz="1000" b="1" dirty="0">
              <a:latin typeface="Courier New" pitchFamily="49" charset="0"/>
              <a:ea typeface="굴림" charset="-127"/>
            </a:endParaRPr>
          </a:p>
        </p:txBody>
      </p:sp>
      <p:sp>
        <p:nvSpPr>
          <p:cNvPr id="3078" name="Text Box 19"/>
          <p:cNvSpPr txBox="1">
            <a:spLocks noChangeArrowheads="1"/>
          </p:cNvSpPr>
          <p:nvPr/>
        </p:nvSpPr>
        <p:spPr bwMode="auto">
          <a:xfrm>
            <a:off x="358775" y="1016000"/>
            <a:ext cx="8569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800" b="1" dirty="0" smtClean="0"/>
              <a:t>2.2  </a:t>
            </a:r>
            <a:r>
              <a:rPr lang="ko-KR" altLang="en-US" sz="2800" b="1" dirty="0" err="1" smtClean="0"/>
              <a:t>스트림</a:t>
            </a:r>
            <a:r>
              <a:rPr lang="en-US" altLang="ko-KR" sz="2800" b="1" dirty="0" smtClean="0"/>
              <a:t>(Stream)</a:t>
            </a:r>
            <a:r>
              <a:rPr lang="ko-KR" altLang="en-US" sz="2800" b="1" dirty="0" smtClean="0"/>
              <a:t>의</a:t>
            </a:r>
            <a:r>
              <a:rPr lang="en-US" altLang="ko-KR" sz="2800" b="1" dirty="0" smtClean="0"/>
              <a:t> </a:t>
            </a:r>
            <a:r>
              <a:rPr lang="ko-KR" altLang="en-US" sz="2800" b="1" dirty="0" smtClean="0"/>
              <a:t>특징</a:t>
            </a:r>
            <a:r>
              <a:rPr lang="en-US" altLang="ko-KR" sz="2800" b="1" dirty="0" smtClean="0"/>
              <a:t>(2/2)</a:t>
            </a:r>
            <a:endParaRPr lang="en-US" altLang="ko-KR" sz="2800" b="1" dirty="0"/>
          </a:p>
        </p:txBody>
      </p:sp>
      <p:sp>
        <p:nvSpPr>
          <p:cNvPr id="3089" name="Text Box 9"/>
          <p:cNvSpPr txBox="1">
            <a:spLocks noChangeArrowheads="1"/>
          </p:cNvSpPr>
          <p:nvPr/>
        </p:nvSpPr>
        <p:spPr bwMode="auto">
          <a:xfrm>
            <a:off x="146050" y="188913"/>
            <a:ext cx="5686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Chapter 14. 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람다와 스트림</a:t>
            </a: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(Lambda &amp; Stream)</a:t>
            </a:r>
          </a:p>
        </p:txBody>
      </p:sp>
      <p:sp>
        <p:nvSpPr>
          <p:cNvPr id="11" name="Text Box 20"/>
          <p:cNvSpPr txBox="1">
            <a:spLocks noChangeArrowheads="1"/>
          </p:cNvSpPr>
          <p:nvPr/>
        </p:nvSpPr>
        <p:spPr bwMode="auto">
          <a:xfrm>
            <a:off x="472270" y="1639863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err="1" smtClean="0"/>
              <a:t>스트림은</a:t>
            </a:r>
            <a:r>
              <a:rPr lang="ko-KR" altLang="en-US" b="1" dirty="0" smtClean="0"/>
              <a:t> 작업을 내부 반복으로 처리한다</a:t>
            </a:r>
            <a:r>
              <a:rPr lang="en-US" altLang="ko-KR" b="1" dirty="0" smtClean="0"/>
              <a:t>.</a:t>
            </a:r>
            <a:endParaRPr lang="en-US" altLang="ko-KR" b="1" dirty="0"/>
          </a:p>
        </p:txBody>
      </p:sp>
      <p:grpSp>
        <p:nvGrpSpPr>
          <p:cNvPr id="19" name="그룹 61"/>
          <p:cNvGrpSpPr/>
          <p:nvPr/>
        </p:nvGrpSpPr>
        <p:grpSpPr>
          <a:xfrm>
            <a:off x="774648" y="2041508"/>
            <a:ext cx="3505248" cy="693746"/>
            <a:chOff x="559454" y="3355974"/>
            <a:chExt cx="3878147" cy="1460520"/>
          </a:xfrm>
        </p:grpSpPr>
        <p:sp>
          <p:nvSpPr>
            <p:cNvPr id="20" name="모서리가 둥근 직사각형 19"/>
            <p:cNvSpPr/>
            <p:nvPr/>
          </p:nvSpPr>
          <p:spPr bwMode="auto">
            <a:xfrm>
              <a:off x="559454" y="3355974"/>
              <a:ext cx="3797352" cy="146052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628596" y="3502026"/>
              <a:ext cx="3809005" cy="9706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for(String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str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: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strList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)</a:t>
              </a: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   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System.out.println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str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);</a:t>
              </a:r>
            </a:p>
          </p:txBody>
        </p:sp>
      </p:grpSp>
      <p:grpSp>
        <p:nvGrpSpPr>
          <p:cNvPr id="25" name="그룹 57"/>
          <p:cNvGrpSpPr/>
          <p:nvPr/>
        </p:nvGrpSpPr>
        <p:grpSpPr>
          <a:xfrm>
            <a:off x="4060818" y="2041506"/>
            <a:ext cx="4892742" cy="693748"/>
            <a:chOff x="4206870" y="2479662"/>
            <a:chExt cx="4410880" cy="912825"/>
          </a:xfrm>
        </p:grpSpPr>
        <p:sp>
          <p:nvSpPr>
            <p:cNvPr id="26" name="모서리가 둥근 직사각형 25"/>
            <p:cNvSpPr/>
            <p:nvPr/>
          </p:nvSpPr>
          <p:spPr bwMode="auto">
            <a:xfrm>
              <a:off x="4681539" y="2479662"/>
              <a:ext cx="3797352" cy="912825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4856916" y="2792606"/>
              <a:ext cx="3760834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stream.forEach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System.out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::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println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);</a:t>
              </a:r>
              <a:endParaRPr lang="en-US" sz="1400" b="1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30" name="자유형 29"/>
            <p:cNvSpPr/>
            <p:nvPr/>
          </p:nvSpPr>
          <p:spPr bwMode="auto">
            <a:xfrm flipV="1">
              <a:off x="4206870" y="2808279"/>
              <a:ext cx="730260" cy="307777"/>
            </a:xfrm>
            <a:custGeom>
              <a:avLst/>
              <a:gdLst>
                <a:gd name="connsiteX0" fmla="*/ 0 w 1898676"/>
                <a:gd name="connsiteY0" fmla="*/ 152847 h 611386"/>
                <a:gd name="connsiteX1" fmla="*/ 1471066 w 1898676"/>
                <a:gd name="connsiteY1" fmla="*/ 152847 h 611386"/>
                <a:gd name="connsiteX2" fmla="*/ 1471066 w 1898676"/>
                <a:gd name="connsiteY2" fmla="*/ 0 h 611386"/>
                <a:gd name="connsiteX3" fmla="*/ 1898676 w 1898676"/>
                <a:gd name="connsiteY3" fmla="*/ 305693 h 611386"/>
                <a:gd name="connsiteX4" fmla="*/ 1471066 w 1898676"/>
                <a:gd name="connsiteY4" fmla="*/ 611386 h 611386"/>
                <a:gd name="connsiteX5" fmla="*/ 1471066 w 1898676"/>
                <a:gd name="connsiteY5" fmla="*/ 458540 h 611386"/>
                <a:gd name="connsiteX6" fmla="*/ 0 w 1898676"/>
                <a:gd name="connsiteY6" fmla="*/ 458540 h 611386"/>
                <a:gd name="connsiteX7" fmla="*/ 0 w 1898676"/>
                <a:gd name="connsiteY7" fmla="*/ 152847 h 611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8676" h="611386">
                  <a:moveTo>
                    <a:pt x="0" y="152847"/>
                  </a:moveTo>
                  <a:lnTo>
                    <a:pt x="1471066" y="152847"/>
                  </a:lnTo>
                  <a:lnTo>
                    <a:pt x="1471066" y="0"/>
                  </a:lnTo>
                  <a:lnTo>
                    <a:pt x="1898676" y="305693"/>
                  </a:lnTo>
                  <a:lnTo>
                    <a:pt x="1471066" y="611386"/>
                  </a:lnTo>
                  <a:lnTo>
                    <a:pt x="1471066" y="458540"/>
                  </a:lnTo>
                  <a:lnTo>
                    <a:pt x="0" y="458540"/>
                  </a:lnTo>
                  <a:lnTo>
                    <a:pt x="0" y="152847"/>
                  </a:lnTo>
                  <a:close/>
                </a:path>
              </a:pathLst>
            </a:custGeom>
            <a:solidFill>
              <a:schemeClr val="bg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</p:grpSp>
      <p:grpSp>
        <p:nvGrpSpPr>
          <p:cNvPr id="31" name="그룹 51"/>
          <p:cNvGrpSpPr/>
          <p:nvPr/>
        </p:nvGrpSpPr>
        <p:grpSpPr>
          <a:xfrm>
            <a:off x="774648" y="2808279"/>
            <a:ext cx="8215425" cy="1460521"/>
            <a:chOff x="770046" y="5549616"/>
            <a:chExt cx="4163555" cy="912824"/>
          </a:xfrm>
        </p:grpSpPr>
        <p:sp>
          <p:nvSpPr>
            <p:cNvPr id="32" name="모서리가 둥근 직사각형 31"/>
            <p:cNvSpPr/>
            <p:nvPr/>
          </p:nvSpPr>
          <p:spPr bwMode="auto">
            <a:xfrm>
              <a:off x="770046" y="5549616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843091" y="5583319"/>
              <a:ext cx="4090510" cy="86562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void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forEach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(Consumer&lt;? super T&gt; 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action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)  {</a:t>
              </a: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Objects.requireNonNull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(action);  // 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매개변수의 널 체크</a:t>
              </a:r>
            </a:p>
            <a:p>
              <a:pPr>
                <a:spcBef>
                  <a:spcPts val="0"/>
                </a:spcBef>
              </a:pPr>
              <a:endParaRPr lang="ko-KR" altLang="en-US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for(T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t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: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src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)  // 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내부 반복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(for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문을 </a:t>
              </a:r>
              <a:r>
                <a:rPr lang="ko-KR" altLang="en-US" sz="1400" b="1" dirty="0" err="1" smtClean="0">
                  <a:latin typeface="Courier New" pitchFamily="49" charset="0"/>
                  <a:cs typeface="Courier New" pitchFamily="49" charset="0"/>
                </a:rPr>
                <a:t>메서드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 안으로 넣음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)</a:t>
              </a:r>
              <a:endParaRPr lang="ko-KR" altLang="en-US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	     </a:t>
              </a:r>
              <a:r>
                <a:rPr lang="en-US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action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.accept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(T);</a:t>
              </a: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}</a:t>
              </a:r>
            </a:p>
          </p:txBody>
        </p:sp>
      </p:grpSp>
      <p:sp>
        <p:nvSpPr>
          <p:cNvPr id="34" name="Text Box 20"/>
          <p:cNvSpPr txBox="1">
            <a:spLocks noChangeArrowheads="1"/>
          </p:cNvSpPr>
          <p:nvPr/>
        </p:nvSpPr>
        <p:spPr bwMode="auto">
          <a:xfrm>
            <a:off x="475512" y="4414851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err="1" smtClean="0"/>
              <a:t>스트림의</a:t>
            </a:r>
            <a:r>
              <a:rPr lang="ko-KR" altLang="en-US" b="1" dirty="0" smtClean="0"/>
              <a:t> 작업을 병렬로 처리 </a:t>
            </a:r>
            <a:r>
              <a:rPr lang="en-US" altLang="ko-KR" b="1" dirty="0" smtClean="0"/>
              <a:t>– </a:t>
            </a:r>
            <a:r>
              <a:rPr lang="ko-KR" altLang="en-US" b="1" dirty="0" err="1" smtClean="0"/>
              <a:t>병렬스트림</a:t>
            </a:r>
            <a:endParaRPr lang="en-US" altLang="ko-KR" b="1" dirty="0"/>
          </a:p>
        </p:txBody>
      </p:sp>
      <p:grpSp>
        <p:nvGrpSpPr>
          <p:cNvPr id="35" name="그룹 51"/>
          <p:cNvGrpSpPr/>
          <p:nvPr/>
        </p:nvGrpSpPr>
        <p:grpSpPr>
          <a:xfrm>
            <a:off x="774648" y="4818079"/>
            <a:ext cx="8144319" cy="803285"/>
            <a:chOff x="770046" y="5549616"/>
            <a:chExt cx="4127519" cy="912824"/>
          </a:xfrm>
        </p:grpSpPr>
        <p:sp>
          <p:nvSpPr>
            <p:cNvPr id="36" name="모서리가 둥근 직사각형 35"/>
            <p:cNvSpPr/>
            <p:nvPr/>
          </p:nvSpPr>
          <p:spPr bwMode="auto">
            <a:xfrm>
              <a:off x="770046" y="5549616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807055" y="5591106"/>
              <a:ext cx="4090510" cy="839391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Stream&lt;String&gt;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strStream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Stream.of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("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dd","aaa","CC","cc","b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");</a:t>
              </a:r>
            </a:p>
            <a:p>
              <a:pPr>
                <a:spcBef>
                  <a:spcPts val="0"/>
                </a:spcBef>
              </a:pP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sum =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strStream.</a:t>
              </a:r>
              <a:r>
                <a:rPr lang="en-US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parallelStream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()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// 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병렬 </a:t>
              </a:r>
              <a:r>
                <a:rPr lang="ko-KR" altLang="en-US" sz="1400" b="1" dirty="0" err="1" smtClean="0">
                  <a:latin typeface="Courier New" pitchFamily="49" charset="0"/>
                  <a:cs typeface="Courier New" pitchFamily="49" charset="0"/>
                </a:rPr>
                <a:t>스트림으로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 전환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속성만 변경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)</a:t>
              </a:r>
              <a:endParaRPr lang="ko-KR" altLang="en-US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	       .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mapToInt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(s -&gt;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s.length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()).sum(); // 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모든 문자열의 길이의 합</a:t>
              </a:r>
              <a:endParaRPr lang="en-US" sz="1400" b="1" dirty="0" smtClean="0">
                <a:latin typeface="Courier New" pitchFamily="49" charset="0"/>
                <a:cs typeface="Courier New" pitchFamily="49" charset="0"/>
              </a:endParaRPr>
            </a:p>
          </p:txBody>
        </p:sp>
      </p:grpSp>
      <p:sp>
        <p:nvSpPr>
          <p:cNvPr id="38" name="Text Box 20"/>
          <p:cNvSpPr txBox="1">
            <a:spLocks noChangeArrowheads="1"/>
          </p:cNvSpPr>
          <p:nvPr/>
        </p:nvSpPr>
        <p:spPr bwMode="auto">
          <a:xfrm>
            <a:off x="473835" y="5727737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smtClean="0"/>
              <a:t>기본형 </a:t>
            </a:r>
            <a:r>
              <a:rPr lang="ko-KR" altLang="en-US" b="1" dirty="0" err="1" smtClean="0"/>
              <a:t>스트림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– </a:t>
            </a:r>
            <a:r>
              <a:rPr lang="en-US" altLang="ko-KR" b="1" dirty="0" err="1" smtClean="0"/>
              <a:t>IntStream</a:t>
            </a:r>
            <a:r>
              <a:rPr lang="en-US" altLang="ko-KR" b="1" dirty="0" smtClean="0"/>
              <a:t>, </a:t>
            </a:r>
            <a:r>
              <a:rPr lang="en-US" altLang="ko-KR" b="1" dirty="0" err="1" smtClean="0"/>
              <a:t>LongStream</a:t>
            </a:r>
            <a:r>
              <a:rPr lang="en-US" altLang="ko-KR" b="1" dirty="0" smtClean="0"/>
              <a:t>, </a:t>
            </a:r>
            <a:r>
              <a:rPr lang="en-US" altLang="ko-KR" b="1" dirty="0" err="1" smtClean="0"/>
              <a:t>DoubleStream</a:t>
            </a:r>
            <a:endParaRPr lang="en-US" altLang="ko-KR" b="1" dirty="0"/>
          </a:p>
        </p:txBody>
      </p:sp>
      <p:sp>
        <p:nvSpPr>
          <p:cNvPr id="40" name="Text Box 20"/>
          <p:cNvSpPr txBox="1">
            <a:spLocks noChangeArrowheads="1"/>
          </p:cNvSpPr>
          <p:nvPr/>
        </p:nvSpPr>
        <p:spPr bwMode="auto">
          <a:xfrm>
            <a:off x="373004" y="6057936"/>
            <a:ext cx="877099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66700" indent="-266700"/>
            <a:r>
              <a:rPr lang="en-US" altLang="ko-KR" b="1" dirty="0" smtClean="0"/>
              <a:t>   - </a:t>
            </a:r>
            <a:r>
              <a:rPr lang="ko-KR" altLang="en-US" b="1" dirty="0" err="1" smtClean="0"/>
              <a:t>오토박싱</a:t>
            </a:r>
            <a:r>
              <a:rPr lang="en-US" altLang="ko-KR" b="1" dirty="0" smtClean="0"/>
              <a:t>&amp;</a:t>
            </a:r>
            <a:r>
              <a:rPr lang="ko-KR" altLang="en-US" b="1" dirty="0" err="1" smtClean="0"/>
              <a:t>언박싱의</a:t>
            </a:r>
            <a:r>
              <a:rPr lang="ko-KR" altLang="en-US" b="1" dirty="0" smtClean="0"/>
              <a:t> 비효율이 제거됨</a:t>
            </a:r>
            <a:r>
              <a:rPr lang="en-US" altLang="ko-KR" b="1" dirty="0" smtClean="0"/>
              <a:t>(Stream&lt;Integer&gt;</a:t>
            </a:r>
            <a:r>
              <a:rPr lang="ko-KR" altLang="en-US" b="1" dirty="0" smtClean="0"/>
              <a:t>대신 </a:t>
            </a:r>
            <a:r>
              <a:rPr lang="en-US" altLang="ko-KR" b="1" dirty="0" err="1" smtClean="0"/>
              <a:t>IntStream</a:t>
            </a:r>
            <a:r>
              <a:rPr lang="ko-KR" altLang="en-US" b="1" dirty="0" smtClean="0"/>
              <a:t>사용</a:t>
            </a:r>
            <a:r>
              <a:rPr lang="en-US" altLang="ko-KR" b="1" dirty="0" smtClean="0"/>
              <a:t>)</a:t>
            </a:r>
          </a:p>
        </p:txBody>
      </p:sp>
      <p:sp>
        <p:nvSpPr>
          <p:cNvPr id="41" name="Text Box 20"/>
          <p:cNvSpPr txBox="1">
            <a:spLocks noChangeArrowheads="1"/>
          </p:cNvSpPr>
          <p:nvPr/>
        </p:nvSpPr>
        <p:spPr bwMode="auto">
          <a:xfrm>
            <a:off x="373005" y="6382351"/>
            <a:ext cx="86042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   - </a:t>
            </a:r>
            <a:r>
              <a:rPr lang="ko-KR" altLang="en-US" b="1" dirty="0" smtClean="0"/>
              <a:t>숫자와 관련된 유용한 </a:t>
            </a:r>
            <a:r>
              <a:rPr lang="ko-KR" altLang="en-US" b="1" dirty="0" err="1" smtClean="0"/>
              <a:t>메서드를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Stream&lt;T&gt;</a:t>
            </a:r>
            <a:r>
              <a:rPr lang="ko-KR" altLang="en-US" b="1" dirty="0" smtClean="0"/>
              <a:t>보다 더 많이 제공</a:t>
            </a:r>
            <a:endParaRPr lang="en-US" altLang="ko-KR" b="1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4" grpId="0"/>
      <p:bldP spid="38" grpId="0"/>
      <p:bldP spid="40" grpId="0"/>
      <p:bldP spid="4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863600"/>
          </a:xfrm>
          <a:prstGeom prst="rect">
            <a:avLst/>
          </a:prstGeom>
          <a:solidFill>
            <a:srgbClr val="E4D394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576263"/>
            <a:ext cx="8388350" cy="53975"/>
          </a:xfrm>
          <a:prstGeom prst="rect">
            <a:avLst/>
          </a:prstGeom>
          <a:solidFill>
            <a:srgbClr val="81705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883525" y="42863"/>
            <a:ext cx="1368425" cy="722312"/>
            <a:chOff x="3787" y="1570"/>
            <a:chExt cx="862" cy="455"/>
          </a:xfrm>
        </p:grpSpPr>
        <p:sp>
          <p:nvSpPr>
            <p:cNvPr id="3090" name="Text Box 5"/>
            <p:cNvSpPr txBox="1">
              <a:spLocks noChangeArrowheads="1"/>
            </p:cNvSpPr>
            <p:nvPr/>
          </p:nvSpPr>
          <p:spPr bwMode="auto">
            <a:xfrm>
              <a:off x="3787" y="1570"/>
              <a:ext cx="7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2800">
                  <a:latin typeface="Elephant" pitchFamily="18" charset="0"/>
                  <a:ea typeface="굴림" charset="-127"/>
                </a:rPr>
                <a:t>Java</a:t>
              </a:r>
            </a:p>
          </p:txBody>
        </p:sp>
        <p:sp>
          <p:nvSpPr>
            <p:cNvPr id="3091" name="Text Box 6"/>
            <p:cNvSpPr txBox="1">
              <a:spLocks noChangeArrowheads="1"/>
            </p:cNvSpPr>
            <p:nvPr/>
          </p:nvSpPr>
          <p:spPr bwMode="auto">
            <a:xfrm>
              <a:off x="4308" y="1643"/>
              <a:ext cx="34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1600">
                  <a:latin typeface="HY견고딕" pitchFamily="18" charset="-127"/>
                  <a:ea typeface="HY견고딕" pitchFamily="18" charset="-127"/>
                </a:rPr>
                <a:t>의</a:t>
              </a:r>
            </a:p>
          </p:txBody>
        </p:sp>
        <p:sp>
          <p:nvSpPr>
            <p:cNvPr id="3092" name="Text Box 7"/>
            <p:cNvSpPr txBox="1">
              <a:spLocks noChangeArrowheads="1"/>
            </p:cNvSpPr>
            <p:nvPr/>
          </p:nvSpPr>
          <p:spPr bwMode="auto">
            <a:xfrm>
              <a:off x="4121" y="1775"/>
              <a:ext cx="5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2000">
                  <a:latin typeface="바탕" pitchFamily="18" charset="-127"/>
                  <a:ea typeface="HY견고딕" pitchFamily="18" charset="-127"/>
                </a:rPr>
                <a:t>정석</a:t>
              </a:r>
            </a:p>
          </p:txBody>
        </p:sp>
      </p:grp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443663" y="620713"/>
            <a:ext cx="2016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 err="1">
                <a:latin typeface="Courier New" pitchFamily="49" charset="0"/>
                <a:ea typeface="굴림" charset="-127"/>
              </a:rPr>
              <a:t>http://</a:t>
            </a:r>
            <a:r>
              <a:rPr lang="en-US" altLang="ko-KR" sz="1000" b="1" dirty="0" err="1" smtClean="0">
                <a:latin typeface="Courier New" pitchFamily="49" charset="0"/>
                <a:ea typeface="굴림" charset="-127"/>
              </a:rPr>
              <a:t>www.codechobo.com</a:t>
            </a:r>
            <a:endParaRPr lang="en-US" altLang="ko-KR" sz="1000" b="1" dirty="0">
              <a:latin typeface="Courier New" pitchFamily="49" charset="0"/>
              <a:ea typeface="굴림" charset="-127"/>
            </a:endParaRPr>
          </a:p>
        </p:txBody>
      </p:sp>
      <p:sp>
        <p:nvSpPr>
          <p:cNvPr id="3078" name="Text Box 19"/>
          <p:cNvSpPr txBox="1">
            <a:spLocks noChangeArrowheads="1"/>
          </p:cNvSpPr>
          <p:nvPr/>
        </p:nvSpPr>
        <p:spPr bwMode="auto">
          <a:xfrm>
            <a:off x="358775" y="1016000"/>
            <a:ext cx="8569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800" b="1" dirty="0" smtClean="0"/>
              <a:t>2.3  </a:t>
            </a:r>
            <a:r>
              <a:rPr lang="ko-KR" altLang="en-US" sz="2800" b="1" dirty="0" err="1" smtClean="0"/>
              <a:t>스트림의</a:t>
            </a:r>
            <a:r>
              <a:rPr lang="ko-KR" altLang="en-US" sz="2800" b="1" dirty="0" smtClean="0"/>
              <a:t> 생성</a:t>
            </a:r>
            <a:r>
              <a:rPr lang="en-US" altLang="ko-KR" sz="2800" b="1" dirty="0" smtClean="0"/>
              <a:t>(1/3)</a:t>
            </a:r>
            <a:endParaRPr lang="en-US" altLang="ko-KR" sz="2800" b="1" dirty="0"/>
          </a:p>
        </p:txBody>
      </p:sp>
      <p:sp>
        <p:nvSpPr>
          <p:cNvPr id="3089" name="Text Box 9"/>
          <p:cNvSpPr txBox="1">
            <a:spLocks noChangeArrowheads="1"/>
          </p:cNvSpPr>
          <p:nvPr/>
        </p:nvSpPr>
        <p:spPr bwMode="auto">
          <a:xfrm>
            <a:off x="146050" y="188913"/>
            <a:ext cx="5686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Chapter 14. 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람다와 스트림</a:t>
            </a: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(Lambda &amp; Stream)</a:t>
            </a:r>
          </a:p>
        </p:txBody>
      </p:sp>
      <p:grpSp>
        <p:nvGrpSpPr>
          <p:cNvPr id="11" name="그룹 51"/>
          <p:cNvGrpSpPr/>
          <p:nvPr/>
        </p:nvGrpSpPr>
        <p:grpSpPr>
          <a:xfrm>
            <a:off x="774648" y="2151046"/>
            <a:ext cx="8178912" cy="693746"/>
            <a:chOff x="770046" y="5484958"/>
            <a:chExt cx="4090511" cy="912824"/>
          </a:xfrm>
        </p:grpSpPr>
        <p:sp>
          <p:nvSpPr>
            <p:cNvPr id="12" name="모서리가 둥근 직사각형 11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770047" y="5625392"/>
              <a:ext cx="4090510" cy="688448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List&lt;Integer&gt; list =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Arrays.asList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(1,2,3,4,5); </a:t>
              </a: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Stream&lt;Integer&gt;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intStream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list.</a:t>
              </a:r>
              <a:r>
                <a:rPr lang="en-US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stream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()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;// Stream&lt;T&gt;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Collection.stream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()</a:t>
              </a:r>
              <a:endParaRPr lang="ko-KR" altLang="en-US" sz="1400" b="1" dirty="0" smtClean="0">
                <a:latin typeface="Courier New" pitchFamily="49" charset="0"/>
                <a:cs typeface="Courier New" pitchFamily="49" charset="0"/>
              </a:endParaRPr>
            </a:p>
          </p:txBody>
        </p:sp>
      </p:grpSp>
      <p:sp>
        <p:nvSpPr>
          <p:cNvPr id="14" name="Text Box 20"/>
          <p:cNvSpPr txBox="1">
            <a:spLocks noChangeArrowheads="1"/>
          </p:cNvSpPr>
          <p:nvPr/>
        </p:nvSpPr>
        <p:spPr bwMode="auto">
          <a:xfrm>
            <a:off x="472270" y="1711307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smtClean="0"/>
              <a:t>컬렉션으로부터 </a:t>
            </a:r>
            <a:r>
              <a:rPr lang="ko-KR" altLang="en-US" b="1" dirty="0" err="1" smtClean="0"/>
              <a:t>스트림</a:t>
            </a:r>
            <a:r>
              <a:rPr lang="ko-KR" altLang="en-US" b="1" dirty="0" smtClean="0"/>
              <a:t> 생성하기</a:t>
            </a:r>
            <a:endParaRPr lang="en-US" altLang="ko-KR" b="1" dirty="0"/>
          </a:p>
        </p:txBody>
      </p:sp>
      <p:grpSp>
        <p:nvGrpSpPr>
          <p:cNvPr id="15" name="그룹 51"/>
          <p:cNvGrpSpPr/>
          <p:nvPr/>
        </p:nvGrpSpPr>
        <p:grpSpPr>
          <a:xfrm>
            <a:off x="774648" y="3464886"/>
            <a:ext cx="8178912" cy="1020778"/>
            <a:chOff x="770046" y="5484958"/>
            <a:chExt cx="4090511" cy="912824"/>
          </a:xfrm>
        </p:grpSpPr>
        <p:sp>
          <p:nvSpPr>
            <p:cNvPr id="16" name="모서리가 둥근 직사각형 15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770047" y="5512231"/>
              <a:ext cx="4090510" cy="853204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Stream&lt;String&gt;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strStream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Stream.of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("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a","b","c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"); // 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가변 인자</a:t>
              </a: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Stream&lt;String&gt;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strStream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Stream.of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(new String[]{"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a","b","c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"});</a:t>
              </a: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Stream&lt;String&gt;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strStream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Arrays.stream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(new String[]{"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a","b","c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"});</a:t>
              </a: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Stream&lt;String&gt;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strStream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Arrays.stream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(new String[]{"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a","b","c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"}, 0, 3);</a:t>
              </a:r>
            </a:p>
          </p:txBody>
        </p:sp>
      </p:grpSp>
      <p:sp>
        <p:nvSpPr>
          <p:cNvPr id="18" name="Text Box 20"/>
          <p:cNvSpPr txBox="1">
            <a:spLocks noChangeArrowheads="1"/>
          </p:cNvSpPr>
          <p:nvPr/>
        </p:nvSpPr>
        <p:spPr bwMode="auto">
          <a:xfrm>
            <a:off x="472270" y="3025143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smtClean="0"/>
              <a:t>배열로부터 </a:t>
            </a:r>
            <a:r>
              <a:rPr lang="ko-KR" altLang="en-US" b="1" dirty="0" err="1" smtClean="0"/>
              <a:t>스트림</a:t>
            </a:r>
            <a:r>
              <a:rPr lang="ko-KR" altLang="en-US" b="1" dirty="0" smtClean="0"/>
              <a:t> 생성하기</a:t>
            </a:r>
            <a:endParaRPr lang="en-US" altLang="ko-KR" b="1" dirty="0"/>
          </a:p>
        </p:txBody>
      </p:sp>
      <p:grpSp>
        <p:nvGrpSpPr>
          <p:cNvPr id="19" name="그룹 51"/>
          <p:cNvGrpSpPr/>
          <p:nvPr/>
        </p:nvGrpSpPr>
        <p:grpSpPr>
          <a:xfrm>
            <a:off x="774648" y="5106384"/>
            <a:ext cx="8178912" cy="622935"/>
            <a:chOff x="770046" y="5484958"/>
            <a:chExt cx="4090511" cy="912824"/>
          </a:xfrm>
        </p:grpSpPr>
        <p:sp>
          <p:nvSpPr>
            <p:cNvPr id="20" name="모서리가 둥근 직사각형 19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770047" y="5572006"/>
              <a:ext cx="4090510" cy="766706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IntStream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intStream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IntStream.range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(1, 5);       // 1,2,3,4</a:t>
              </a: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IntStream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intStream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IntStream.rangeClosed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(1, 5); // 1,2,3,4,5</a:t>
              </a:r>
            </a:p>
          </p:txBody>
        </p:sp>
      </p:grpSp>
      <p:sp>
        <p:nvSpPr>
          <p:cNvPr id="22" name="Text Box 20"/>
          <p:cNvSpPr txBox="1">
            <a:spLocks noChangeArrowheads="1"/>
          </p:cNvSpPr>
          <p:nvPr/>
        </p:nvSpPr>
        <p:spPr bwMode="auto">
          <a:xfrm>
            <a:off x="472270" y="4704740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smtClean="0"/>
              <a:t>특정 범위의 정수를 요소로 갖는 </a:t>
            </a:r>
            <a:r>
              <a:rPr lang="ko-KR" altLang="en-US" b="1" dirty="0" err="1" smtClean="0"/>
              <a:t>스트림</a:t>
            </a:r>
            <a:r>
              <a:rPr lang="ko-KR" altLang="en-US" b="1" dirty="0" smtClean="0"/>
              <a:t> 생성하기</a:t>
            </a:r>
            <a:endParaRPr lang="en-US" altLang="ko-KR" b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/>
      <p:bldP spid="2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863600"/>
          </a:xfrm>
          <a:prstGeom prst="rect">
            <a:avLst/>
          </a:prstGeom>
          <a:solidFill>
            <a:srgbClr val="E4D394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576263"/>
            <a:ext cx="8388350" cy="53975"/>
          </a:xfrm>
          <a:prstGeom prst="rect">
            <a:avLst/>
          </a:prstGeom>
          <a:solidFill>
            <a:srgbClr val="81705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883525" y="42863"/>
            <a:ext cx="1368425" cy="722312"/>
            <a:chOff x="3787" y="1570"/>
            <a:chExt cx="862" cy="455"/>
          </a:xfrm>
        </p:grpSpPr>
        <p:sp>
          <p:nvSpPr>
            <p:cNvPr id="3090" name="Text Box 5"/>
            <p:cNvSpPr txBox="1">
              <a:spLocks noChangeArrowheads="1"/>
            </p:cNvSpPr>
            <p:nvPr/>
          </p:nvSpPr>
          <p:spPr bwMode="auto">
            <a:xfrm>
              <a:off x="3787" y="1570"/>
              <a:ext cx="7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2800">
                  <a:latin typeface="Elephant" pitchFamily="18" charset="0"/>
                  <a:ea typeface="굴림" charset="-127"/>
                </a:rPr>
                <a:t>Java</a:t>
              </a:r>
            </a:p>
          </p:txBody>
        </p:sp>
        <p:sp>
          <p:nvSpPr>
            <p:cNvPr id="3091" name="Text Box 6"/>
            <p:cNvSpPr txBox="1">
              <a:spLocks noChangeArrowheads="1"/>
            </p:cNvSpPr>
            <p:nvPr/>
          </p:nvSpPr>
          <p:spPr bwMode="auto">
            <a:xfrm>
              <a:off x="4308" y="1643"/>
              <a:ext cx="34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1600">
                  <a:latin typeface="HY견고딕" pitchFamily="18" charset="-127"/>
                  <a:ea typeface="HY견고딕" pitchFamily="18" charset="-127"/>
                </a:rPr>
                <a:t>의</a:t>
              </a:r>
            </a:p>
          </p:txBody>
        </p:sp>
        <p:sp>
          <p:nvSpPr>
            <p:cNvPr id="3092" name="Text Box 7"/>
            <p:cNvSpPr txBox="1">
              <a:spLocks noChangeArrowheads="1"/>
            </p:cNvSpPr>
            <p:nvPr/>
          </p:nvSpPr>
          <p:spPr bwMode="auto">
            <a:xfrm>
              <a:off x="4121" y="1775"/>
              <a:ext cx="5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2000">
                  <a:latin typeface="바탕" pitchFamily="18" charset="-127"/>
                  <a:ea typeface="HY견고딕" pitchFamily="18" charset="-127"/>
                </a:rPr>
                <a:t>정석</a:t>
              </a:r>
            </a:p>
          </p:txBody>
        </p:sp>
      </p:grp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443663" y="620713"/>
            <a:ext cx="2016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 err="1">
                <a:latin typeface="Courier New" pitchFamily="49" charset="0"/>
                <a:ea typeface="굴림" charset="-127"/>
              </a:rPr>
              <a:t>http://</a:t>
            </a:r>
            <a:r>
              <a:rPr lang="en-US" altLang="ko-KR" sz="1000" b="1" dirty="0" err="1" smtClean="0">
                <a:latin typeface="Courier New" pitchFamily="49" charset="0"/>
                <a:ea typeface="굴림" charset="-127"/>
              </a:rPr>
              <a:t>www.codechobo.com</a:t>
            </a:r>
            <a:endParaRPr lang="en-US" altLang="ko-KR" sz="1000" b="1" dirty="0">
              <a:latin typeface="Courier New" pitchFamily="49" charset="0"/>
              <a:ea typeface="굴림" charset="-127"/>
            </a:endParaRPr>
          </a:p>
        </p:txBody>
      </p:sp>
      <p:sp>
        <p:nvSpPr>
          <p:cNvPr id="3078" name="Text Box 19"/>
          <p:cNvSpPr txBox="1">
            <a:spLocks noChangeArrowheads="1"/>
          </p:cNvSpPr>
          <p:nvPr/>
        </p:nvSpPr>
        <p:spPr bwMode="auto">
          <a:xfrm>
            <a:off x="358775" y="1016000"/>
            <a:ext cx="8569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800" b="1" dirty="0" smtClean="0"/>
              <a:t>2.3  </a:t>
            </a:r>
            <a:r>
              <a:rPr lang="ko-KR" altLang="en-US" sz="2800" b="1" dirty="0" err="1" smtClean="0"/>
              <a:t>스트림의</a:t>
            </a:r>
            <a:r>
              <a:rPr lang="ko-KR" altLang="en-US" sz="2800" b="1" dirty="0" smtClean="0"/>
              <a:t> 생성</a:t>
            </a:r>
            <a:r>
              <a:rPr lang="en-US" altLang="ko-KR" sz="2800" b="1" dirty="0" smtClean="0"/>
              <a:t>(2/3)</a:t>
            </a:r>
            <a:endParaRPr lang="en-US" altLang="ko-KR" sz="2800" b="1" dirty="0"/>
          </a:p>
        </p:txBody>
      </p:sp>
      <p:sp>
        <p:nvSpPr>
          <p:cNvPr id="3089" name="Text Box 9"/>
          <p:cNvSpPr txBox="1">
            <a:spLocks noChangeArrowheads="1"/>
          </p:cNvSpPr>
          <p:nvPr/>
        </p:nvSpPr>
        <p:spPr bwMode="auto">
          <a:xfrm>
            <a:off x="146050" y="188913"/>
            <a:ext cx="5686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Chapter 14. 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람다와 스트림</a:t>
            </a: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(Lambda &amp; Stream)</a:t>
            </a:r>
          </a:p>
        </p:txBody>
      </p:sp>
      <p:grpSp>
        <p:nvGrpSpPr>
          <p:cNvPr id="3" name="그룹 51"/>
          <p:cNvGrpSpPr/>
          <p:nvPr/>
        </p:nvGrpSpPr>
        <p:grpSpPr>
          <a:xfrm>
            <a:off x="774648" y="2151043"/>
            <a:ext cx="8251938" cy="1122266"/>
            <a:chOff x="770046" y="5484958"/>
            <a:chExt cx="4127033" cy="912824"/>
          </a:xfrm>
        </p:grpSpPr>
        <p:sp>
          <p:nvSpPr>
            <p:cNvPr id="12" name="모서리가 둥근 직사각형 11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806569" y="5570177"/>
              <a:ext cx="4090510" cy="776048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IntStreamintStream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= new Random().</a:t>
              </a:r>
              <a:r>
                <a:rPr lang="en-US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ints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()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;        // 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무한 </a:t>
              </a:r>
              <a:r>
                <a:rPr lang="ko-KR" altLang="en-US" sz="1400" b="1" dirty="0" err="1" smtClean="0">
                  <a:latin typeface="Courier New" pitchFamily="49" charset="0"/>
                  <a:cs typeface="Courier New" pitchFamily="49" charset="0"/>
                </a:rPr>
                <a:t>스트림</a:t>
              </a:r>
              <a:endParaRPr lang="ko-KR" altLang="en-US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intStream.</a:t>
              </a:r>
              <a:r>
                <a:rPr lang="en-US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limit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(5)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.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forEach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System.out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::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println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); // 5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개의 요소만 출력한다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.</a:t>
              </a:r>
            </a:p>
            <a:p>
              <a:pPr>
                <a:spcBef>
                  <a:spcPts val="0"/>
                </a:spcBef>
              </a:pPr>
              <a:endParaRPr lang="en-US" altLang="ko-KR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altLang="ko-KR" sz="1400" b="1" dirty="0" err="1" smtClean="0">
                  <a:latin typeface="Courier New" pitchFamily="49" charset="0"/>
                  <a:cs typeface="Courier New" pitchFamily="49" charset="0"/>
                </a:rPr>
                <a:t>IntStream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altLang="ko-KR" sz="1400" b="1" dirty="0" err="1" smtClean="0">
                  <a:latin typeface="Courier New" pitchFamily="49" charset="0"/>
                  <a:cs typeface="Courier New" pitchFamily="49" charset="0"/>
                </a:rPr>
                <a:t>intStream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 = new Random().</a:t>
              </a:r>
              <a:r>
                <a:rPr lang="en-US" altLang="ko-KR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ints</a:t>
              </a:r>
              <a:r>
                <a:rPr lang="en-US" altLang="ko-KR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(5)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;  // 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크기가 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5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인 난수 </a:t>
              </a:r>
              <a:r>
                <a:rPr lang="ko-KR" altLang="en-US" sz="1400" b="1" dirty="0" err="1" smtClean="0">
                  <a:latin typeface="Courier New" pitchFamily="49" charset="0"/>
                  <a:cs typeface="Courier New" pitchFamily="49" charset="0"/>
                </a:rPr>
                <a:t>스트림을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 반환</a:t>
              </a:r>
              <a:endParaRPr lang="en-US" altLang="ko-KR" sz="1400" b="1" dirty="0" smtClean="0">
                <a:latin typeface="Courier New" pitchFamily="49" charset="0"/>
                <a:cs typeface="Courier New" pitchFamily="49" charset="0"/>
              </a:endParaRPr>
            </a:p>
          </p:txBody>
        </p:sp>
      </p:grpSp>
      <p:sp>
        <p:nvSpPr>
          <p:cNvPr id="14" name="Text Box 20"/>
          <p:cNvSpPr txBox="1">
            <a:spLocks noChangeArrowheads="1"/>
          </p:cNvSpPr>
          <p:nvPr/>
        </p:nvSpPr>
        <p:spPr bwMode="auto">
          <a:xfrm>
            <a:off x="472270" y="1711307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err="1" smtClean="0"/>
              <a:t>난수를</a:t>
            </a:r>
            <a:r>
              <a:rPr lang="ko-KR" altLang="en-US" b="1" dirty="0" smtClean="0"/>
              <a:t> 요소로 갖는 </a:t>
            </a:r>
            <a:r>
              <a:rPr lang="ko-KR" altLang="en-US" b="1" dirty="0" err="1" smtClean="0"/>
              <a:t>스트림</a:t>
            </a:r>
            <a:r>
              <a:rPr lang="ko-KR" altLang="en-US" b="1" dirty="0" smtClean="0"/>
              <a:t> 생성하기</a:t>
            </a:r>
            <a:endParaRPr lang="en-US" altLang="ko-KR" b="1" dirty="0"/>
          </a:p>
        </p:txBody>
      </p:sp>
      <p:grpSp>
        <p:nvGrpSpPr>
          <p:cNvPr id="4" name="그룹 51"/>
          <p:cNvGrpSpPr/>
          <p:nvPr/>
        </p:nvGrpSpPr>
        <p:grpSpPr>
          <a:xfrm>
            <a:off x="774648" y="3392487"/>
            <a:ext cx="8251938" cy="942981"/>
            <a:chOff x="770046" y="5484958"/>
            <a:chExt cx="4127033" cy="912824"/>
          </a:xfrm>
        </p:grpSpPr>
        <p:sp>
          <p:nvSpPr>
            <p:cNvPr id="24" name="모서리가 둥근 직사각형 23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806569" y="5570174"/>
              <a:ext cx="4090510" cy="727718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           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Integer.MIN_VALUE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&lt;= 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ints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()  &lt;=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Integer.MAX_VALUE</a:t>
              </a:r>
              <a:endParaRPr lang="en-US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              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Long.MIN_VALUE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&lt;=  longs() &lt;=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Long.MAX_VALUE</a:t>
              </a:r>
              <a:endParaRPr lang="en-US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                          0.0 &lt;= doubles()</a:t>
              </a:r>
              <a:r>
                <a:rPr lang="en-US" sz="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&lt; 1.0</a:t>
              </a:r>
            </a:p>
          </p:txBody>
        </p:sp>
      </p:grpSp>
      <p:grpSp>
        <p:nvGrpSpPr>
          <p:cNvPr id="5" name="그룹 51"/>
          <p:cNvGrpSpPr/>
          <p:nvPr/>
        </p:nvGrpSpPr>
        <p:grpSpPr>
          <a:xfrm>
            <a:off x="779231" y="4935668"/>
            <a:ext cx="8251938" cy="1669963"/>
            <a:chOff x="770046" y="5484959"/>
            <a:chExt cx="4127033" cy="912824"/>
          </a:xfrm>
        </p:grpSpPr>
        <p:sp>
          <p:nvSpPr>
            <p:cNvPr id="27" name="모서리가 둥근 직사각형 26"/>
            <p:cNvSpPr/>
            <p:nvPr/>
          </p:nvSpPr>
          <p:spPr bwMode="auto">
            <a:xfrm>
              <a:off x="770046" y="5484959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806569" y="5533516"/>
              <a:ext cx="4090510" cy="82435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IntStream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  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ints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begin,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end)                    // 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무한 </a:t>
              </a:r>
              <a:r>
                <a:rPr lang="ko-KR" altLang="en-US" sz="1400" b="1" dirty="0" err="1" smtClean="0">
                  <a:latin typeface="Courier New" pitchFamily="49" charset="0"/>
                  <a:cs typeface="Courier New" pitchFamily="49" charset="0"/>
                </a:rPr>
                <a:t>스트림</a:t>
              </a:r>
              <a:endParaRPr lang="en-US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LongStream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  longs(long begin, long end)  </a:t>
              </a: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DoubleStream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doubles(double begin, double end)</a:t>
              </a:r>
            </a:p>
            <a:p>
              <a:pPr>
                <a:spcBef>
                  <a:spcPts val="0"/>
                </a:spcBef>
              </a:pPr>
              <a:endParaRPr lang="en-US" sz="8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IntStream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  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ints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(long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streamSize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begin,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end)   // 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유한 </a:t>
              </a:r>
              <a:r>
                <a:rPr lang="ko-KR" altLang="en-US" sz="1400" b="1" dirty="0" err="1" smtClean="0">
                  <a:latin typeface="Courier New" pitchFamily="49" charset="0"/>
                  <a:cs typeface="Courier New" pitchFamily="49" charset="0"/>
                </a:rPr>
                <a:t>스트림</a:t>
              </a:r>
              <a:endParaRPr lang="en-US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LongStream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  longs(long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streamSize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, long begin, long end)</a:t>
              </a: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DoubleStream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doubles(long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streamSize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, double begin, double end)</a:t>
              </a:r>
            </a:p>
          </p:txBody>
        </p:sp>
      </p:grpSp>
      <p:sp>
        <p:nvSpPr>
          <p:cNvPr id="29" name="Text Box 20"/>
          <p:cNvSpPr txBox="1">
            <a:spLocks noChangeArrowheads="1"/>
          </p:cNvSpPr>
          <p:nvPr/>
        </p:nvSpPr>
        <p:spPr bwMode="auto">
          <a:xfrm>
            <a:off x="299979" y="4587479"/>
            <a:ext cx="86042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sz="1600" b="1" dirty="0" smtClean="0"/>
              <a:t>    * </a:t>
            </a:r>
            <a:r>
              <a:rPr lang="ko-KR" altLang="en-US" sz="1600" b="1" dirty="0" smtClean="0"/>
              <a:t>지정된 범위의 </a:t>
            </a:r>
            <a:r>
              <a:rPr lang="ko-KR" altLang="en-US" sz="1600" b="1" dirty="0" err="1" smtClean="0"/>
              <a:t>난수를</a:t>
            </a:r>
            <a:r>
              <a:rPr lang="ko-KR" altLang="en-US" sz="1600" b="1" dirty="0" smtClean="0"/>
              <a:t> 요소로 갖는 </a:t>
            </a:r>
            <a:r>
              <a:rPr lang="ko-KR" altLang="en-US" sz="1600" b="1" dirty="0" err="1" smtClean="0"/>
              <a:t>스트림을</a:t>
            </a:r>
            <a:r>
              <a:rPr lang="ko-KR" altLang="en-US" sz="1600" b="1" dirty="0" smtClean="0"/>
              <a:t> 생성하는 </a:t>
            </a:r>
            <a:r>
              <a:rPr lang="ko-KR" altLang="en-US" sz="1600" b="1" dirty="0" err="1" smtClean="0"/>
              <a:t>메서드</a:t>
            </a:r>
            <a:endParaRPr lang="en-US" altLang="ko-KR" sz="1600" b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9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863600"/>
          </a:xfrm>
          <a:prstGeom prst="rect">
            <a:avLst/>
          </a:prstGeom>
          <a:solidFill>
            <a:srgbClr val="E4D394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576263"/>
            <a:ext cx="8388350" cy="53975"/>
          </a:xfrm>
          <a:prstGeom prst="rect">
            <a:avLst/>
          </a:prstGeom>
          <a:solidFill>
            <a:srgbClr val="81705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883525" y="42863"/>
            <a:ext cx="1368425" cy="722312"/>
            <a:chOff x="3787" y="1570"/>
            <a:chExt cx="862" cy="455"/>
          </a:xfrm>
        </p:grpSpPr>
        <p:sp>
          <p:nvSpPr>
            <p:cNvPr id="3090" name="Text Box 5"/>
            <p:cNvSpPr txBox="1">
              <a:spLocks noChangeArrowheads="1"/>
            </p:cNvSpPr>
            <p:nvPr/>
          </p:nvSpPr>
          <p:spPr bwMode="auto">
            <a:xfrm>
              <a:off x="3787" y="1570"/>
              <a:ext cx="7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2800">
                  <a:latin typeface="Elephant" pitchFamily="18" charset="0"/>
                  <a:ea typeface="굴림" charset="-127"/>
                </a:rPr>
                <a:t>Java</a:t>
              </a:r>
            </a:p>
          </p:txBody>
        </p:sp>
        <p:sp>
          <p:nvSpPr>
            <p:cNvPr id="3091" name="Text Box 6"/>
            <p:cNvSpPr txBox="1">
              <a:spLocks noChangeArrowheads="1"/>
            </p:cNvSpPr>
            <p:nvPr/>
          </p:nvSpPr>
          <p:spPr bwMode="auto">
            <a:xfrm>
              <a:off x="4308" y="1643"/>
              <a:ext cx="34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1600">
                  <a:latin typeface="HY견고딕" pitchFamily="18" charset="-127"/>
                  <a:ea typeface="HY견고딕" pitchFamily="18" charset="-127"/>
                </a:rPr>
                <a:t>의</a:t>
              </a:r>
            </a:p>
          </p:txBody>
        </p:sp>
        <p:sp>
          <p:nvSpPr>
            <p:cNvPr id="3092" name="Text Box 7"/>
            <p:cNvSpPr txBox="1">
              <a:spLocks noChangeArrowheads="1"/>
            </p:cNvSpPr>
            <p:nvPr/>
          </p:nvSpPr>
          <p:spPr bwMode="auto">
            <a:xfrm>
              <a:off x="4121" y="1775"/>
              <a:ext cx="5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2000">
                  <a:latin typeface="바탕" pitchFamily="18" charset="-127"/>
                  <a:ea typeface="HY견고딕" pitchFamily="18" charset="-127"/>
                </a:rPr>
                <a:t>정석</a:t>
              </a:r>
            </a:p>
          </p:txBody>
        </p:sp>
      </p:grp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443663" y="620713"/>
            <a:ext cx="2016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 err="1">
                <a:latin typeface="Courier New" pitchFamily="49" charset="0"/>
                <a:ea typeface="굴림" charset="-127"/>
              </a:rPr>
              <a:t>http://</a:t>
            </a:r>
            <a:r>
              <a:rPr lang="en-US" altLang="ko-KR" sz="1000" b="1" dirty="0" err="1" smtClean="0">
                <a:latin typeface="Courier New" pitchFamily="49" charset="0"/>
                <a:ea typeface="굴림" charset="-127"/>
              </a:rPr>
              <a:t>www.codechobo.com</a:t>
            </a:r>
            <a:endParaRPr lang="en-US" altLang="ko-KR" sz="1000" b="1" dirty="0">
              <a:latin typeface="Courier New" pitchFamily="49" charset="0"/>
              <a:ea typeface="굴림" charset="-127"/>
            </a:endParaRPr>
          </a:p>
        </p:txBody>
      </p:sp>
      <p:sp>
        <p:nvSpPr>
          <p:cNvPr id="3078" name="Text Box 19"/>
          <p:cNvSpPr txBox="1">
            <a:spLocks noChangeArrowheads="1"/>
          </p:cNvSpPr>
          <p:nvPr/>
        </p:nvSpPr>
        <p:spPr bwMode="auto">
          <a:xfrm>
            <a:off x="358775" y="1016000"/>
            <a:ext cx="8569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800" b="1" dirty="0" smtClean="0"/>
              <a:t>2.3  </a:t>
            </a:r>
            <a:r>
              <a:rPr lang="ko-KR" altLang="en-US" sz="2800" b="1" dirty="0" err="1" smtClean="0"/>
              <a:t>스트림의</a:t>
            </a:r>
            <a:r>
              <a:rPr lang="ko-KR" altLang="en-US" sz="2800" b="1" dirty="0" smtClean="0"/>
              <a:t> 생성</a:t>
            </a:r>
            <a:r>
              <a:rPr lang="en-US" altLang="ko-KR" sz="2800" b="1" dirty="0" smtClean="0"/>
              <a:t>(3/3)</a:t>
            </a:r>
            <a:endParaRPr lang="en-US" altLang="ko-KR" sz="2800" b="1" dirty="0"/>
          </a:p>
        </p:txBody>
      </p:sp>
      <p:sp>
        <p:nvSpPr>
          <p:cNvPr id="3089" name="Text Box 9"/>
          <p:cNvSpPr txBox="1">
            <a:spLocks noChangeArrowheads="1"/>
          </p:cNvSpPr>
          <p:nvPr/>
        </p:nvSpPr>
        <p:spPr bwMode="auto">
          <a:xfrm>
            <a:off x="146050" y="188913"/>
            <a:ext cx="5686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Chapter 14. 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람다와 스트림</a:t>
            </a: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(Lambda &amp; Stream)</a:t>
            </a:r>
          </a:p>
        </p:txBody>
      </p:sp>
      <p:grpSp>
        <p:nvGrpSpPr>
          <p:cNvPr id="3" name="그룹 51"/>
          <p:cNvGrpSpPr/>
          <p:nvPr/>
        </p:nvGrpSpPr>
        <p:grpSpPr>
          <a:xfrm>
            <a:off x="774648" y="2151043"/>
            <a:ext cx="8251938" cy="657236"/>
            <a:chOff x="770046" y="5484958"/>
            <a:chExt cx="4127033" cy="912824"/>
          </a:xfrm>
        </p:grpSpPr>
        <p:sp>
          <p:nvSpPr>
            <p:cNvPr id="12" name="모서리가 둥근 직사각형 11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806569" y="5570177"/>
              <a:ext cx="4090510" cy="726691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static &lt;T&gt; Stream&lt;T&gt; 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iterate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(T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seed,UnaryOperator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&lt;T&gt; f) // 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이전 요소에 종속적</a:t>
              </a:r>
              <a:endParaRPr lang="en-US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static &lt;T&gt; Stream&lt;T&gt; 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generate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(Supplier&lt;T&gt; s)            // 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이전 요소에 독립적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</a:p>
          </p:txBody>
        </p:sp>
      </p:grpSp>
      <p:sp>
        <p:nvSpPr>
          <p:cNvPr id="14" name="Text Box 20"/>
          <p:cNvSpPr txBox="1">
            <a:spLocks noChangeArrowheads="1"/>
          </p:cNvSpPr>
          <p:nvPr/>
        </p:nvSpPr>
        <p:spPr bwMode="auto">
          <a:xfrm>
            <a:off x="472270" y="1711307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err="1" smtClean="0"/>
              <a:t>람다식을</a:t>
            </a:r>
            <a:r>
              <a:rPr lang="ko-KR" altLang="en-US" b="1" dirty="0" smtClean="0"/>
              <a:t> 소스로 하는 </a:t>
            </a:r>
            <a:r>
              <a:rPr lang="ko-KR" altLang="en-US" b="1" dirty="0" err="1" smtClean="0"/>
              <a:t>스트림</a:t>
            </a:r>
            <a:r>
              <a:rPr lang="ko-KR" altLang="en-US" b="1" dirty="0" smtClean="0"/>
              <a:t> 생성하기</a:t>
            </a:r>
            <a:endParaRPr lang="en-US" altLang="ko-KR" b="1" dirty="0"/>
          </a:p>
        </p:txBody>
      </p:sp>
      <p:grpSp>
        <p:nvGrpSpPr>
          <p:cNvPr id="22" name="그룹 51"/>
          <p:cNvGrpSpPr/>
          <p:nvPr/>
        </p:nvGrpSpPr>
        <p:grpSpPr>
          <a:xfrm>
            <a:off x="774648" y="2990844"/>
            <a:ext cx="8251938" cy="1022367"/>
            <a:chOff x="770046" y="5484958"/>
            <a:chExt cx="4127033" cy="912824"/>
          </a:xfrm>
        </p:grpSpPr>
        <p:sp>
          <p:nvSpPr>
            <p:cNvPr id="23" name="모서리가 둥근 직사각형 22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806569" y="5563135"/>
              <a:ext cx="4090510" cy="769438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Stream&lt;Integer&gt;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evenStream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  =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Stream.iterate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(0, 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n-&gt;n+2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);  // 0,2,4,6, ...</a:t>
              </a:r>
            </a:p>
            <a:p>
              <a:pPr>
                <a:spcBef>
                  <a:spcPts val="0"/>
                </a:spcBef>
              </a:pPr>
              <a:endParaRPr lang="en-US" sz="8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Stream&lt;Double&gt; 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randomStream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Stream.generate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Math::random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Stream&lt;Integer&gt;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oneStream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   =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Stream.generate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()-&gt;1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);</a:t>
              </a:r>
            </a:p>
          </p:txBody>
        </p:sp>
      </p:grpSp>
      <p:grpSp>
        <p:nvGrpSpPr>
          <p:cNvPr id="30" name="그룹 51"/>
          <p:cNvGrpSpPr/>
          <p:nvPr/>
        </p:nvGrpSpPr>
        <p:grpSpPr>
          <a:xfrm>
            <a:off x="779231" y="4670425"/>
            <a:ext cx="8251938" cy="508643"/>
            <a:chOff x="770046" y="5484958"/>
            <a:chExt cx="4127033" cy="912824"/>
          </a:xfrm>
        </p:grpSpPr>
        <p:sp>
          <p:nvSpPr>
            <p:cNvPr id="31" name="모서리가 둥근 직사각형 30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806569" y="5681554"/>
              <a:ext cx="4090510" cy="552345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Stream&lt;Path&gt;  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Files.list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(Path dir)   // Path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는 파일 또는 디렉토리</a:t>
              </a:r>
              <a:endParaRPr lang="en-US" sz="1400" b="1" dirty="0" smtClean="0">
                <a:latin typeface="Courier New" pitchFamily="49" charset="0"/>
                <a:cs typeface="Courier New" pitchFamily="49" charset="0"/>
              </a:endParaRPr>
            </a:p>
          </p:txBody>
        </p:sp>
      </p:grpSp>
      <p:sp>
        <p:nvSpPr>
          <p:cNvPr id="33" name="Text Box 20"/>
          <p:cNvSpPr txBox="1">
            <a:spLocks noChangeArrowheads="1"/>
          </p:cNvSpPr>
          <p:nvPr/>
        </p:nvSpPr>
        <p:spPr bwMode="auto">
          <a:xfrm>
            <a:off x="476853" y="4230695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smtClean="0"/>
              <a:t>파일을 소스로 하는 </a:t>
            </a:r>
            <a:r>
              <a:rPr lang="ko-KR" altLang="en-US" b="1" dirty="0" err="1" smtClean="0"/>
              <a:t>스트림</a:t>
            </a:r>
            <a:r>
              <a:rPr lang="ko-KR" altLang="en-US" b="1" dirty="0" smtClean="0"/>
              <a:t> 생성하기</a:t>
            </a:r>
            <a:endParaRPr lang="en-US" altLang="ko-KR" b="1" dirty="0"/>
          </a:p>
        </p:txBody>
      </p:sp>
      <p:grpSp>
        <p:nvGrpSpPr>
          <p:cNvPr id="34" name="그룹 51"/>
          <p:cNvGrpSpPr/>
          <p:nvPr/>
        </p:nvGrpSpPr>
        <p:grpSpPr>
          <a:xfrm>
            <a:off x="779231" y="5364180"/>
            <a:ext cx="8251938" cy="876321"/>
            <a:chOff x="770046" y="5484958"/>
            <a:chExt cx="4127033" cy="912824"/>
          </a:xfrm>
        </p:grpSpPr>
        <p:sp>
          <p:nvSpPr>
            <p:cNvPr id="35" name="모서리가 둥근 직사각형 34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806569" y="5911348"/>
              <a:ext cx="4090510" cy="410366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Stream&lt;String&gt;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Files.lines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(Path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path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)  </a:t>
              </a: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Stream&lt;String&gt;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Files.lines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(Path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path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Charset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cs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)</a:t>
              </a:r>
              <a:endParaRPr lang="en-US" sz="8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Stream&lt;String&gt; lines() //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BufferedReader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클래스의 </a:t>
              </a:r>
              <a:r>
                <a:rPr lang="ko-KR" altLang="en-US" sz="1400" b="1" dirty="0" err="1" smtClean="0">
                  <a:latin typeface="Courier New" pitchFamily="49" charset="0"/>
                  <a:cs typeface="Courier New" pitchFamily="49" charset="0"/>
                </a:rPr>
                <a:t>메서드</a:t>
              </a:r>
              <a:endParaRPr lang="ko-KR" altLang="en-US" sz="1400" b="1" dirty="0" smtClean="0">
                <a:latin typeface="Courier New" pitchFamily="49" charset="0"/>
                <a:cs typeface="Courier New" pitchFamily="49" charset="0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863600"/>
          </a:xfrm>
          <a:prstGeom prst="rect">
            <a:avLst/>
          </a:prstGeom>
          <a:solidFill>
            <a:srgbClr val="E4D394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576263"/>
            <a:ext cx="8388350" cy="53975"/>
          </a:xfrm>
          <a:prstGeom prst="rect">
            <a:avLst/>
          </a:prstGeom>
          <a:solidFill>
            <a:srgbClr val="81705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883525" y="42863"/>
            <a:ext cx="1368425" cy="722312"/>
            <a:chOff x="3787" y="1570"/>
            <a:chExt cx="862" cy="455"/>
          </a:xfrm>
        </p:grpSpPr>
        <p:sp>
          <p:nvSpPr>
            <p:cNvPr id="3090" name="Text Box 5"/>
            <p:cNvSpPr txBox="1">
              <a:spLocks noChangeArrowheads="1"/>
            </p:cNvSpPr>
            <p:nvPr/>
          </p:nvSpPr>
          <p:spPr bwMode="auto">
            <a:xfrm>
              <a:off x="3787" y="1570"/>
              <a:ext cx="7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2800">
                  <a:latin typeface="Elephant" pitchFamily="18" charset="0"/>
                  <a:ea typeface="굴림" charset="-127"/>
                </a:rPr>
                <a:t>Java</a:t>
              </a:r>
            </a:p>
          </p:txBody>
        </p:sp>
        <p:sp>
          <p:nvSpPr>
            <p:cNvPr id="3091" name="Text Box 6"/>
            <p:cNvSpPr txBox="1">
              <a:spLocks noChangeArrowheads="1"/>
            </p:cNvSpPr>
            <p:nvPr/>
          </p:nvSpPr>
          <p:spPr bwMode="auto">
            <a:xfrm>
              <a:off x="4308" y="1643"/>
              <a:ext cx="34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1600">
                  <a:latin typeface="HY견고딕" pitchFamily="18" charset="-127"/>
                  <a:ea typeface="HY견고딕" pitchFamily="18" charset="-127"/>
                </a:rPr>
                <a:t>의</a:t>
              </a:r>
            </a:p>
          </p:txBody>
        </p:sp>
        <p:sp>
          <p:nvSpPr>
            <p:cNvPr id="3092" name="Text Box 7"/>
            <p:cNvSpPr txBox="1">
              <a:spLocks noChangeArrowheads="1"/>
            </p:cNvSpPr>
            <p:nvPr/>
          </p:nvSpPr>
          <p:spPr bwMode="auto">
            <a:xfrm>
              <a:off x="4121" y="1775"/>
              <a:ext cx="5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2000">
                  <a:latin typeface="바탕" pitchFamily="18" charset="-127"/>
                  <a:ea typeface="HY견고딕" pitchFamily="18" charset="-127"/>
                </a:rPr>
                <a:t>정석</a:t>
              </a:r>
            </a:p>
          </p:txBody>
        </p:sp>
      </p:grp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443663" y="620713"/>
            <a:ext cx="2016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 err="1">
                <a:latin typeface="Courier New" pitchFamily="49" charset="0"/>
                <a:ea typeface="굴림" charset="-127"/>
              </a:rPr>
              <a:t>http://</a:t>
            </a:r>
            <a:r>
              <a:rPr lang="en-US" altLang="ko-KR" sz="1000" b="1" dirty="0" err="1" smtClean="0">
                <a:latin typeface="Courier New" pitchFamily="49" charset="0"/>
                <a:ea typeface="굴림" charset="-127"/>
              </a:rPr>
              <a:t>www.codechobo.com</a:t>
            </a:r>
            <a:endParaRPr lang="en-US" altLang="ko-KR" sz="1000" b="1" dirty="0">
              <a:latin typeface="Courier New" pitchFamily="49" charset="0"/>
              <a:ea typeface="굴림" charset="-127"/>
            </a:endParaRPr>
          </a:p>
        </p:txBody>
      </p:sp>
      <p:sp>
        <p:nvSpPr>
          <p:cNvPr id="3078" name="Text Box 19"/>
          <p:cNvSpPr txBox="1">
            <a:spLocks noChangeArrowheads="1"/>
          </p:cNvSpPr>
          <p:nvPr/>
        </p:nvSpPr>
        <p:spPr bwMode="auto">
          <a:xfrm>
            <a:off x="358775" y="1016000"/>
            <a:ext cx="8569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800" b="1" dirty="0" smtClean="0"/>
              <a:t>2.4  </a:t>
            </a:r>
            <a:r>
              <a:rPr lang="ko-KR" altLang="en-US" sz="2800" b="1" dirty="0" err="1" smtClean="0"/>
              <a:t>스트림의</a:t>
            </a:r>
            <a:r>
              <a:rPr lang="ko-KR" altLang="en-US" sz="2800" b="1" dirty="0" smtClean="0"/>
              <a:t> 중간연산</a:t>
            </a:r>
            <a:r>
              <a:rPr lang="en-US" altLang="ko-KR" sz="2800" b="1" dirty="0" smtClean="0"/>
              <a:t>(1/6)</a:t>
            </a:r>
            <a:endParaRPr lang="en-US" altLang="ko-KR" sz="2800" b="1" dirty="0"/>
          </a:p>
        </p:txBody>
      </p:sp>
      <p:sp>
        <p:nvSpPr>
          <p:cNvPr id="3089" name="Text Box 9"/>
          <p:cNvSpPr txBox="1">
            <a:spLocks noChangeArrowheads="1"/>
          </p:cNvSpPr>
          <p:nvPr/>
        </p:nvSpPr>
        <p:spPr bwMode="auto">
          <a:xfrm>
            <a:off x="146050" y="188913"/>
            <a:ext cx="5686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Chapter 14. 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람다와 스트림</a:t>
            </a: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(Lambda &amp; Stream)</a:t>
            </a:r>
          </a:p>
        </p:txBody>
      </p:sp>
      <p:grpSp>
        <p:nvGrpSpPr>
          <p:cNvPr id="3" name="그룹 51"/>
          <p:cNvGrpSpPr/>
          <p:nvPr/>
        </p:nvGrpSpPr>
        <p:grpSpPr>
          <a:xfrm>
            <a:off x="774648" y="2041515"/>
            <a:ext cx="8251938" cy="657237"/>
            <a:chOff x="770046" y="5484958"/>
            <a:chExt cx="4127033" cy="912824"/>
          </a:xfrm>
        </p:grpSpPr>
        <p:sp>
          <p:nvSpPr>
            <p:cNvPr id="12" name="모서리가 둥근 직사각형 11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806569" y="5570171"/>
              <a:ext cx="4090510" cy="726691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Stream&lt;T&gt; skip(long n)        // 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앞에서부터 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n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개 건너뛰기</a:t>
              </a:r>
              <a:endParaRPr lang="en-US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Stream&lt;T&gt; limit(long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maxSize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) // </a:t>
              </a:r>
              <a:r>
                <a:rPr lang="en-US" altLang="ko-KR" sz="1400" b="1" dirty="0" err="1" smtClean="0">
                  <a:latin typeface="Courier New" pitchFamily="49" charset="0"/>
                  <a:cs typeface="Courier New" pitchFamily="49" charset="0"/>
                </a:rPr>
                <a:t>maxSize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이후의 요소는 잘라냄</a:t>
              </a:r>
              <a:endParaRPr lang="en-US" sz="1400" b="1" dirty="0" smtClean="0">
                <a:latin typeface="Courier New" pitchFamily="49" charset="0"/>
                <a:cs typeface="Courier New" pitchFamily="49" charset="0"/>
              </a:endParaRPr>
            </a:p>
          </p:txBody>
        </p:sp>
      </p:grpSp>
      <p:sp>
        <p:nvSpPr>
          <p:cNvPr id="14" name="Text Box 20"/>
          <p:cNvSpPr txBox="1">
            <a:spLocks noChangeArrowheads="1"/>
          </p:cNvSpPr>
          <p:nvPr/>
        </p:nvSpPr>
        <p:spPr bwMode="auto">
          <a:xfrm>
            <a:off x="472270" y="1601772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err="1" smtClean="0"/>
              <a:t>스트림</a:t>
            </a:r>
            <a:r>
              <a:rPr lang="ko-KR" altLang="en-US" b="1" dirty="0" smtClean="0"/>
              <a:t> 자르기 </a:t>
            </a:r>
            <a:r>
              <a:rPr lang="en-US" altLang="ko-KR" b="1" dirty="0" smtClean="0"/>
              <a:t>– skip(</a:t>
            </a:r>
            <a:r>
              <a:rPr lang="en-US" altLang="ko-KR" sz="800" b="1" dirty="0" smtClean="0"/>
              <a:t> </a:t>
            </a:r>
            <a:r>
              <a:rPr lang="en-US" altLang="ko-KR" b="1" dirty="0" smtClean="0"/>
              <a:t>), limit(</a:t>
            </a:r>
            <a:r>
              <a:rPr lang="en-US" altLang="ko-KR" sz="600" b="1" dirty="0" smtClean="0"/>
              <a:t> </a:t>
            </a:r>
            <a:r>
              <a:rPr lang="en-US" altLang="ko-KR" b="1" dirty="0" smtClean="0"/>
              <a:t>)</a:t>
            </a:r>
            <a:endParaRPr lang="en-US" altLang="ko-KR" b="1" dirty="0"/>
          </a:p>
        </p:txBody>
      </p:sp>
      <p:sp>
        <p:nvSpPr>
          <p:cNvPr id="33" name="Text Box 20"/>
          <p:cNvSpPr txBox="1">
            <a:spLocks noChangeArrowheads="1"/>
          </p:cNvSpPr>
          <p:nvPr/>
        </p:nvSpPr>
        <p:spPr bwMode="auto">
          <a:xfrm>
            <a:off x="476853" y="3611565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err="1" smtClean="0"/>
              <a:t>스트림의</a:t>
            </a:r>
            <a:r>
              <a:rPr lang="ko-KR" altLang="en-US" b="1" dirty="0" smtClean="0"/>
              <a:t> 요소 걸러내기 </a:t>
            </a:r>
            <a:r>
              <a:rPr lang="en-US" altLang="ko-KR" b="1" dirty="0" smtClean="0"/>
              <a:t>– filter(</a:t>
            </a:r>
            <a:r>
              <a:rPr lang="en-US" altLang="ko-KR" sz="600" b="1" dirty="0" smtClean="0"/>
              <a:t> </a:t>
            </a:r>
            <a:r>
              <a:rPr lang="en-US" altLang="ko-KR" b="1" dirty="0" smtClean="0"/>
              <a:t>), distinct(</a:t>
            </a:r>
            <a:r>
              <a:rPr lang="en-US" altLang="ko-KR" sz="600" b="1" dirty="0" smtClean="0"/>
              <a:t> </a:t>
            </a:r>
            <a:r>
              <a:rPr lang="en-US" altLang="ko-KR" b="1" dirty="0" smtClean="0"/>
              <a:t>)</a:t>
            </a:r>
            <a:endParaRPr lang="en-US" altLang="ko-KR" b="1" dirty="0"/>
          </a:p>
        </p:txBody>
      </p:sp>
      <p:grpSp>
        <p:nvGrpSpPr>
          <p:cNvPr id="25" name="그룹 51"/>
          <p:cNvGrpSpPr/>
          <p:nvPr/>
        </p:nvGrpSpPr>
        <p:grpSpPr>
          <a:xfrm>
            <a:off x="774648" y="2771766"/>
            <a:ext cx="8251938" cy="657237"/>
            <a:chOff x="770046" y="5484958"/>
            <a:chExt cx="4127033" cy="912824"/>
          </a:xfrm>
        </p:grpSpPr>
        <p:sp>
          <p:nvSpPr>
            <p:cNvPr id="27" name="모서리가 둥근 직사각형 26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806569" y="5570171"/>
              <a:ext cx="4090510" cy="72669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IntStream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intStream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IntStream.rangeClosed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(1, 10);    // 123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45678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910</a:t>
              </a:r>
              <a:endParaRPr lang="ko-KR" altLang="en-US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intStream.</a:t>
              </a:r>
              <a:r>
                <a:rPr lang="en-US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skip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(3)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.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limit(5)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.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forEach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System.out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::print); // 45678</a:t>
              </a:r>
            </a:p>
          </p:txBody>
        </p:sp>
      </p:grpSp>
      <p:grpSp>
        <p:nvGrpSpPr>
          <p:cNvPr id="29" name="그룹 51"/>
          <p:cNvGrpSpPr/>
          <p:nvPr/>
        </p:nvGrpSpPr>
        <p:grpSpPr>
          <a:xfrm>
            <a:off x="5594364" y="1420785"/>
            <a:ext cx="3322683" cy="657238"/>
            <a:chOff x="770046" y="5484958"/>
            <a:chExt cx="4127033" cy="912824"/>
          </a:xfrm>
        </p:grpSpPr>
        <p:sp>
          <p:nvSpPr>
            <p:cNvPr id="30" name="모서리가 둥근 직사각형 29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806569" y="5570167"/>
              <a:ext cx="4090510" cy="72669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IntStream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skip(long n) </a:t>
              </a:r>
            </a:p>
            <a:p>
              <a:pPr>
                <a:spcBef>
                  <a:spcPts val="0"/>
                </a:spcBef>
              </a:pPr>
              <a:r>
                <a:rPr lang="en-US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IntStream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limit(long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maxSize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) </a:t>
              </a:r>
            </a:p>
          </p:txBody>
        </p:sp>
      </p:grpSp>
      <p:grpSp>
        <p:nvGrpSpPr>
          <p:cNvPr id="37" name="그룹 51"/>
          <p:cNvGrpSpPr/>
          <p:nvPr/>
        </p:nvGrpSpPr>
        <p:grpSpPr>
          <a:xfrm>
            <a:off x="774648" y="4051318"/>
            <a:ext cx="8251938" cy="619124"/>
            <a:chOff x="770046" y="5484958"/>
            <a:chExt cx="4127033" cy="912824"/>
          </a:xfrm>
        </p:grpSpPr>
        <p:sp>
          <p:nvSpPr>
            <p:cNvPr id="38" name="모서리가 둥근 직사각형 37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806569" y="5617259"/>
              <a:ext cx="4090510" cy="726689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Stream&lt;T&gt; filter(Predicate&lt;? super T&gt; predicate) // 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조건에 맞지 않는 요소 제거</a:t>
              </a:r>
              <a:endParaRPr lang="en-US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Stream&lt;T&gt; distinct()                             // 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중복제거</a:t>
              </a:r>
              <a:endParaRPr lang="en-US" sz="1400" b="1" dirty="0" smtClean="0">
                <a:latin typeface="Courier New" pitchFamily="49" charset="0"/>
                <a:cs typeface="Courier New" pitchFamily="49" charset="0"/>
              </a:endParaRPr>
            </a:p>
          </p:txBody>
        </p:sp>
      </p:grpSp>
      <p:grpSp>
        <p:nvGrpSpPr>
          <p:cNvPr id="40" name="그룹 51"/>
          <p:cNvGrpSpPr/>
          <p:nvPr/>
        </p:nvGrpSpPr>
        <p:grpSpPr>
          <a:xfrm>
            <a:off x="774648" y="4743468"/>
            <a:ext cx="8251938" cy="620721"/>
            <a:chOff x="770046" y="5484958"/>
            <a:chExt cx="4127033" cy="912824"/>
          </a:xfrm>
        </p:grpSpPr>
        <p:sp>
          <p:nvSpPr>
            <p:cNvPr id="41" name="모서리가 둥근 직사각형 40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806569" y="5553762"/>
              <a:ext cx="4090510" cy="76944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IntStream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intStream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IntStream.of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(1,2,2,3,3,3,4,5,5,6);</a:t>
              </a:r>
            </a:p>
            <a:p>
              <a:pPr>
                <a:spcBef>
                  <a:spcPts val="0"/>
                </a:spcBef>
              </a:pP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intStream.</a:t>
              </a:r>
              <a:r>
                <a:rPr lang="en-US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distinct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()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.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forEach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System.out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::print);          // 123456</a:t>
              </a:r>
            </a:p>
          </p:txBody>
        </p:sp>
      </p:grpSp>
      <p:grpSp>
        <p:nvGrpSpPr>
          <p:cNvPr id="43" name="그룹 51"/>
          <p:cNvGrpSpPr/>
          <p:nvPr/>
        </p:nvGrpSpPr>
        <p:grpSpPr>
          <a:xfrm>
            <a:off x="774648" y="5437214"/>
            <a:ext cx="8251938" cy="584209"/>
            <a:chOff x="770046" y="5484958"/>
            <a:chExt cx="4127033" cy="912824"/>
          </a:xfrm>
        </p:grpSpPr>
        <p:sp>
          <p:nvSpPr>
            <p:cNvPr id="44" name="모서리가 둥근 직사각형 43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806569" y="5542011"/>
              <a:ext cx="4090510" cy="817529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IntStream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intStream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IntStream.rangeClosed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(1, 10);       // 12345678910</a:t>
              </a:r>
              <a:endParaRPr lang="ko-KR" altLang="en-US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intStream.</a:t>
              </a:r>
              <a:r>
                <a:rPr lang="en-US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filter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-&gt;i%2==0)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.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forEach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System.out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::print);   // 246810 </a:t>
              </a:r>
            </a:p>
          </p:txBody>
        </p:sp>
      </p:grpSp>
      <p:grpSp>
        <p:nvGrpSpPr>
          <p:cNvPr id="46" name="그룹 51"/>
          <p:cNvGrpSpPr/>
          <p:nvPr/>
        </p:nvGrpSpPr>
        <p:grpSpPr>
          <a:xfrm>
            <a:off x="774648" y="6094444"/>
            <a:ext cx="8251938" cy="657238"/>
            <a:chOff x="770046" y="5484958"/>
            <a:chExt cx="4127033" cy="912824"/>
          </a:xfrm>
        </p:grpSpPr>
        <p:sp>
          <p:nvSpPr>
            <p:cNvPr id="47" name="모서리가 둥근 직사각형 46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806569" y="5570167"/>
              <a:ext cx="4090510" cy="726689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intStream.</a:t>
              </a:r>
              <a:r>
                <a:rPr lang="en-US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filter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-&gt;i%2!=0 &amp;&amp; i%3!=0)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.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forEach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System.out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::print);</a:t>
              </a:r>
            </a:p>
            <a:p>
              <a:pPr>
                <a:spcBef>
                  <a:spcPts val="0"/>
                </a:spcBef>
              </a:pP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intStream.</a:t>
              </a:r>
              <a:r>
                <a:rPr lang="en-US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filter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-&gt;i%2!=0)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.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filter(</a:t>
              </a:r>
              <a:r>
                <a:rPr lang="en-US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-&gt;i%3!=0)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.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forEach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System.out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::print);</a:t>
              </a: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863600"/>
          </a:xfrm>
          <a:prstGeom prst="rect">
            <a:avLst/>
          </a:prstGeom>
          <a:solidFill>
            <a:srgbClr val="E4D394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576263"/>
            <a:ext cx="8388350" cy="53975"/>
          </a:xfrm>
          <a:prstGeom prst="rect">
            <a:avLst/>
          </a:prstGeom>
          <a:solidFill>
            <a:srgbClr val="81705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883525" y="42863"/>
            <a:ext cx="1368425" cy="722312"/>
            <a:chOff x="3787" y="1570"/>
            <a:chExt cx="862" cy="455"/>
          </a:xfrm>
        </p:grpSpPr>
        <p:sp>
          <p:nvSpPr>
            <p:cNvPr id="3090" name="Text Box 5"/>
            <p:cNvSpPr txBox="1">
              <a:spLocks noChangeArrowheads="1"/>
            </p:cNvSpPr>
            <p:nvPr/>
          </p:nvSpPr>
          <p:spPr bwMode="auto">
            <a:xfrm>
              <a:off x="3787" y="1570"/>
              <a:ext cx="7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2800">
                  <a:latin typeface="Elephant" pitchFamily="18" charset="0"/>
                  <a:ea typeface="굴림" charset="-127"/>
                </a:rPr>
                <a:t>Java</a:t>
              </a:r>
            </a:p>
          </p:txBody>
        </p:sp>
        <p:sp>
          <p:nvSpPr>
            <p:cNvPr id="3091" name="Text Box 6"/>
            <p:cNvSpPr txBox="1">
              <a:spLocks noChangeArrowheads="1"/>
            </p:cNvSpPr>
            <p:nvPr/>
          </p:nvSpPr>
          <p:spPr bwMode="auto">
            <a:xfrm>
              <a:off x="4308" y="1643"/>
              <a:ext cx="34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1600">
                  <a:latin typeface="HY견고딕" pitchFamily="18" charset="-127"/>
                  <a:ea typeface="HY견고딕" pitchFamily="18" charset="-127"/>
                </a:rPr>
                <a:t>의</a:t>
              </a:r>
            </a:p>
          </p:txBody>
        </p:sp>
        <p:sp>
          <p:nvSpPr>
            <p:cNvPr id="3092" name="Text Box 7"/>
            <p:cNvSpPr txBox="1">
              <a:spLocks noChangeArrowheads="1"/>
            </p:cNvSpPr>
            <p:nvPr/>
          </p:nvSpPr>
          <p:spPr bwMode="auto">
            <a:xfrm>
              <a:off x="4121" y="1775"/>
              <a:ext cx="5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2000">
                  <a:latin typeface="바탕" pitchFamily="18" charset="-127"/>
                  <a:ea typeface="HY견고딕" pitchFamily="18" charset="-127"/>
                </a:rPr>
                <a:t>정석</a:t>
              </a:r>
            </a:p>
          </p:txBody>
        </p:sp>
      </p:grp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443663" y="620713"/>
            <a:ext cx="2016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 err="1">
                <a:latin typeface="Courier New" pitchFamily="49" charset="0"/>
                <a:ea typeface="굴림" charset="-127"/>
              </a:rPr>
              <a:t>http://</a:t>
            </a:r>
            <a:r>
              <a:rPr lang="en-US" altLang="ko-KR" sz="1000" b="1" dirty="0" err="1" smtClean="0">
                <a:latin typeface="Courier New" pitchFamily="49" charset="0"/>
                <a:ea typeface="굴림" charset="-127"/>
              </a:rPr>
              <a:t>www.codechobo.com</a:t>
            </a:r>
            <a:endParaRPr lang="en-US" altLang="ko-KR" sz="1000" b="1" dirty="0">
              <a:latin typeface="Courier New" pitchFamily="49" charset="0"/>
              <a:ea typeface="굴림" charset="-127"/>
            </a:endParaRPr>
          </a:p>
        </p:txBody>
      </p:sp>
      <p:sp>
        <p:nvSpPr>
          <p:cNvPr id="3078" name="Text Box 19"/>
          <p:cNvSpPr txBox="1">
            <a:spLocks noChangeArrowheads="1"/>
          </p:cNvSpPr>
          <p:nvPr/>
        </p:nvSpPr>
        <p:spPr bwMode="auto">
          <a:xfrm>
            <a:off x="358775" y="1016000"/>
            <a:ext cx="8569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800" b="1" dirty="0" smtClean="0"/>
              <a:t>2.4  </a:t>
            </a:r>
            <a:r>
              <a:rPr lang="ko-KR" altLang="en-US" sz="2800" b="1" dirty="0" err="1" smtClean="0"/>
              <a:t>스트림의</a:t>
            </a:r>
            <a:r>
              <a:rPr lang="ko-KR" altLang="en-US" sz="2800" b="1" dirty="0" smtClean="0"/>
              <a:t> 중간연산</a:t>
            </a:r>
            <a:r>
              <a:rPr lang="en-US" altLang="ko-KR" sz="2800" b="1" dirty="0" smtClean="0"/>
              <a:t>(2/6)</a:t>
            </a:r>
            <a:endParaRPr lang="en-US" altLang="ko-KR" sz="2800" b="1" dirty="0"/>
          </a:p>
        </p:txBody>
      </p:sp>
      <p:sp>
        <p:nvSpPr>
          <p:cNvPr id="3089" name="Text Box 9"/>
          <p:cNvSpPr txBox="1">
            <a:spLocks noChangeArrowheads="1"/>
          </p:cNvSpPr>
          <p:nvPr/>
        </p:nvSpPr>
        <p:spPr bwMode="auto">
          <a:xfrm>
            <a:off x="146050" y="188913"/>
            <a:ext cx="5686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Chapter 14. 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람다와 스트림</a:t>
            </a: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(Lambda &amp; Stream)</a:t>
            </a:r>
          </a:p>
        </p:txBody>
      </p:sp>
      <p:grpSp>
        <p:nvGrpSpPr>
          <p:cNvPr id="3" name="그룹 51"/>
          <p:cNvGrpSpPr/>
          <p:nvPr/>
        </p:nvGrpSpPr>
        <p:grpSpPr>
          <a:xfrm>
            <a:off x="774648" y="2004993"/>
            <a:ext cx="8251938" cy="657238"/>
            <a:chOff x="770046" y="5484958"/>
            <a:chExt cx="4127033" cy="912824"/>
          </a:xfrm>
        </p:grpSpPr>
        <p:sp>
          <p:nvSpPr>
            <p:cNvPr id="12" name="모서리가 둥근 직사각형 11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806569" y="5570164"/>
              <a:ext cx="4090510" cy="726689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Stream&lt;T&gt; sorted()                // </a:t>
              </a:r>
              <a:r>
                <a:rPr lang="ko-KR" altLang="en-US" sz="1400" b="1" dirty="0" err="1" smtClean="0">
                  <a:latin typeface="Courier New" pitchFamily="49" charset="0"/>
                  <a:cs typeface="Courier New" pitchFamily="49" charset="0"/>
                </a:rPr>
                <a:t>스트림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 요소의 기본 정렬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(Comparable)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로 정렬</a:t>
              </a:r>
              <a:endParaRPr lang="en-US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Stream&lt;T&gt; sorted(Comparator&lt;? super T&gt; comparator) //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지정된 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Comparator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로</a:t>
              </a:r>
              <a:r>
                <a:rPr lang="ko-KR" altLang="en-US" sz="8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정렬</a:t>
              </a:r>
              <a:endParaRPr lang="en-US" sz="1400" b="1" dirty="0" smtClean="0">
                <a:latin typeface="Courier New" pitchFamily="49" charset="0"/>
                <a:cs typeface="Courier New" pitchFamily="49" charset="0"/>
              </a:endParaRPr>
            </a:p>
          </p:txBody>
        </p:sp>
      </p:grpSp>
      <p:sp>
        <p:nvSpPr>
          <p:cNvPr id="14" name="Text Box 20"/>
          <p:cNvSpPr txBox="1">
            <a:spLocks noChangeArrowheads="1"/>
          </p:cNvSpPr>
          <p:nvPr/>
        </p:nvSpPr>
        <p:spPr bwMode="auto">
          <a:xfrm>
            <a:off x="472270" y="1601772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err="1" smtClean="0"/>
              <a:t>스트림</a:t>
            </a:r>
            <a:r>
              <a:rPr lang="ko-KR" altLang="en-US" b="1" dirty="0" smtClean="0"/>
              <a:t> 정렬하기 </a:t>
            </a:r>
            <a:r>
              <a:rPr lang="en-US" altLang="ko-KR" b="1" dirty="0" smtClean="0"/>
              <a:t>– sorted(</a:t>
            </a:r>
            <a:r>
              <a:rPr lang="en-US" altLang="ko-KR" sz="800" b="1" dirty="0" smtClean="0"/>
              <a:t> </a:t>
            </a:r>
            <a:r>
              <a:rPr lang="en-US" altLang="ko-KR" b="1" dirty="0" smtClean="0"/>
              <a:t>)</a:t>
            </a:r>
            <a:endParaRPr lang="en-US" altLang="ko-KR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31882" y="2771766"/>
            <a:ext cx="6324107" cy="31036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40" name="그룹 51"/>
          <p:cNvGrpSpPr/>
          <p:nvPr/>
        </p:nvGrpSpPr>
        <p:grpSpPr>
          <a:xfrm>
            <a:off x="774648" y="5914423"/>
            <a:ext cx="8251938" cy="837260"/>
            <a:chOff x="770046" y="5484958"/>
            <a:chExt cx="4127033" cy="912824"/>
          </a:xfrm>
        </p:grpSpPr>
        <p:sp>
          <p:nvSpPr>
            <p:cNvPr id="43" name="모서리가 둥근 직사각형 42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806569" y="5570166"/>
              <a:ext cx="4090510" cy="80533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studentStream.sorted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Comparator.comparing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(Student::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getBan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)  // 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반별로 정렬</a:t>
              </a:r>
              <a:endParaRPr lang="en-US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                   .</a:t>
              </a:r>
              <a:r>
                <a:rPr lang="en-US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thenComparing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(Student::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getTotalScore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)  // </a:t>
              </a:r>
              <a:r>
                <a:rPr lang="ko-KR" altLang="en-US" sz="1400" b="1" dirty="0" err="1" smtClean="0">
                  <a:latin typeface="Courier New" pitchFamily="49" charset="0"/>
                  <a:cs typeface="Courier New" pitchFamily="49" charset="0"/>
                </a:rPr>
                <a:t>총점별로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 정렬</a:t>
              </a:r>
              <a:endParaRPr lang="en-US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                   .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forEach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Sysetm.out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::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println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);</a:t>
              </a:r>
            </a:p>
          </p:txBody>
        </p:sp>
      </p:grpSp>
      <p:grpSp>
        <p:nvGrpSpPr>
          <p:cNvPr id="49" name="그룹 51"/>
          <p:cNvGrpSpPr/>
          <p:nvPr/>
        </p:nvGrpSpPr>
        <p:grpSpPr>
          <a:xfrm>
            <a:off x="3995667" y="1525024"/>
            <a:ext cx="5148333" cy="523220"/>
            <a:chOff x="770046" y="5671094"/>
            <a:chExt cx="4127033" cy="934320"/>
          </a:xfrm>
        </p:grpSpPr>
        <p:sp>
          <p:nvSpPr>
            <p:cNvPr id="50" name="모서리가 둥근 직사각형 49"/>
            <p:cNvSpPr/>
            <p:nvPr/>
          </p:nvSpPr>
          <p:spPr bwMode="auto">
            <a:xfrm>
              <a:off x="770046" y="5680560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806569" y="5671094"/>
              <a:ext cx="4090510" cy="93432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Comparator&lt;String&gt; 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CASE_INSENSITIVE_ORDER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           = new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CaseInsensitiveComparator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();</a:t>
              </a: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863600"/>
          </a:xfrm>
          <a:prstGeom prst="rect">
            <a:avLst/>
          </a:prstGeom>
          <a:solidFill>
            <a:srgbClr val="E4D394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576263"/>
            <a:ext cx="8388350" cy="53975"/>
          </a:xfrm>
          <a:prstGeom prst="rect">
            <a:avLst/>
          </a:prstGeom>
          <a:solidFill>
            <a:srgbClr val="81705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883525" y="42863"/>
            <a:ext cx="1368425" cy="722312"/>
            <a:chOff x="3787" y="1570"/>
            <a:chExt cx="862" cy="455"/>
          </a:xfrm>
        </p:grpSpPr>
        <p:sp>
          <p:nvSpPr>
            <p:cNvPr id="3090" name="Text Box 5"/>
            <p:cNvSpPr txBox="1">
              <a:spLocks noChangeArrowheads="1"/>
            </p:cNvSpPr>
            <p:nvPr/>
          </p:nvSpPr>
          <p:spPr bwMode="auto">
            <a:xfrm>
              <a:off x="3787" y="1570"/>
              <a:ext cx="7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2800">
                  <a:latin typeface="Elephant" pitchFamily="18" charset="0"/>
                  <a:ea typeface="굴림" charset="-127"/>
                </a:rPr>
                <a:t>Java</a:t>
              </a:r>
            </a:p>
          </p:txBody>
        </p:sp>
        <p:sp>
          <p:nvSpPr>
            <p:cNvPr id="3091" name="Text Box 6"/>
            <p:cNvSpPr txBox="1">
              <a:spLocks noChangeArrowheads="1"/>
            </p:cNvSpPr>
            <p:nvPr/>
          </p:nvSpPr>
          <p:spPr bwMode="auto">
            <a:xfrm>
              <a:off x="4308" y="1643"/>
              <a:ext cx="34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1600">
                  <a:latin typeface="HY견고딕" pitchFamily="18" charset="-127"/>
                  <a:ea typeface="HY견고딕" pitchFamily="18" charset="-127"/>
                </a:rPr>
                <a:t>의</a:t>
              </a:r>
            </a:p>
          </p:txBody>
        </p:sp>
        <p:sp>
          <p:nvSpPr>
            <p:cNvPr id="3092" name="Text Box 7"/>
            <p:cNvSpPr txBox="1">
              <a:spLocks noChangeArrowheads="1"/>
            </p:cNvSpPr>
            <p:nvPr/>
          </p:nvSpPr>
          <p:spPr bwMode="auto">
            <a:xfrm>
              <a:off x="4121" y="1775"/>
              <a:ext cx="5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2000">
                  <a:latin typeface="바탕" pitchFamily="18" charset="-127"/>
                  <a:ea typeface="HY견고딕" pitchFamily="18" charset="-127"/>
                </a:rPr>
                <a:t>정석</a:t>
              </a:r>
            </a:p>
          </p:txBody>
        </p:sp>
      </p:grp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443663" y="620713"/>
            <a:ext cx="2016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 err="1">
                <a:latin typeface="Courier New" pitchFamily="49" charset="0"/>
                <a:ea typeface="굴림" charset="-127"/>
              </a:rPr>
              <a:t>http://</a:t>
            </a:r>
            <a:r>
              <a:rPr lang="en-US" altLang="ko-KR" sz="1000" b="1" dirty="0" err="1" smtClean="0">
                <a:latin typeface="Courier New" pitchFamily="49" charset="0"/>
                <a:ea typeface="굴림" charset="-127"/>
              </a:rPr>
              <a:t>www.codechobo.com</a:t>
            </a:r>
            <a:endParaRPr lang="en-US" altLang="ko-KR" sz="1000" b="1" dirty="0">
              <a:latin typeface="Courier New" pitchFamily="49" charset="0"/>
              <a:ea typeface="굴림" charset="-127"/>
            </a:endParaRPr>
          </a:p>
        </p:txBody>
      </p:sp>
      <p:sp>
        <p:nvSpPr>
          <p:cNvPr id="3078" name="Text Box 19"/>
          <p:cNvSpPr txBox="1">
            <a:spLocks noChangeArrowheads="1"/>
          </p:cNvSpPr>
          <p:nvPr/>
        </p:nvSpPr>
        <p:spPr bwMode="auto">
          <a:xfrm>
            <a:off x="358775" y="1016000"/>
            <a:ext cx="8569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800" b="1" dirty="0" smtClean="0"/>
              <a:t>2.4  </a:t>
            </a:r>
            <a:r>
              <a:rPr lang="ko-KR" altLang="en-US" sz="2800" b="1" dirty="0" err="1" smtClean="0"/>
              <a:t>스트림의</a:t>
            </a:r>
            <a:r>
              <a:rPr lang="ko-KR" altLang="en-US" sz="2800" b="1" dirty="0" smtClean="0"/>
              <a:t> 중간연산</a:t>
            </a:r>
            <a:r>
              <a:rPr lang="en-US" altLang="ko-KR" sz="2800" b="1" dirty="0" smtClean="0"/>
              <a:t>(3/6)</a:t>
            </a:r>
            <a:endParaRPr lang="en-US" altLang="ko-KR" sz="2800" b="1" dirty="0"/>
          </a:p>
        </p:txBody>
      </p:sp>
      <p:sp>
        <p:nvSpPr>
          <p:cNvPr id="3089" name="Text Box 9"/>
          <p:cNvSpPr txBox="1">
            <a:spLocks noChangeArrowheads="1"/>
          </p:cNvSpPr>
          <p:nvPr/>
        </p:nvSpPr>
        <p:spPr bwMode="auto">
          <a:xfrm>
            <a:off x="146050" y="188913"/>
            <a:ext cx="5686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Chapter 14. 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람다와 스트림</a:t>
            </a: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(Lambda &amp; Stream)</a:t>
            </a:r>
          </a:p>
        </p:txBody>
      </p:sp>
      <p:grpSp>
        <p:nvGrpSpPr>
          <p:cNvPr id="3" name="그룹 51"/>
          <p:cNvGrpSpPr/>
          <p:nvPr/>
        </p:nvGrpSpPr>
        <p:grpSpPr>
          <a:xfrm>
            <a:off x="774648" y="2004993"/>
            <a:ext cx="8251938" cy="401643"/>
            <a:chOff x="770046" y="5484958"/>
            <a:chExt cx="4127033" cy="912824"/>
          </a:xfrm>
        </p:grpSpPr>
        <p:sp>
          <p:nvSpPr>
            <p:cNvPr id="12" name="모서리가 둥근 직사각형 11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806569" y="5615308"/>
              <a:ext cx="4090510" cy="699493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Stream&lt;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R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&gt; map(Function&lt;? super 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T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,? extends 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R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&gt;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mapper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) //Stream&lt;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T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&gt;→Stream&lt;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R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&gt;</a:t>
              </a:r>
            </a:p>
          </p:txBody>
        </p:sp>
      </p:grpSp>
      <p:sp>
        <p:nvSpPr>
          <p:cNvPr id="14" name="Text Box 20"/>
          <p:cNvSpPr txBox="1">
            <a:spLocks noChangeArrowheads="1"/>
          </p:cNvSpPr>
          <p:nvPr/>
        </p:nvSpPr>
        <p:spPr bwMode="auto">
          <a:xfrm>
            <a:off x="472270" y="1601772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err="1" smtClean="0"/>
              <a:t>스트림의</a:t>
            </a:r>
            <a:r>
              <a:rPr lang="ko-KR" altLang="en-US" b="1" dirty="0" smtClean="0"/>
              <a:t> 요소 변환하기 </a:t>
            </a:r>
            <a:r>
              <a:rPr lang="en-US" altLang="ko-KR" b="1" dirty="0" smtClean="0"/>
              <a:t>–  map(</a:t>
            </a:r>
            <a:r>
              <a:rPr lang="en-US" altLang="ko-KR" sz="800" b="1" dirty="0" smtClean="0"/>
              <a:t> </a:t>
            </a:r>
            <a:r>
              <a:rPr lang="en-US" altLang="ko-KR" b="1" dirty="0" smtClean="0"/>
              <a:t>)</a:t>
            </a:r>
            <a:endParaRPr lang="en-US" altLang="ko-KR" b="1" dirty="0"/>
          </a:p>
        </p:txBody>
      </p:sp>
      <p:grpSp>
        <p:nvGrpSpPr>
          <p:cNvPr id="4" name="그룹 51"/>
          <p:cNvGrpSpPr/>
          <p:nvPr/>
        </p:nvGrpSpPr>
        <p:grpSpPr>
          <a:xfrm>
            <a:off x="774648" y="2518671"/>
            <a:ext cx="8251938" cy="1458024"/>
            <a:chOff x="770046" y="5484958"/>
            <a:chExt cx="4127033" cy="965138"/>
          </a:xfrm>
        </p:grpSpPr>
        <p:sp>
          <p:nvSpPr>
            <p:cNvPr id="43" name="모서리가 둥근 직사각형 42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806569" y="5533300"/>
              <a:ext cx="4090510" cy="916796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Stream&lt;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File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&gt;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fileStream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Stream.of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(new File("Ex1.java"), new File("Ex1")</a:t>
              </a: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         new File("Ex1.bak"), new File("Ex2.java"), new File("Ex1.txt"));</a:t>
              </a:r>
            </a:p>
            <a:p>
              <a:pPr>
                <a:spcBef>
                  <a:spcPts val="0"/>
                </a:spcBef>
              </a:pPr>
              <a:endParaRPr lang="en-US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Stream&lt;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String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&gt;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filenameStream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= fileStream.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map(File::</a:t>
              </a:r>
              <a:r>
                <a:rPr lang="en-US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getName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)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spcBef>
                  <a:spcPts val="0"/>
                </a:spcBef>
              </a:pP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filenameStream.forEach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System.out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::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println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); // </a:t>
              </a:r>
              <a:r>
                <a:rPr lang="ko-KR" altLang="en-US" sz="1400" b="1" dirty="0" err="1" smtClean="0">
                  <a:latin typeface="Courier New" pitchFamily="49" charset="0"/>
                  <a:cs typeface="Courier New" pitchFamily="49" charset="0"/>
                </a:rPr>
                <a:t>스트림의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 모든 파일의 이름을 출력</a:t>
              </a:r>
            </a:p>
            <a:p>
              <a:pPr>
                <a:spcBef>
                  <a:spcPts val="0"/>
                </a:spcBef>
              </a:pPr>
              <a:endParaRPr lang="en-US" sz="1400" b="1" dirty="0" smtClean="0">
                <a:latin typeface="Courier New" pitchFamily="49" charset="0"/>
                <a:cs typeface="Courier New" pitchFamily="49" charset="0"/>
              </a:endParaRPr>
            </a:p>
          </p:txBody>
        </p:sp>
      </p:grpSp>
      <p:grpSp>
        <p:nvGrpSpPr>
          <p:cNvPr id="30" name="그룹 51"/>
          <p:cNvGrpSpPr/>
          <p:nvPr/>
        </p:nvGrpSpPr>
        <p:grpSpPr>
          <a:xfrm>
            <a:off x="774648" y="5218144"/>
            <a:ext cx="8251938" cy="1460513"/>
            <a:chOff x="770046" y="5484958"/>
            <a:chExt cx="4127033" cy="912824"/>
          </a:xfrm>
        </p:grpSpPr>
        <p:sp>
          <p:nvSpPr>
            <p:cNvPr id="31" name="모서리가 둥근 직사각형 30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806569" y="5530595"/>
              <a:ext cx="4090510" cy="865625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fileStream.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map(File::</a:t>
              </a:r>
              <a:r>
                <a:rPr lang="en-US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getName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)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            // Stream&lt;File&gt; → Stream&lt;String&gt;</a:t>
              </a: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  .filter(s-&gt;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s.indexOf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('.')!=-1)         // 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확장자가 없는 것은 제외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   .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map(s-&gt;</a:t>
              </a:r>
              <a:r>
                <a:rPr lang="en-US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s.substring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s.indexOf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('.')+1))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// Stream&lt;String&gt;→Stream&lt;String&gt;</a:t>
              </a: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  .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map(String::</a:t>
              </a:r>
              <a:r>
                <a:rPr lang="en-US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toUpperCase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)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             // Stream&lt;String&gt;→Stream&lt;String&gt;</a:t>
              </a:r>
              <a:endParaRPr lang="ko-KR" altLang="en-US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   .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distinct() // 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중복 제거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   .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forEach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System.out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::print); // JAVABAKTXT</a:t>
              </a:r>
            </a:p>
          </p:txBody>
        </p:sp>
      </p:grpSp>
      <p:grpSp>
        <p:nvGrpSpPr>
          <p:cNvPr id="33" name="그룹 32"/>
          <p:cNvGrpSpPr/>
          <p:nvPr/>
        </p:nvGrpSpPr>
        <p:grpSpPr>
          <a:xfrm>
            <a:off x="1723986" y="4210666"/>
            <a:ext cx="6316749" cy="442358"/>
            <a:chOff x="1797012" y="2917818"/>
            <a:chExt cx="6316749" cy="442358"/>
          </a:xfrm>
        </p:grpSpPr>
        <p:sp>
          <p:nvSpPr>
            <p:cNvPr id="34" name="TextBox 33"/>
            <p:cNvSpPr txBox="1"/>
            <p:nvPr/>
          </p:nvSpPr>
          <p:spPr>
            <a:xfrm>
              <a:off x="1797012" y="2990844"/>
              <a:ext cx="18256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>
                  <a:latin typeface="Courier New" pitchFamily="49" charset="0"/>
                  <a:cs typeface="Courier New" pitchFamily="49" charset="0"/>
                </a:rPr>
                <a:t>Stream&lt;</a:t>
              </a:r>
              <a:r>
                <a:rPr lang="en-US" altLang="ko-KR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File</a:t>
              </a:r>
              <a:r>
                <a:rPr lang="en-US" altLang="ko-KR" dirty="0" smtClean="0">
                  <a:latin typeface="Courier New" pitchFamily="49" charset="0"/>
                  <a:cs typeface="Courier New" pitchFamily="49" charset="0"/>
                </a:rPr>
                <a:t>&gt;</a:t>
              </a:r>
              <a:endParaRPr lang="ko-KR" altLang="en-US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740416" y="2990844"/>
              <a:ext cx="23733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>
                  <a:latin typeface="Courier New" pitchFamily="49" charset="0"/>
                  <a:cs typeface="Courier New" pitchFamily="49" charset="0"/>
                </a:rPr>
                <a:t>Stream&lt;</a:t>
              </a:r>
              <a:r>
                <a:rPr lang="en-US" altLang="ko-KR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String</a:t>
              </a:r>
              <a:r>
                <a:rPr lang="en-US" altLang="ko-KR" dirty="0" smtClean="0">
                  <a:latin typeface="Courier New" pitchFamily="49" charset="0"/>
                  <a:cs typeface="Courier New" pitchFamily="49" charset="0"/>
                </a:rPr>
                <a:t>&gt;</a:t>
              </a:r>
              <a:endParaRPr lang="ko-KR" altLang="en-US" dirty="0">
                <a:latin typeface="Courier New" pitchFamily="49" charset="0"/>
                <a:cs typeface="Courier New" pitchFamily="49" charset="0"/>
              </a:endParaRPr>
            </a:p>
          </p:txBody>
        </p:sp>
        <p:cxnSp>
          <p:nvCxnSpPr>
            <p:cNvPr id="36" name="직선 화살표 연결선 35"/>
            <p:cNvCxnSpPr>
              <a:stCxn id="34" idx="3"/>
            </p:cNvCxnSpPr>
            <p:nvPr/>
          </p:nvCxnSpPr>
          <p:spPr bwMode="auto">
            <a:xfrm flipV="1">
              <a:off x="3622662" y="3174997"/>
              <a:ext cx="2117754" cy="513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>
            <a:xfrm>
              <a:off x="3768714" y="2917818"/>
              <a:ext cx="18256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Courier New" pitchFamily="49" charset="0"/>
                  <a:cs typeface="Courier New" pitchFamily="49" charset="0"/>
                </a:rPr>
                <a:t>map(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File::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getName</a:t>
              </a:r>
              <a:r>
                <a:rPr lang="en-US" altLang="ko-KR" sz="1200" dirty="0" smtClean="0">
                  <a:latin typeface="Courier New" pitchFamily="49" charset="0"/>
                  <a:cs typeface="Courier New" pitchFamily="49" charset="0"/>
                </a:rPr>
                <a:t>)</a:t>
              </a:r>
              <a:endParaRPr lang="ko-KR" altLang="en-US" sz="1200" dirty="0">
                <a:latin typeface="Courier New" pitchFamily="49" charset="0"/>
                <a:cs typeface="Courier New" pitchFamily="49" charset="0"/>
              </a:endParaRPr>
            </a:p>
          </p:txBody>
        </p:sp>
      </p:grpSp>
      <p:sp>
        <p:nvSpPr>
          <p:cNvPr id="38" name="Text Box 20"/>
          <p:cNvSpPr txBox="1">
            <a:spLocks noChangeArrowheads="1"/>
          </p:cNvSpPr>
          <p:nvPr/>
        </p:nvSpPr>
        <p:spPr bwMode="auto">
          <a:xfrm>
            <a:off x="476853" y="4843070"/>
            <a:ext cx="86042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sz="1600" b="1" dirty="0" smtClean="0"/>
              <a:t>    ex) </a:t>
            </a:r>
            <a:r>
              <a:rPr lang="ko-KR" altLang="en-US" sz="1600" b="1" dirty="0" smtClean="0"/>
              <a:t>파일 </a:t>
            </a:r>
            <a:r>
              <a:rPr lang="ko-KR" altLang="en-US" sz="1600" b="1" dirty="0" err="1" smtClean="0"/>
              <a:t>스트림</a:t>
            </a:r>
            <a:r>
              <a:rPr lang="en-US" altLang="ko-KR" sz="1600" b="1" dirty="0" smtClean="0"/>
              <a:t>(Stream&lt;File&gt;)</a:t>
            </a:r>
            <a:r>
              <a:rPr lang="ko-KR" altLang="en-US" sz="1600" b="1" dirty="0" smtClean="0"/>
              <a:t>에서 파일 확장자</a:t>
            </a:r>
            <a:r>
              <a:rPr lang="en-US" altLang="ko-KR" sz="1600" b="1" dirty="0" smtClean="0"/>
              <a:t>(</a:t>
            </a:r>
            <a:r>
              <a:rPr lang="ko-KR" altLang="en-US" sz="1600" b="1" dirty="0" smtClean="0"/>
              <a:t>대문자</a:t>
            </a:r>
            <a:r>
              <a:rPr lang="en-US" altLang="ko-KR" sz="1600" b="1" dirty="0" smtClean="0"/>
              <a:t>)</a:t>
            </a:r>
            <a:r>
              <a:rPr lang="ko-KR" altLang="en-US" sz="1600" b="1" dirty="0" smtClean="0"/>
              <a:t>를 </a:t>
            </a:r>
            <a:r>
              <a:rPr lang="ko-KR" altLang="en-US" sz="1600" b="1" dirty="0" err="1" smtClean="0"/>
              <a:t>중복없이</a:t>
            </a:r>
            <a:r>
              <a:rPr lang="ko-KR" altLang="en-US" sz="1600" b="1" dirty="0" smtClean="0"/>
              <a:t>  뽑아내기 </a:t>
            </a:r>
            <a:endParaRPr lang="en-US" altLang="ko-KR" sz="1600" b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863600"/>
          </a:xfrm>
          <a:prstGeom prst="rect">
            <a:avLst/>
          </a:prstGeom>
          <a:solidFill>
            <a:srgbClr val="E4D394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576263"/>
            <a:ext cx="8388350" cy="53975"/>
          </a:xfrm>
          <a:prstGeom prst="rect">
            <a:avLst/>
          </a:prstGeom>
          <a:solidFill>
            <a:srgbClr val="81705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883525" y="42863"/>
            <a:ext cx="1368425" cy="722312"/>
            <a:chOff x="3787" y="1570"/>
            <a:chExt cx="862" cy="455"/>
          </a:xfrm>
        </p:grpSpPr>
        <p:sp>
          <p:nvSpPr>
            <p:cNvPr id="3090" name="Text Box 5"/>
            <p:cNvSpPr txBox="1">
              <a:spLocks noChangeArrowheads="1"/>
            </p:cNvSpPr>
            <p:nvPr/>
          </p:nvSpPr>
          <p:spPr bwMode="auto">
            <a:xfrm>
              <a:off x="3787" y="1570"/>
              <a:ext cx="7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2800">
                  <a:latin typeface="Elephant" pitchFamily="18" charset="0"/>
                  <a:ea typeface="굴림" charset="-127"/>
                </a:rPr>
                <a:t>Java</a:t>
              </a:r>
            </a:p>
          </p:txBody>
        </p:sp>
        <p:sp>
          <p:nvSpPr>
            <p:cNvPr id="3091" name="Text Box 6"/>
            <p:cNvSpPr txBox="1">
              <a:spLocks noChangeArrowheads="1"/>
            </p:cNvSpPr>
            <p:nvPr/>
          </p:nvSpPr>
          <p:spPr bwMode="auto">
            <a:xfrm>
              <a:off x="4308" y="1643"/>
              <a:ext cx="34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1600">
                  <a:latin typeface="HY견고딕" pitchFamily="18" charset="-127"/>
                  <a:ea typeface="HY견고딕" pitchFamily="18" charset="-127"/>
                </a:rPr>
                <a:t>의</a:t>
              </a:r>
            </a:p>
          </p:txBody>
        </p:sp>
        <p:sp>
          <p:nvSpPr>
            <p:cNvPr id="3092" name="Text Box 7"/>
            <p:cNvSpPr txBox="1">
              <a:spLocks noChangeArrowheads="1"/>
            </p:cNvSpPr>
            <p:nvPr/>
          </p:nvSpPr>
          <p:spPr bwMode="auto">
            <a:xfrm>
              <a:off x="4121" y="1775"/>
              <a:ext cx="5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2000">
                  <a:latin typeface="바탕" pitchFamily="18" charset="-127"/>
                  <a:ea typeface="HY견고딕" pitchFamily="18" charset="-127"/>
                </a:rPr>
                <a:t>정석</a:t>
              </a:r>
            </a:p>
          </p:txBody>
        </p:sp>
      </p:grp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443663" y="620713"/>
            <a:ext cx="2016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 err="1">
                <a:latin typeface="Courier New" pitchFamily="49" charset="0"/>
                <a:ea typeface="굴림" charset="-127"/>
              </a:rPr>
              <a:t>http://</a:t>
            </a:r>
            <a:r>
              <a:rPr lang="en-US" altLang="ko-KR" sz="1000" b="1" dirty="0" err="1" smtClean="0">
                <a:latin typeface="Courier New" pitchFamily="49" charset="0"/>
                <a:ea typeface="굴림" charset="-127"/>
              </a:rPr>
              <a:t>www.codechobo.com</a:t>
            </a:r>
            <a:endParaRPr lang="en-US" altLang="ko-KR" sz="1000" b="1" dirty="0">
              <a:latin typeface="Courier New" pitchFamily="49" charset="0"/>
              <a:ea typeface="굴림" charset="-127"/>
            </a:endParaRPr>
          </a:p>
        </p:txBody>
      </p:sp>
      <p:sp>
        <p:nvSpPr>
          <p:cNvPr id="3078" name="Text Box 19"/>
          <p:cNvSpPr txBox="1">
            <a:spLocks noChangeArrowheads="1"/>
          </p:cNvSpPr>
          <p:nvPr/>
        </p:nvSpPr>
        <p:spPr bwMode="auto">
          <a:xfrm>
            <a:off x="358775" y="1016000"/>
            <a:ext cx="8569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800" b="1" dirty="0" smtClean="0"/>
              <a:t>2.4  </a:t>
            </a:r>
            <a:r>
              <a:rPr lang="ko-KR" altLang="en-US" sz="2800" b="1" dirty="0" err="1" smtClean="0"/>
              <a:t>스트림의</a:t>
            </a:r>
            <a:r>
              <a:rPr lang="ko-KR" altLang="en-US" sz="2800" b="1" dirty="0" smtClean="0"/>
              <a:t> 중간연산</a:t>
            </a:r>
            <a:r>
              <a:rPr lang="en-US" altLang="ko-KR" sz="2800" b="1" dirty="0" smtClean="0"/>
              <a:t>(4/6)</a:t>
            </a:r>
            <a:endParaRPr lang="en-US" altLang="ko-KR" sz="2800" b="1" dirty="0"/>
          </a:p>
        </p:txBody>
      </p:sp>
      <p:sp>
        <p:nvSpPr>
          <p:cNvPr id="3089" name="Text Box 9"/>
          <p:cNvSpPr txBox="1">
            <a:spLocks noChangeArrowheads="1"/>
          </p:cNvSpPr>
          <p:nvPr/>
        </p:nvSpPr>
        <p:spPr bwMode="auto">
          <a:xfrm>
            <a:off x="146050" y="188913"/>
            <a:ext cx="5686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Chapter 14. 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람다와 스트림</a:t>
            </a: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(Lambda &amp; Stream)</a:t>
            </a:r>
          </a:p>
        </p:txBody>
      </p:sp>
      <p:grpSp>
        <p:nvGrpSpPr>
          <p:cNvPr id="3" name="그룹 51"/>
          <p:cNvGrpSpPr/>
          <p:nvPr/>
        </p:nvGrpSpPr>
        <p:grpSpPr>
          <a:xfrm>
            <a:off x="565845" y="2005007"/>
            <a:ext cx="8251938" cy="766760"/>
            <a:chOff x="770046" y="5484958"/>
            <a:chExt cx="4127033" cy="912824"/>
          </a:xfrm>
        </p:grpSpPr>
        <p:sp>
          <p:nvSpPr>
            <p:cNvPr id="12" name="모서리가 둥근 직사각형 11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806569" y="5664506"/>
              <a:ext cx="4090510" cy="646338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IntStream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    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mapToInt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ToIntFunction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&lt;? super T&gt; 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mapper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)       // Stream&lt;T&gt;→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IntStream</a:t>
              </a:r>
              <a:endParaRPr lang="en-US" sz="12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LongStream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   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mapToLong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ToLongFunction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&lt;? super T&gt; 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mapper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)     // Stream&lt;T&gt;→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LongStream</a:t>
              </a:r>
              <a:endParaRPr lang="en-US" sz="12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DoubleStream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mapToDouble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ToDoubleFunction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&lt;? super T&gt; 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mapper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) // Stream&lt;T&gt;→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DoubleStream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</a:p>
          </p:txBody>
        </p:sp>
      </p:grpSp>
      <p:sp>
        <p:nvSpPr>
          <p:cNvPr id="14" name="Text Box 20"/>
          <p:cNvSpPr txBox="1">
            <a:spLocks noChangeArrowheads="1"/>
          </p:cNvSpPr>
          <p:nvPr/>
        </p:nvSpPr>
        <p:spPr bwMode="auto">
          <a:xfrm>
            <a:off x="263466" y="1601772"/>
            <a:ext cx="902898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err="1" smtClean="0"/>
              <a:t>스트림을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기본</a:t>
            </a:r>
            <a:r>
              <a:rPr lang="en-US" altLang="ko-KR" b="1" dirty="0" smtClean="0"/>
              <a:t> </a:t>
            </a:r>
            <a:r>
              <a:rPr lang="ko-KR" altLang="en-US" b="1" dirty="0" err="1" smtClean="0"/>
              <a:t>스트림으로</a:t>
            </a:r>
            <a:r>
              <a:rPr lang="ko-KR" altLang="en-US" b="1" dirty="0" smtClean="0"/>
              <a:t> 변환</a:t>
            </a:r>
            <a:r>
              <a:rPr lang="en-US" altLang="ko-KR" b="1" dirty="0" smtClean="0"/>
              <a:t> – </a:t>
            </a:r>
            <a:r>
              <a:rPr lang="en-US" altLang="ko-KR" b="1" dirty="0" err="1" smtClean="0"/>
              <a:t>mapToInt</a:t>
            </a:r>
            <a:r>
              <a:rPr lang="en-US" altLang="ko-KR" b="1" dirty="0" smtClean="0"/>
              <a:t>(</a:t>
            </a:r>
            <a:r>
              <a:rPr lang="en-US" altLang="ko-KR" sz="800" b="1" dirty="0" smtClean="0"/>
              <a:t> </a:t>
            </a:r>
            <a:r>
              <a:rPr lang="en-US" altLang="ko-KR" b="1" dirty="0" smtClean="0"/>
              <a:t>),</a:t>
            </a:r>
            <a:r>
              <a:rPr lang="en-US" altLang="ko-KR" sz="1000" b="1" dirty="0" smtClean="0"/>
              <a:t> </a:t>
            </a:r>
            <a:r>
              <a:rPr lang="en-US" altLang="ko-KR" b="1" dirty="0" err="1" smtClean="0"/>
              <a:t>mapToLong</a:t>
            </a:r>
            <a:r>
              <a:rPr lang="en-US" altLang="ko-KR" b="1" dirty="0" smtClean="0"/>
              <a:t>(</a:t>
            </a:r>
            <a:r>
              <a:rPr lang="en-US" altLang="ko-KR" sz="800" b="1" dirty="0" smtClean="0"/>
              <a:t> </a:t>
            </a:r>
            <a:r>
              <a:rPr lang="en-US" altLang="ko-KR" b="1" dirty="0" smtClean="0"/>
              <a:t>), </a:t>
            </a:r>
            <a:r>
              <a:rPr lang="en-US" altLang="ko-KR" b="1" dirty="0" err="1" smtClean="0"/>
              <a:t>mapToDouble</a:t>
            </a:r>
            <a:r>
              <a:rPr lang="en-US" altLang="ko-KR" b="1" dirty="0" smtClean="0"/>
              <a:t>(</a:t>
            </a:r>
            <a:r>
              <a:rPr lang="en-US" altLang="ko-KR" sz="800" b="1" dirty="0" smtClean="0"/>
              <a:t> </a:t>
            </a:r>
            <a:r>
              <a:rPr lang="en-US" altLang="ko-KR" b="1" dirty="0" smtClean="0"/>
              <a:t>)</a:t>
            </a:r>
            <a:endParaRPr lang="en-US" altLang="ko-KR" b="1" dirty="0"/>
          </a:p>
        </p:txBody>
      </p:sp>
      <p:grpSp>
        <p:nvGrpSpPr>
          <p:cNvPr id="27" name="그룹 51"/>
          <p:cNvGrpSpPr/>
          <p:nvPr/>
        </p:nvGrpSpPr>
        <p:grpSpPr>
          <a:xfrm>
            <a:off x="567410" y="5000650"/>
            <a:ext cx="8251938" cy="546104"/>
            <a:chOff x="770046" y="5484958"/>
            <a:chExt cx="4127033" cy="912824"/>
          </a:xfrm>
        </p:grpSpPr>
        <p:sp>
          <p:nvSpPr>
            <p:cNvPr id="28" name="모서리가 둥근 직사각형 27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806569" y="5604363"/>
              <a:ext cx="4090510" cy="771682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nl-NL" sz="1200" b="1" dirty="0" smtClean="0">
                  <a:latin typeface="Courier New" pitchFamily="49" charset="0"/>
                  <a:cs typeface="Courier New" pitchFamily="49" charset="0"/>
                </a:rPr>
                <a:t>Stream&lt;T&gt;  mapToObj(IntFunction&lt;? extends T&gt; mapper) // IntStream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 → Stream&lt;T&gt;</a:t>
              </a:r>
              <a:r>
                <a:rPr lang="nl-NL" sz="12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</a:p>
            <a:p>
              <a:pPr>
                <a:spcBef>
                  <a:spcPts val="0"/>
                </a:spcBef>
              </a:pPr>
              <a:r>
                <a:rPr lang="nl-NL" sz="1200" b="1" dirty="0" smtClean="0">
                  <a:latin typeface="Courier New" pitchFamily="49" charset="0"/>
                  <a:cs typeface="Courier New" pitchFamily="49" charset="0"/>
                </a:rPr>
                <a:t>Stream&lt;Integer&gt;  boxed()                             // </a:t>
              </a:r>
              <a:r>
                <a:rPr lang="nl-NL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nl-NL" sz="1200" b="1" dirty="0" smtClean="0">
                  <a:latin typeface="Courier New" pitchFamily="49" charset="0"/>
                  <a:cs typeface="Courier New" pitchFamily="49" charset="0"/>
                </a:rPr>
                <a:t>Stream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 → Stream&lt;</a:t>
              </a:r>
              <a:r>
                <a:rPr lang="en-US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Integer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&gt;</a:t>
              </a:r>
              <a:endParaRPr lang="nl-NL" sz="1200" b="1" dirty="0" smtClean="0">
                <a:latin typeface="Courier New" pitchFamily="49" charset="0"/>
                <a:cs typeface="Courier New" pitchFamily="49" charset="0"/>
              </a:endParaRPr>
            </a:p>
          </p:txBody>
        </p:sp>
      </p:grpSp>
      <p:sp>
        <p:nvSpPr>
          <p:cNvPr id="30" name="Text Box 20"/>
          <p:cNvSpPr txBox="1">
            <a:spLocks noChangeArrowheads="1"/>
          </p:cNvSpPr>
          <p:nvPr/>
        </p:nvSpPr>
        <p:spPr bwMode="auto">
          <a:xfrm>
            <a:off x="265032" y="4597416"/>
            <a:ext cx="86042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smtClean="0"/>
              <a:t>기본 </a:t>
            </a:r>
            <a:r>
              <a:rPr lang="ko-KR" altLang="en-US" b="1" dirty="0" err="1" smtClean="0"/>
              <a:t>스트림을</a:t>
            </a:r>
            <a:r>
              <a:rPr lang="en-US" altLang="ko-KR" b="1" dirty="0" smtClean="0"/>
              <a:t> </a:t>
            </a:r>
            <a:r>
              <a:rPr lang="ko-KR" altLang="en-US" b="1" dirty="0" err="1" smtClean="0"/>
              <a:t>스트림으로</a:t>
            </a:r>
            <a:r>
              <a:rPr lang="ko-KR" altLang="en-US" b="1" dirty="0" smtClean="0"/>
              <a:t> 변환 </a:t>
            </a:r>
            <a:r>
              <a:rPr lang="en-US" altLang="ko-KR" b="1" dirty="0" smtClean="0"/>
              <a:t>–  </a:t>
            </a:r>
            <a:r>
              <a:rPr lang="en-US" altLang="ko-KR" b="1" dirty="0" err="1" smtClean="0"/>
              <a:t>mapToObj</a:t>
            </a:r>
            <a:r>
              <a:rPr lang="en-US" altLang="ko-KR" b="1" dirty="0" smtClean="0"/>
              <a:t>(</a:t>
            </a:r>
            <a:r>
              <a:rPr lang="en-US" altLang="ko-KR" sz="800" b="1" dirty="0" smtClean="0"/>
              <a:t> </a:t>
            </a:r>
            <a:r>
              <a:rPr lang="en-US" altLang="ko-KR" b="1" dirty="0" smtClean="0"/>
              <a:t>), boxed(</a:t>
            </a:r>
            <a:r>
              <a:rPr lang="en-US" altLang="ko-KR" sz="800" b="1" dirty="0" smtClean="0"/>
              <a:t> </a:t>
            </a:r>
            <a:r>
              <a:rPr lang="en-US" altLang="ko-KR" b="1" dirty="0" smtClean="0"/>
              <a:t>)</a:t>
            </a:r>
            <a:endParaRPr lang="en-US" altLang="ko-KR" b="1" dirty="0"/>
          </a:p>
        </p:txBody>
      </p:sp>
      <p:grpSp>
        <p:nvGrpSpPr>
          <p:cNvPr id="19" name="그룹 51"/>
          <p:cNvGrpSpPr/>
          <p:nvPr/>
        </p:nvGrpSpPr>
        <p:grpSpPr>
          <a:xfrm>
            <a:off x="565845" y="2844792"/>
            <a:ext cx="8251938" cy="584208"/>
            <a:chOff x="770046" y="5484958"/>
            <a:chExt cx="4127033" cy="912824"/>
          </a:xfrm>
        </p:grpSpPr>
        <p:sp>
          <p:nvSpPr>
            <p:cNvPr id="20" name="모서리가 둥근 직사각형 19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806569" y="5599061"/>
              <a:ext cx="4090510" cy="721351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Stream&lt;Integer&gt; 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studentScoreStream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 = stuStream.</a:t>
              </a:r>
              <a:r>
                <a:rPr lang="en-US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map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(Student::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getTotalScore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spcBef>
                  <a:spcPts val="0"/>
                </a:spcBef>
              </a:pP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 sum = 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studentScoreStream.</a:t>
              </a:r>
              <a:r>
                <a:rPr lang="en-US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reduce</a:t>
              </a:r>
              <a:r>
                <a:rPr lang="en-US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(0, (</a:t>
              </a:r>
              <a:r>
                <a:rPr lang="en-US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a,b</a:t>
              </a:r>
              <a:r>
                <a:rPr lang="en-US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)-&gt; </a:t>
              </a:r>
              <a:r>
                <a:rPr lang="en-US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a+b</a:t>
              </a:r>
              <a:r>
                <a:rPr lang="en-US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)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;</a:t>
              </a:r>
            </a:p>
          </p:txBody>
        </p:sp>
      </p:grpSp>
      <p:grpSp>
        <p:nvGrpSpPr>
          <p:cNvPr id="31" name="그룹 30"/>
          <p:cNvGrpSpPr/>
          <p:nvPr/>
        </p:nvGrpSpPr>
        <p:grpSpPr>
          <a:xfrm>
            <a:off x="565845" y="3355974"/>
            <a:ext cx="8251938" cy="876312"/>
            <a:chOff x="774648" y="3355974"/>
            <a:chExt cx="8251938" cy="876312"/>
          </a:xfrm>
        </p:grpSpPr>
        <p:grpSp>
          <p:nvGrpSpPr>
            <p:cNvPr id="22" name="그룹 51"/>
            <p:cNvGrpSpPr/>
            <p:nvPr/>
          </p:nvGrpSpPr>
          <p:grpSpPr>
            <a:xfrm>
              <a:off x="774648" y="3648078"/>
              <a:ext cx="8251938" cy="584208"/>
              <a:chOff x="770046" y="5484958"/>
              <a:chExt cx="4127033" cy="912824"/>
            </a:xfrm>
          </p:grpSpPr>
          <p:sp>
            <p:nvSpPr>
              <p:cNvPr id="23" name="모서리가 둥근 직사각형 22"/>
              <p:cNvSpPr/>
              <p:nvPr/>
            </p:nvSpPr>
            <p:spPr bwMode="auto">
              <a:xfrm>
                <a:off x="770046" y="5484958"/>
                <a:ext cx="4052636" cy="912824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49263" marR="0" indent="-449263" algn="l" defTabSz="914400" rtl="0" eaLnBrk="1" fontAlgn="base" latin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urier New" pitchFamily="49" charset="0"/>
                  <a:ea typeface="견명조" pitchFamily="18" charset="-127"/>
                </a:endParaRPr>
              </a:p>
            </p:txBody>
          </p:sp>
          <p:sp>
            <p:nvSpPr>
              <p:cNvPr id="24" name="직사각형 23"/>
              <p:cNvSpPr/>
              <p:nvPr/>
            </p:nvSpPr>
            <p:spPr>
              <a:xfrm>
                <a:off x="806569" y="5599059"/>
                <a:ext cx="4090510" cy="721351"/>
              </a:xfrm>
              <a:prstGeom prst="rect">
                <a:avLst/>
              </a:prstGeom>
            </p:spPr>
            <p:txBody>
              <a:bodyPr wrap="square" anchor="b">
                <a:spAutoFit/>
              </a:bodyPr>
              <a:lstStyle/>
              <a:p>
                <a:pPr>
                  <a:spcBef>
                    <a:spcPts val="0"/>
                  </a:spcBef>
                </a:pPr>
                <a:r>
                  <a:rPr lang="en-US" sz="1200" b="1" dirty="0" err="1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IntStream</a:t>
                </a:r>
                <a:r>
                  <a:rPr lang="en-US" sz="1200" b="1" dirty="0" smtClean="0">
                    <a:latin typeface="Courier New" pitchFamily="49" charset="0"/>
                    <a:cs typeface="Courier New" pitchFamily="49" charset="0"/>
                  </a:rPr>
                  <a:t> </a:t>
                </a:r>
                <a:r>
                  <a:rPr lang="en-US" sz="1200" b="1" dirty="0" err="1" smtClean="0">
                    <a:latin typeface="Courier New" pitchFamily="49" charset="0"/>
                    <a:cs typeface="Courier New" pitchFamily="49" charset="0"/>
                  </a:rPr>
                  <a:t>studentScoreStream</a:t>
                </a:r>
                <a:r>
                  <a:rPr lang="en-US" sz="1200" b="1" dirty="0" smtClean="0">
                    <a:latin typeface="Courier New" pitchFamily="49" charset="0"/>
                    <a:cs typeface="Courier New" pitchFamily="49" charset="0"/>
                  </a:rPr>
                  <a:t> = </a:t>
                </a:r>
                <a:r>
                  <a:rPr lang="en-US" sz="1200" b="1" dirty="0" err="1" smtClean="0">
                    <a:latin typeface="Courier New" pitchFamily="49" charset="0"/>
                    <a:cs typeface="Courier New" pitchFamily="49" charset="0"/>
                  </a:rPr>
                  <a:t>studentStream.</a:t>
                </a:r>
                <a:r>
                  <a:rPr lang="en-US" sz="1200" b="1" dirty="0" err="1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mapToInt</a:t>
                </a:r>
                <a:r>
                  <a:rPr lang="en-US" sz="1200" b="1" dirty="0" smtClean="0">
                    <a:latin typeface="Courier New" pitchFamily="49" charset="0"/>
                    <a:cs typeface="Courier New" pitchFamily="49" charset="0"/>
                  </a:rPr>
                  <a:t>(Student::</a:t>
                </a:r>
                <a:r>
                  <a:rPr lang="en-US" sz="1200" b="1" dirty="0" err="1" smtClean="0">
                    <a:latin typeface="Courier New" pitchFamily="49" charset="0"/>
                    <a:cs typeface="Courier New" pitchFamily="49" charset="0"/>
                  </a:rPr>
                  <a:t>getTotalScore</a:t>
                </a:r>
                <a:r>
                  <a:rPr lang="en-US" sz="1200" b="1" dirty="0" smtClean="0">
                    <a:latin typeface="Courier New" pitchFamily="49" charset="0"/>
                    <a:cs typeface="Courier New" pitchFamily="49" charset="0"/>
                  </a:rPr>
                  <a:t>);</a:t>
                </a:r>
              </a:p>
              <a:p>
                <a:pPr>
                  <a:spcBef>
                    <a:spcPts val="0"/>
                  </a:spcBef>
                </a:pPr>
                <a:r>
                  <a:rPr lang="en-US" sz="1200" b="1" dirty="0" err="1" smtClean="0">
                    <a:latin typeface="Courier New" pitchFamily="49" charset="0"/>
                    <a:cs typeface="Courier New" pitchFamily="49" charset="0"/>
                  </a:rPr>
                  <a:t>int</a:t>
                </a:r>
                <a:r>
                  <a:rPr lang="en-US" sz="1200" b="1" dirty="0" smtClean="0">
                    <a:latin typeface="Courier New" pitchFamily="49" charset="0"/>
                    <a:cs typeface="Courier New" pitchFamily="49" charset="0"/>
                  </a:rPr>
                  <a:t> </a:t>
                </a:r>
                <a:r>
                  <a:rPr lang="en-US" sz="1200" b="1" dirty="0" err="1" smtClean="0">
                    <a:latin typeface="Courier New" pitchFamily="49" charset="0"/>
                    <a:cs typeface="Courier New" pitchFamily="49" charset="0"/>
                  </a:rPr>
                  <a:t>allTotalScore</a:t>
                </a:r>
                <a:r>
                  <a:rPr lang="en-US" sz="1200" b="1" dirty="0" smtClean="0">
                    <a:latin typeface="Courier New" pitchFamily="49" charset="0"/>
                    <a:cs typeface="Courier New" pitchFamily="49" charset="0"/>
                  </a:rPr>
                  <a:t> = studentScoreStream.</a:t>
                </a:r>
                <a:r>
                  <a:rPr lang="en-US" sz="1200" b="1" dirty="0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sum()</a:t>
                </a:r>
                <a:r>
                  <a:rPr lang="en-US" sz="1200" b="1" dirty="0" smtClean="0">
                    <a:latin typeface="Courier New" pitchFamily="49" charset="0"/>
                    <a:cs typeface="Courier New" pitchFamily="49" charset="0"/>
                  </a:rPr>
                  <a:t>; // </a:t>
                </a:r>
                <a:r>
                  <a:rPr lang="en-US" sz="1200" b="1" dirty="0" err="1" smtClean="0">
                    <a:latin typeface="Courier New" pitchFamily="49" charset="0"/>
                    <a:cs typeface="Courier New" pitchFamily="49" charset="0"/>
                  </a:rPr>
                  <a:t>IntStream</a:t>
                </a:r>
                <a:r>
                  <a:rPr lang="ko-KR" altLang="en-US" sz="1200" b="1" dirty="0" smtClean="0">
                    <a:latin typeface="Courier New" pitchFamily="49" charset="0"/>
                    <a:cs typeface="Courier New" pitchFamily="49" charset="0"/>
                  </a:rPr>
                  <a:t>의 </a:t>
                </a:r>
                <a:r>
                  <a:rPr lang="en-US" altLang="ko-KR" sz="1200" b="1" dirty="0" smtClean="0">
                    <a:latin typeface="Courier New" pitchFamily="49" charset="0"/>
                    <a:cs typeface="Courier New" pitchFamily="49" charset="0"/>
                  </a:rPr>
                  <a:t>sum()</a:t>
                </a:r>
                <a:endParaRPr lang="en-US" sz="1200" b="1" dirty="0" smtClean="0"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  <p:sp>
          <p:nvSpPr>
            <p:cNvPr id="26" name="아래쪽 화살표 25"/>
            <p:cNvSpPr/>
            <p:nvPr/>
          </p:nvSpPr>
          <p:spPr bwMode="auto">
            <a:xfrm>
              <a:off x="4718052" y="3355974"/>
              <a:ext cx="365130" cy="438156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</p:grpSp>
      <p:grpSp>
        <p:nvGrpSpPr>
          <p:cNvPr id="32" name="그룹 51"/>
          <p:cNvGrpSpPr/>
          <p:nvPr/>
        </p:nvGrpSpPr>
        <p:grpSpPr>
          <a:xfrm>
            <a:off x="6809568" y="3976695"/>
            <a:ext cx="1935189" cy="839798"/>
            <a:chOff x="811036" y="5695603"/>
            <a:chExt cx="4079000" cy="1303150"/>
          </a:xfrm>
        </p:grpSpPr>
        <p:sp>
          <p:nvSpPr>
            <p:cNvPr id="33" name="모서리가 둥근 직사각형 32"/>
            <p:cNvSpPr/>
            <p:nvPr/>
          </p:nvSpPr>
          <p:spPr bwMode="auto">
            <a:xfrm>
              <a:off x="811036" y="5695603"/>
              <a:ext cx="4052637" cy="130315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928506" y="5808919"/>
              <a:ext cx="3961530" cy="1055854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ko-KR" sz="1200" b="1" spc="-150" dirty="0" err="1" smtClean="0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altLang="ko-KR" sz="1200" b="1" spc="-150" dirty="0" smtClean="0">
                  <a:latin typeface="Courier New" pitchFamily="49" charset="0"/>
                  <a:cs typeface="Courier New" pitchFamily="49" charset="0"/>
                </a:rPr>
                <a:t>            sum()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spc="-150" dirty="0" err="1" smtClean="0">
                  <a:latin typeface="Courier New" pitchFamily="49" charset="0"/>
                  <a:cs typeface="Courier New" pitchFamily="49" charset="0"/>
                </a:rPr>
                <a:t>OptionalInt</a:t>
              </a:r>
              <a:r>
                <a:rPr lang="en-US" altLang="ko-KR" sz="1200" b="1" spc="-150" dirty="0" smtClean="0">
                  <a:latin typeface="Courier New" pitchFamily="49" charset="0"/>
                  <a:cs typeface="Courier New" pitchFamily="49" charset="0"/>
                </a:rPr>
                <a:t>    max()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spc="-150" dirty="0" err="1" smtClean="0">
                  <a:latin typeface="Courier New" pitchFamily="49" charset="0"/>
                  <a:cs typeface="Courier New" pitchFamily="49" charset="0"/>
                </a:rPr>
                <a:t>OptionalInt</a:t>
              </a:r>
              <a:r>
                <a:rPr lang="en-US" altLang="ko-KR" sz="1200" b="1" spc="-150" dirty="0" smtClean="0">
                  <a:latin typeface="Courier New" pitchFamily="49" charset="0"/>
                  <a:cs typeface="Courier New" pitchFamily="49" charset="0"/>
                </a:rPr>
                <a:t>    min()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spc="-150" dirty="0" err="1" smtClean="0">
                  <a:latin typeface="Courier New" pitchFamily="49" charset="0"/>
                  <a:cs typeface="Courier New" pitchFamily="49" charset="0"/>
                </a:rPr>
                <a:t>OptionalDouble</a:t>
              </a:r>
              <a:r>
                <a:rPr lang="en-US" altLang="ko-KR" sz="1200" b="1" spc="-150" dirty="0" smtClean="0">
                  <a:latin typeface="Courier New" pitchFamily="49" charset="0"/>
                  <a:cs typeface="Courier New" pitchFamily="49" charset="0"/>
                </a:rPr>
                <a:t> average()</a:t>
              </a:r>
            </a:p>
          </p:txBody>
        </p:sp>
      </p:grpSp>
      <p:grpSp>
        <p:nvGrpSpPr>
          <p:cNvPr id="37" name="그룹 51"/>
          <p:cNvGrpSpPr/>
          <p:nvPr/>
        </p:nvGrpSpPr>
        <p:grpSpPr>
          <a:xfrm>
            <a:off x="565845" y="5510239"/>
            <a:ext cx="8251938" cy="1269701"/>
            <a:chOff x="770046" y="5398765"/>
            <a:chExt cx="4127033" cy="999017"/>
          </a:xfrm>
        </p:grpSpPr>
        <p:sp>
          <p:nvSpPr>
            <p:cNvPr id="38" name="모서리가 둥근 직사각형 37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806569" y="5398765"/>
              <a:ext cx="4090510" cy="94044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IntStream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intStream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 = new Random().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ints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(1,46); // 1~45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사이의 정수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(46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은 포함안됨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)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Stream&lt;Integer&gt;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integerStream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intStream.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boxed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()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;     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// </a:t>
              </a:r>
              <a:r>
                <a:rPr lang="nl-NL" sz="1200" b="1" dirty="0" smtClean="0">
                  <a:latin typeface="Courier New" pitchFamily="49" charset="0"/>
                  <a:cs typeface="Courier New" pitchFamily="49" charset="0"/>
                </a:rPr>
                <a:t>IntStream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 → Stream&lt;Integer&gt;</a:t>
              </a:r>
              <a:endParaRPr lang="en-US" altLang="ko-KR" sz="12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Stream&lt;String&gt; 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lottoStream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intStream.distinct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().limit(6).sorted()</a:t>
              </a:r>
            </a:p>
            <a:p>
              <a:pPr>
                <a:spcBef>
                  <a:spcPts val="0"/>
                </a:spcBef>
              </a:pP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                                 .</a:t>
              </a:r>
              <a:r>
                <a:rPr lang="en-US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mapToObj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 -&gt; 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+","); // </a:t>
              </a:r>
              <a:r>
                <a:rPr lang="nl-NL" sz="1200" b="1" dirty="0" smtClean="0">
                  <a:latin typeface="Courier New" pitchFamily="49" charset="0"/>
                  <a:cs typeface="Courier New" pitchFamily="49" charset="0"/>
                </a:rPr>
                <a:t>IntStream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 → Stream&lt;String&gt;</a:t>
              </a:r>
              <a:r>
                <a:rPr lang="nl-NL" sz="12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endParaRPr lang="ko-KR" altLang="en-US" sz="12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lottoStream.forEach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System.out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::print); // 12,14,20,23,26,29,</a:t>
              </a: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863600"/>
          </a:xfrm>
          <a:prstGeom prst="rect">
            <a:avLst/>
          </a:prstGeom>
          <a:solidFill>
            <a:srgbClr val="E4D394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576263"/>
            <a:ext cx="8388350" cy="53975"/>
          </a:xfrm>
          <a:prstGeom prst="rect">
            <a:avLst/>
          </a:prstGeom>
          <a:solidFill>
            <a:srgbClr val="81705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883525" y="42863"/>
            <a:ext cx="1368425" cy="722312"/>
            <a:chOff x="3787" y="1570"/>
            <a:chExt cx="862" cy="455"/>
          </a:xfrm>
        </p:grpSpPr>
        <p:sp>
          <p:nvSpPr>
            <p:cNvPr id="3090" name="Text Box 5"/>
            <p:cNvSpPr txBox="1">
              <a:spLocks noChangeArrowheads="1"/>
            </p:cNvSpPr>
            <p:nvPr/>
          </p:nvSpPr>
          <p:spPr bwMode="auto">
            <a:xfrm>
              <a:off x="3787" y="1570"/>
              <a:ext cx="7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2800">
                  <a:latin typeface="Elephant" pitchFamily="18" charset="0"/>
                  <a:ea typeface="굴림" charset="-127"/>
                </a:rPr>
                <a:t>Java</a:t>
              </a:r>
            </a:p>
          </p:txBody>
        </p:sp>
        <p:sp>
          <p:nvSpPr>
            <p:cNvPr id="3091" name="Text Box 6"/>
            <p:cNvSpPr txBox="1">
              <a:spLocks noChangeArrowheads="1"/>
            </p:cNvSpPr>
            <p:nvPr/>
          </p:nvSpPr>
          <p:spPr bwMode="auto">
            <a:xfrm>
              <a:off x="4308" y="1643"/>
              <a:ext cx="34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1600">
                  <a:latin typeface="HY견고딕" pitchFamily="18" charset="-127"/>
                  <a:ea typeface="HY견고딕" pitchFamily="18" charset="-127"/>
                </a:rPr>
                <a:t>의</a:t>
              </a:r>
            </a:p>
          </p:txBody>
        </p:sp>
        <p:sp>
          <p:nvSpPr>
            <p:cNvPr id="3092" name="Text Box 7"/>
            <p:cNvSpPr txBox="1">
              <a:spLocks noChangeArrowheads="1"/>
            </p:cNvSpPr>
            <p:nvPr/>
          </p:nvSpPr>
          <p:spPr bwMode="auto">
            <a:xfrm>
              <a:off x="4121" y="1775"/>
              <a:ext cx="5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2000">
                  <a:latin typeface="바탕" pitchFamily="18" charset="-127"/>
                  <a:ea typeface="HY견고딕" pitchFamily="18" charset="-127"/>
                </a:rPr>
                <a:t>정석</a:t>
              </a:r>
            </a:p>
          </p:txBody>
        </p:sp>
      </p:grp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443663" y="620713"/>
            <a:ext cx="2016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 err="1">
                <a:latin typeface="Courier New" pitchFamily="49" charset="0"/>
                <a:ea typeface="굴림" charset="-127"/>
              </a:rPr>
              <a:t>http://</a:t>
            </a:r>
            <a:r>
              <a:rPr lang="en-US" altLang="ko-KR" sz="1000" b="1" dirty="0" err="1" smtClean="0">
                <a:latin typeface="Courier New" pitchFamily="49" charset="0"/>
                <a:ea typeface="굴림" charset="-127"/>
              </a:rPr>
              <a:t>www.codechobo.com</a:t>
            </a:r>
            <a:endParaRPr lang="en-US" altLang="ko-KR" sz="1000" b="1" dirty="0">
              <a:latin typeface="Courier New" pitchFamily="49" charset="0"/>
              <a:ea typeface="굴림" charset="-127"/>
            </a:endParaRPr>
          </a:p>
        </p:txBody>
      </p:sp>
      <p:sp>
        <p:nvSpPr>
          <p:cNvPr id="3078" name="Text Box 19"/>
          <p:cNvSpPr txBox="1">
            <a:spLocks noChangeArrowheads="1"/>
          </p:cNvSpPr>
          <p:nvPr/>
        </p:nvSpPr>
        <p:spPr bwMode="auto">
          <a:xfrm>
            <a:off x="358775" y="1016000"/>
            <a:ext cx="8569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800" b="1" dirty="0" smtClean="0"/>
              <a:t>2.4  </a:t>
            </a:r>
            <a:r>
              <a:rPr lang="ko-KR" altLang="en-US" sz="2800" b="1" dirty="0" err="1" smtClean="0"/>
              <a:t>스트림의</a:t>
            </a:r>
            <a:r>
              <a:rPr lang="ko-KR" altLang="en-US" sz="2800" b="1" dirty="0" smtClean="0"/>
              <a:t> 중간연산</a:t>
            </a:r>
            <a:r>
              <a:rPr lang="en-US" altLang="ko-KR" sz="2800" b="1" dirty="0" smtClean="0"/>
              <a:t>(5/6)</a:t>
            </a:r>
            <a:endParaRPr lang="en-US" altLang="ko-KR" sz="2800" b="1" dirty="0"/>
          </a:p>
        </p:txBody>
      </p:sp>
      <p:sp>
        <p:nvSpPr>
          <p:cNvPr id="3089" name="Text Box 9"/>
          <p:cNvSpPr txBox="1">
            <a:spLocks noChangeArrowheads="1"/>
          </p:cNvSpPr>
          <p:nvPr/>
        </p:nvSpPr>
        <p:spPr bwMode="auto">
          <a:xfrm>
            <a:off x="146050" y="188913"/>
            <a:ext cx="5686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Chapter 14. 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람다와 스트림</a:t>
            </a: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(Lambda &amp; Stream)</a:t>
            </a:r>
          </a:p>
        </p:txBody>
      </p:sp>
      <p:grpSp>
        <p:nvGrpSpPr>
          <p:cNvPr id="3" name="그룹 51"/>
          <p:cNvGrpSpPr/>
          <p:nvPr/>
        </p:nvGrpSpPr>
        <p:grpSpPr>
          <a:xfrm>
            <a:off x="774648" y="2005008"/>
            <a:ext cx="8251938" cy="511167"/>
            <a:chOff x="770046" y="5484958"/>
            <a:chExt cx="4127033" cy="912824"/>
          </a:xfrm>
        </p:grpSpPr>
        <p:sp>
          <p:nvSpPr>
            <p:cNvPr id="12" name="모서리가 둥근 직사각형 11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806569" y="5573357"/>
              <a:ext cx="4090510" cy="824425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Stream&lt;String[]&gt; 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strArrStrm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Stream.of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(new String[]{"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abc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", "def", "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ghi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"  },</a:t>
              </a:r>
            </a:p>
            <a:p>
              <a:pPr>
                <a:spcBef>
                  <a:spcPts val="0"/>
                </a:spcBef>
              </a:pP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                                        new String[]{"ABC", "GHI", "JKLMN"});</a:t>
              </a:r>
            </a:p>
          </p:txBody>
        </p:sp>
      </p:grpSp>
      <p:sp>
        <p:nvSpPr>
          <p:cNvPr id="14" name="Text Box 20"/>
          <p:cNvSpPr txBox="1">
            <a:spLocks noChangeArrowheads="1"/>
          </p:cNvSpPr>
          <p:nvPr/>
        </p:nvSpPr>
        <p:spPr bwMode="auto">
          <a:xfrm>
            <a:off x="472270" y="1601772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err="1" smtClean="0"/>
              <a:t>스트림의</a:t>
            </a:r>
            <a:r>
              <a:rPr lang="en-US" altLang="ko-KR" b="1" dirty="0" smtClean="0"/>
              <a:t> </a:t>
            </a:r>
            <a:r>
              <a:rPr lang="ko-KR" altLang="en-US" b="1" dirty="0" err="1" smtClean="0"/>
              <a:t>스트림을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 </a:t>
            </a:r>
            <a:r>
              <a:rPr lang="ko-KR" altLang="en-US" b="1" dirty="0" err="1" smtClean="0"/>
              <a:t>스트림으로</a:t>
            </a:r>
            <a:r>
              <a:rPr lang="ko-KR" altLang="en-US" b="1" dirty="0" smtClean="0"/>
              <a:t> 변환 </a:t>
            </a:r>
            <a:r>
              <a:rPr lang="en-US" altLang="ko-KR" b="1" dirty="0" smtClean="0"/>
              <a:t>–  </a:t>
            </a:r>
            <a:r>
              <a:rPr lang="en-US" altLang="ko-KR" b="1" dirty="0" err="1" smtClean="0"/>
              <a:t>flatMap</a:t>
            </a:r>
            <a:r>
              <a:rPr lang="en-US" altLang="ko-KR" b="1" dirty="0" smtClean="0"/>
              <a:t>(</a:t>
            </a:r>
            <a:r>
              <a:rPr lang="en-US" altLang="ko-KR" sz="800" b="1" dirty="0" smtClean="0"/>
              <a:t> </a:t>
            </a:r>
            <a:r>
              <a:rPr lang="en-US" altLang="ko-KR" b="1" dirty="0" smtClean="0"/>
              <a:t>)</a:t>
            </a:r>
            <a:endParaRPr lang="en-US" altLang="ko-KR" b="1" dirty="0"/>
          </a:p>
        </p:txBody>
      </p:sp>
      <p:grpSp>
        <p:nvGrpSpPr>
          <p:cNvPr id="15" name="그룹 51"/>
          <p:cNvGrpSpPr/>
          <p:nvPr/>
        </p:nvGrpSpPr>
        <p:grpSpPr>
          <a:xfrm>
            <a:off x="774648" y="2589201"/>
            <a:ext cx="8251938" cy="438156"/>
            <a:chOff x="770046" y="5484958"/>
            <a:chExt cx="4127033" cy="912824"/>
          </a:xfrm>
        </p:grpSpPr>
        <p:sp>
          <p:nvSpPr>
            <p:cNvPr id="16" name="모서리가 둥근 직사각형 15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806569" y="5655239"/>
              <a:ext cx="4090510" cy="577081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Stream&lt;</a:t>
              </a:r>
              <a:r>
                <a:rPr lang="en-US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Stream&lt;String&gt;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&gt; 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strStrStrm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 = strArrStrm.</a:t>
              </a:r>
              <a:r>
                <a:rPr lang="en-US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map(Arrays::stream)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;</a:t>
              </a:r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97012" y="3136896"/>
            <a:ext cx="5659515" cy="1533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4" name="그룹 51"/>
          <p:cNvGrpSpPr/>
          <p:nvPr/>
        </p:nvGrpSpPr>
        <p:grpSpPr>
          <a:xfrm>
            <a:off x="774648" y="4926033"/>
            <a:ext cx="8251938" cy="438156"/>
            <a:chOff x="770046" y="5484958"/>
            <a:chExt cx="4127033" cy="912824"/>
          </a:xfrm>
        </p:grpSpPr>
        <p:sp>
          <p:nvSpPr>
            <p:cNvPr id="25" name="모서리가 둥근 직사각형 24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806569" y="5655237"/>
              <a:ext cx="4090510" cy="577081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Stream&lt;</a:t>
              </a:r>
              <a:r>
                <a:rPr lang="en-US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String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&gt; 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strStrStrm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strArrStrm.</a:t>
              </a:r>
              <a:r>
                <a:rPr lang="en-US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flatMap</a:t>
              </a:r>
              <a:r>
                <a:rPr lang="en-US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(Arrays::stream)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; // 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Arrays.stream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(T[])</a:t>
              </a:r>
            </a:p>
          </p:txBody>
        </p:sp>
      </p:grp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97013" y="5510240"/>
            <a:ext cx="5659514" cy="1180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863600"/>
          </a:xfrm>
          <a:prstGeom prst="rect">
            <a:avLst/>
          </a:prstGeom>
          <a:solidFill>
            <a:srgbClr val="E4D394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576263"/>
            <a:ext cx="8388350" cy="53975"/>
          </a:xfrm>
          <a:prstGeom prst="rect">
            <a:avLst/>
          </a:prstGeom>
          <a:solidFill>
            <a:srgbClr val="81705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883525" y="42863"/>
            <a:ext cx="1368425" cy="722312"/>
            <a:chOff x="3787" y="1570"/>
            <a:chExt cx="862" cy="455"/>
          </a:xfrm>
        </p:grpSpPr>
        <p:sp>
          <p:nvSpPr>
            <p:cNvPr id="3090" name="Text Box 5"/>
            <p:cNvSpPr txBox="1">
              <a:spLocks noChangeArrowheads="1"/>
            </p:cNvSpPr>
            <p:nvPr/>
          </p:nvSpPr>
          <p:spPr bwMode="auto">
            <a:xfrm>
              <a:off x="3787" y="1570"/>
              <a:ext cx="7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2800">
                  <a:latin typeface="Elephant" pitchFamily="18" charset="0"/>
                  <a:ea typeface="굴림" charset="-127"/>
                </a:rPr>
                <a:t>Java</a:t>
              </a:r>
            </a:p>
          </p:txBody>
        </p:sp>
        <p:sp>
          <p:nvSpPr>
            <p:cNvPr id="3091" name="Text Box 6"/>
            <p:cNvSpPr txBox="1">
              <a:spLocks noChangeArrowheads="1"/>
            </p:cNvSpPr>
            <p:nvPr/>
          </p:nvSpPr>
          <p:spPr bwMode="auto">
            <a:xfrm>
              <a:off x="4308" y="1643"/>
              <a:ext cx="34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1600">
                  <a:latin typeface="HY견고딕" pitchFamily="18" charset="-127"/>
                  <a:ea typeface="HY견고딕" pitchFamily="18" charset="-127"/>
                </a:rPr>
                <a:t>의</a:t>
              </a:r>
            </a:p>
          </p:txBody>
        </p:sp>
        <p:sp>
          <p:nvSpPr>
            <p:cNvPr id="3092" name="Text Box 7"/>
            <p:cNvSpPr txBox="1">
              <a:spLocks noChangeArrowheads="1"/>
            </p:cNvSpPr>
            <p:nvPr/>
          </p:nvSpPr>
          <p:spPr bwMode="auto">
            <a:xfrm>
              <a:off x="4121" y="1775"/>
              <a:ext cx="5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2000">
                  <a:latin typeface="바탕" pitchFamily="18" charset="-127"/>
                  <a:ea typeface="HY견고딕" pitchFamily="18" charset="-127"/>
                </a:rPr>
                <a:t>정석</a:t>
              </a:r>
            </a:p>
          </p:txBody>
        </p:sp>
      </p:grp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443663" y="620713"/>
            <a:ext cx="2016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 err="1">
                <a:latin typeface="Courier New" pitchFamily="49" charset="0"/>
                <a:ea typeface="굴림" charset="-127"/>
              </a:rPr>
              <a:t>http://</a:t>
            </a:r>
            <a:r>
              <a:rPr lang="en-US" altLang="ko-KR" sz="1000" b="1" dirty="0" err="1" smtClean="0">
                <a:latin typeface="Courier New" pitchFamily="49" charset="0"/>
                <a:ea typeface="굴림" charset="-127"/>
              </a:rPr>
              <a:t>www.codechobo.com</a:t>
            </a:r>
            <a:endParaRPr lang="en-US" altLang="ko-KR" sz="1000" b="1" dirty="0">
              <a:latin typeface="Courier New" pitchFamily="49" charset="0"/>
              <a:ea typeface="굴림" charset="-127"/>
            </a:endParaRPr>
          </a:p>
        </p:txBody>
      </p:sp>
      <p:sp>
        <p:nvSpPr>
          <p:cNvPr id="3078" name="Text Box 19"/>
          <p:cNvSpPr txBox="1">
            <a:spLocks noChangeArrowheads="1"/>
          </p:cNvSpPr>
          <p:nvPr/>
        </p:nvSpPr>
        <p:spPr bwMode="auto">
          <a:xfrm>
            <a:off x="358775" y="1016000"/>
            <a:ext cx="8569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800" b="1" dirty="0" smtClean="0"/>
              <a:t>2.4  </a:t>
            </a:r>
            <a:r>
              <a:rPr lang="ko-KR" altLang="en-US" sz="2800" b="1" dirty="0" err="1" smtClean="0"/>
              <a:t>스트림의</a:t>
            </a:r>
            <a:r>
              <a:rPr lang="ko-KR" altLang="en-US" sz="2800" b="1" dirty="0" smtClean="0"/>
              <a:t> 중간연산</a:t>
            </a:r>
            <a:r>
              <a:rPr lang="en-US" altLang="ko-KR" sz="2800" b="1" dirty="0" smtClean="0"/>
              <a:t>(6/6)</a:t>
            </a:r>
            <a:endParaRPr lang="en-US" altLang="ko-KR" sz="2800" b="1" dirty="0"/>
          </a:p>
        </p:txBody>
      </p:sp>
      <p:sp>
        <p:nvSpPr>
          <p:cNvPr id="3089" name="Text Box 9"/>
          <p:cNvSpPr txBox="1">
            <a:spLocks noChangeArrowheads="1"/>
          </p:cNvSpPr>
          <p:nvPr/>
        </p:nvSpPr>
        <p:spPr bwMode="auto">
          <a:xfrm>
            <a:off x="146050" y="188913"/>
            <a:ext cx="5686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Chapter 14. 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람다와 스트림</a:t>
            </a: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(Lambda &amp; Stream)</a:t>
            </a:r>
          </a:p>
        </p:txBody>
      </p:sp>
      <p:sp>
        <p:nvSpPr>
          <p:cNvPr id="14" name="Text Box 20"/>
          <p:cNvSpPr txBox="1">
            <a:spLocks noChangeArrowheads="1"/>
          </p:cNvSpPr>
          <p:nvPr/>
        </p:nvSpPr>
        <p:spPr bwMode="auto">
          <a:xfrm>
            <a:off x="472270" y="1601772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err="1" smtClean="0"/>
              <a:t>스트림의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요소를 소비하지 않고 엿보기 </a:t>
            </a:r>
            <a:r>
              <a:rPr lang="en-US" altLang="ko-KR" b="1" dirty="0" smtClean="0"/>
              <a:t>–  peek(</a:t>
            </a:r>
            <a:r>
              <a:rPr lang="en-US" altLang="ko-KR" sz="800" b="1" dirty="0" smtClean="0"/>
              <a:t> </a:t>
            </a:r>
            <a:r>
              <a:rPr lang="en-US" altLang="ko-KR" b="1" dirty="0" smtClean="0"/>
              <a:t>)</a:t>
            </a:r>
            <a:endParaRPr lang="en-US" altLang="ko-KR" b="1" dirty="0"/>
          </a:p>
        </p:txBody>
      </p:sp>
      <p:grpSp>
        <p:nvGrpSpPr>
          <p:cNvPr id="15" name="그룹 51"/>
          <p:cNvGrpSpPr/>
          <p:nvPr/>
        </p:nvGrpSpPr>
        <p:grpSpPr>
          <a:xfrm>
            <a:off x="774648" y="2041509"/>
            <a:ext cx="8178912" cy="657231"/>
            <a:chOff x="770046" y="5484958"/>
            <a:chExt cx="4090511" cy="912824"/>
          </a:xfrm>
        </p:grpSpPr>
        <p:sp>
          <p:nvSpPr>
            <p:cNvPr id="16" name="모서리가 둥근 직사각형 15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770047" y="5586381"/>
              <a:ext cx="4090510" cy="726697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Stream&lt;T&gt;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 peek(Consumer&lt;? super T&gt; action)    // 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중간 연산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ko-KR" altLang="en-US" sz="1400" b="1" dirty="0" err="1" smtClean="0">
                  <a:latin typeface="Courier New" pitchFamily="49" charset="0"/>
                  <a:cs typeface="Courier New" pitchFamily="49" charset="0"/>
                </a:rPr>
                <a:t>스트림을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 소비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X)</a:t>
              </a:r>
            </a:p>
            <a:p>
              <a:pPr>
                <a:spcBef>
                  <a:spcPts val="0"/>
                </a:spcBef>
              </a:pP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altLang="ko-KR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v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oid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     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forEach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(Consumer&lt;? super T&gt; action) // 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최종 연산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ko-KR" altLang="en-US" sz="1400" b="1" dirty="0" err="1" smtClean="0">
                  <a:latin typeface="Courier New" pitchFamily="49" charset="0"/>
                  <a:cs typeface="Courier New" pitchFamily="49" charset="0"/>
                </a:rPr>
                <a:t>스트림을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 소비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O)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endParaRPr lang="ko-KR" altLang="en-US" sz="1400" b="1" dirty="0" smtClean="0">
                <a:latin typeface="Courier New" pitchFamily="49" charset="0"/>
                <a:cs typeface="Courier New" pitchFamily="49" charset="0"/>
              </a:endParaRPr>
            </a:p>
          </p:txBody>
        </p:sp>
      </p:grpSp>
      <p:grpSp>
        <p:nvGrpSpPr>
          <p:cNvPr id="18" name="그룹 51"/>
          <p:cNvGrpSpPr/>
          <p:nvPr/>
        </p:nvGrpSpPr>
        <p:grpSpPr>
          <a:xfrm>
            <a:off x="774648" y="2808277"/>
            <a:ext cx="8324964" cy="1606574"/>
            <a:chOff x="770046" y="5484958"/>
            <a:chExt cx="4163555" cy="912824"/>
          </a:xfrm>
        </p:grpSpPr>
        <p:sp>
          <p:nvSpPr>
            <p:cNvPr id="19" name="모서리가 둥근 직사각형 18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843091" y="5547197"/>
              <a:ext cx="4090510" cy="786927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fileStream.map(File::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getName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) // Stream&lt;File&gt; → Stream&lt;String&gt;</a:t>
              </a:r>
            </a:p>
            <a:p>
              <a:pPr>
                <a:spcBef>
                  <a:spcPts val="0"/>
                </a:spcBef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   .filter(s -&gt;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s.indexOf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('.')!=-1) // 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확장자가 없는 것은 제외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    .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peek(s-&gt;</a:t>
              </a:r>
              <a:r>
                <a:rPr lang="en-US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System.out.printf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("filename=%</a:t>
              </a:r>
              <a:r>
                <a:rPr lang="en-US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s%n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", s))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// 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파일명을 출력한다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.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    .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map(s -&gt; 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s.substring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s.indexOf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('.')+1)) // 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확장자만 추출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    .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peek(s-&gt;</a:t>
              </a:r>
              <a:r>
                <a:rPr lang="en-US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System.out.printf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("extension=%</a:t>
              </a:r>
              <a:r>
                <a:rPr lang="en-US" sz="14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s%n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", s)) 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// </a:t>
              </a:r>
              <a:r>
                <a:rPr lang="ko-KR" altLang="en-US" sz="1400" b="1" dirty="0" err="1" smtClean="0">
                  <a:latin typeface="Courier New" pitchFamily="49" charset="0"/>
                  <a:cs typeface="Courier New" pitchFamily="49" charset="0"/>
                </a:rPr>
                <a:t>확장자를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 출력한다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.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    .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forEach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System.out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::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println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); // 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최종연산 </a:t>
              </a:r>
              <a:r>
                <a:rPr lang="ko-KR" altLang="en-US" sz="1400" b="1" dirty="0" err="1" smtClean="0">
                  <a:latin typeface="Courier New" pitchFamily="49" charset="0"/>
                  <a:cs typeface="Courier New" pitchFamily="49" charset="0"/>
                </a:rPr>
                <a:t>스트림을</a:t>
              </a:r>
              <a:r>
                <a:rPr lang="ko-KR" altLang="en-US" sz="1400" b="1" dirty="0" smtClean="0">
                  <a:latin typeface="Courier New" pitchFamily="49" charset="0"/>
                  <a:cs typeface="Courier New" pitchFamily="49" charset="0"/>
                </a:rPr>
                <a:t> 소비</a:t>
              </a:r>
              <a:r>
                <a:rPr lang="en-US" altLang="ko-KR" sz="1400" b="1" dirty="0" smtClean="0">
                  <a:latin typeface="Courier New" pitchFamily="49" charset="0"/>
                  <a:cs typeface="Courier New" pitchFamily="49" charset="0"/>
                </a:rPr>
                <a:t>.</a:t>
              </a:r>
              <a:endParaRPr lang="en-US" sz="1400" b="1" dirty="0" smtClean="0">
                <a:latin typeface="Courier New" pitchFamily="49" charset="0"/>
                <a:cs typeface="Courier New" pitchFamily="49" charset="0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863600"/>
          </a:xfrm>
          <a:prstGeom prst="rect">
            <a:avLst/>
          </a:prstGeom>
          <a:solidFill>
            <a:srgbClr val="E4D394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576263"/>
            <a:ext cx="8388350" cy="53975"/>
          </a:xfrm>
          <a:prstGeom prst="rect">
            <a:avLst/>
          </a:prstGeom>
          <a:solidFill>
            <a:srgbClr val="81705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883525" y="42863"/>
            <a:ext cx="1368425" cy="722312"/>
            <a:chOff x="3787" y="1570"/>
            <a:chExt cx="862" cy="455"/>
          </a:xfrm>
        </p:grpSpPr>
        <p:sp>
          <p:nvSpPr>
            <p:cNvPr id="3090" name="Text Box 5"/>
            <p:cNvSpPr txBox="1">
              <a:spLocks noChangeArrowheads="1"/>
            </p:cNvSpPr>
            <p:nvPr/>
          </p:nvSpPr>
          <p:spPr bwMode="auto">
            <a:xfrm>
              <a:off x="3787" y="1570"/>
              <a:ext cx="7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2800">
                  <a:latin typeface="Elephant" pitchFamily="18" charset="0"/>
                  <a:ea typeface="굴림" charset="-127"/>
                </a:rPr>
                <a:t>Java</a:t>
              </a:r>
            </a:p>
          </p:txBody>
        </p:sp>
        <p:sp>
          <p:nvSpPr>
            <p:cNvPr id="3091" name="Text Box 6"/>
            <p:cNvSpPr txBox="1">
              <a:spLocks noChangeArrowheads="1"/>
            </p:cNvSpPr>
            <p:nvPr/>
          </p:nvSpPr>
          <p:spPr bwMode="auto">
            <a:xfrm>
              <a:off x="4308" y="1643"/>
              <a:ext cx="34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1600">
                  <a:latin typeface="HY견고딕" pitchFamily="18" charset="-127"/>
                  <a:ea typeface="HY견고딕" pitchFamily="18" charset="-127"/>
                </a:rPr>
                <a:t>의</a:t>
              </a:r>
            </a:p>
          </p:txBody>
        </p:sp>
        <p:sp>
          <p:nvSpPr>
            <p:cNvPr id="3092" name="Text Box 7"/>
            <p:cNvSpPr txBox="1">
              <a:spLocks noChangeArrowheads="1"/>
            </p:cNvSpPr>
            <p:nvPr/>
          </p:nvSpPr>
          <p:spPr bwMode="auto">
            <a:xfrm>
              <a:off x="4121" y="1775"/>
              <a:ext cx="5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2000">
                  <a:latin typeface="바탕" pitchFamily="18" charset="-127"/>
                  <a:ea typeface="HY견고딕" pitchFamily="18" charset="-127"/>
                </a:rPr>
                <a:t>정석</a:t>
              </a:r>
            </a:p>
          </p:txBody>
        </p:sp>
      </p:grp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443663" y="620713"/>
            <a:ext cx="2016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 err="1">
                <a:latin typeface="Courier New" pitchFamily="49" charset="0"/>
                <a:ea typeface="굴림" charset="-127"/>
              </a:rPr>
              <a:t>http://</a:t>
            </a:r>
            <a:r>
              <a:rPr lang="en-US" altLang="ko-KR" sz="1000" b="1" dirty="0" err="1" smtClean="0">
                <a:latin typeface="Courier New" pitchFamily="49" charset="0"/>
                <a:ea typeface="굴림" charset="-127"/>
              </a:rPr>
              <a:t>www.codechobo.com</a:t>
            </a:r>
            <a:endParaRPr lang="en-US" altLang="ko-KR" sz="1000" b="1" dirty="0">
              <a:latin typeface="Courier New" pitchFamily="49" charset="0"/>
              <a:ea typeface="굴림" charset="-127"/>
            </a:endParaRPr>
          </a:p>
        </p:txBody>
      </p:sp>
      <p:sp>
        <p:nvSpPr>
          <p:cNvPr id="3089" name="Text Box 9"/>
          <p:cNvSpPr txBox="1">
            <a:spLocks noChangeArrowheads="1"/>
          </p:cNvSpPr>
          <p:nvPr/>
        </p:nvSpPr>
        <p:spPr bwMode="auto">
          <a:xfrm>
            <a:off x="146050" y="188913"/>
            <a:ext cx="5686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Chapter 14. 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람다와 스트림</a:t>
            </a: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(Lambda &amp; Stream)</a:t>
            </a:r>
          </a:p>
        </p:txBody>
      </p:sp>
      <p:sp>
        <p:nvSpPr>
          <p:cNvPr id="14" name="Text Box 20"/>
          <p:cNvSpPr txBox="1">
            <a:spLocks noChangeArrowheads="1"/>
          </p:cNvSpPr>
          <p:nvPr/>
        </p:nvSpPr>
        <p:spPr bwMode="auto">
          <a:xfrm>
            <a:off x="472270" y="1601772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‘T’</a:t>
            </a:r>
            <a:r>
              <a:rPr lang="ko-KR" altLang="en-US" b="1" dirty="0" smtClean="0"/>
              <a:t>타입 객체의 </a:t>
            </a:r>
            <a:r>
              <a:rPr lang="ko-KR" altLang="en-US" b="1" dirty="0" err="1" smtClean="0"/>
              <a:t>래퍼클래스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– Optional&lt;T&gt;</a:t>
            </a:r>
            <a:endParaRPr lang="en-US" altLang="ko-KR" b="1" dirty="0"/>
          </a:p>
        </p:txBody>
      </p:sp>
      <p:grpSp>
        <p:nvGrpSpPr>
          <p:cNvPr id="19" name="그룹 51"/>
          <p:cNvGrpSpPr/>
          <p:nvPr/>
        </p:nvGrpSpPr>
        <p:grpSpPr>
          <a:xfrm>
            <a:off x="628596" y="5583279"/>
            <a:ext cx="8505266" cy="766761"/>
            <a:chOff x="770046" y="5484958"/>
            <a:chExt cx="4125935" cy="912824"/>
          </a:xfrm>
        </p:grpSpPr>
        <p:sp>
          <p:nvSpPr>
            <p:cNvPr id="20" name="모서리가 둥근 직사각형 19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805471" y="5574484"/>
              <a:ext cx="4090510" cy="769453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if(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Optional.ofNullable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str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).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isPresent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()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) {  // if(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str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!=null) {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 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System.out.println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str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)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}</a:t>
              </a:r>
            </a:p>
          </p:txBody>
        </p:sp>
      </p:grpSp>
      <p:sp>
        <p:nvSpPr>
          <p:cNvPr id="30" name="Text Box 20"/>
          <p:cNvSpPr txBox="1">
            <a:spLocks noChangeArrowheads="1"/>
          </p:cNvSpPr>
          <p:nvPr/>
        </p:nvSpPr>
        <p:spPr bwMode="auto">
          <a:xfrm>
            <a:off x="473835" y="5207838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en-US" altLang="ko-KR" b="1" dirty="0" err="1" smtClean="0"/>
              <a:t>isPresent</a:t>
            </a:r>
            <a:r>
              <a:rPr lang="en-US" altLang="ko-KR" b="1" dirty="0" smtClean="0"/>
              <a:t>() – Optional</a:t>
            </a:r>
            <a:r>
              <a:rPr lang="ko-KR" altLang="en-US" b="1" dirty="0" smtClean="0"/>
              <a:t>객체의 값이 </a:t>
            </a:r>
            <a:r>
              <a:rPr lang="en-US" altLang="ko-KR" b="1" dirty="0" smtClean="0"/>
              <a:t>null</a:t>
            </a:r>
            <a:r>
              <a:rPr lang="ko-KR" altLang="en-US" b="1" dirty="0" smtClean="0"/>
              <a:t>이면 </a:t>
            </a:r>
            <a:r>
              <a:rPr lang="en-US" altLang="ko-KR" b="1" dirty="0" smtClean="0"/>
              <a:t>false, </a:t>
            </a:r>
            <a:r>
              <a:rPr lang="ko-KR" altLang="en-US" b="1" dirty="0" smtClean="0"/>
              <a:t>아니면 </a:t>
            </a:r>
            <a:r>
              <a:rPr lang="en-US" altLang="ko-KR" b="1" dirty="0" smtClean="0"/>
              <a:t>true</a:t>
            </a:r>
            <a:r>
              <a:rPr lang="ko-KR" altLang="en-US" b="1" dirty="0" smtClean="0"/>
              <a:t>를 반환</a:t>
            </a:r>
            <a:endParaRPr lang="en-US" altLang="ko-KR" b="1" dirty="0"/>
          </a:p>
        </p:txBody>
      </p:sp>
      <p:grpSp>
        <p:nvGrpSpPr>
          <p:cNvPr id="31" name="그룹 51"/>
          <p:cNvGrpSpPr/>
          <p:nvPr/>
        </p:nvGrpSpPr>
        <p:grpSpPr>
          <a:xfrm>
            <a:off x="628596" y="2005005"/>
            <a:ext cx="8544043" cy="1131891"/>
            <a:chOff x="770046" y="5484958"/>
            <a:chExt cx="4144746" cy="912824"/>
          </a:xfrm>
        </p:grpSpPr>
        <p:sp>
          <p:nvSpPr>
            <p:cNvPr id="32" name="모서리가 둥근 직사각형 31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824282" y="5519799"/>
              <a:ext cx="4090510" cy="819091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String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str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= "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abc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";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Optional&lt;String&gt;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optVal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Optional.of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str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Optional&lt;String&gt;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optVal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Optional.of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("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abc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");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Optional&lt;String&gt;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optVal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Optional.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of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(null)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;         //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NullPointerException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발생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Optional&lt;String&gt;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optVal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Optional.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ofNullable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(null)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; // OK</a:t>
              </a:r>
            </a:p>
          </p:txBody>
        </p:sp>
      </p:grpSp>
      <p:grpSp>
        <p:nvGrpSpPr>
          <p:cNvPr id="12" name="그룹 51"/>
          <p:cNvGrpSpPr/>
          <p:nvPr/>
        </p:nvGrpSpPr>
        <p:grpSpPr>
          <a:xfrm>
            <a:off x="5776930" y="1530324"/>
            <a:ext cx="3286169" cy="985851"/>
            <a:chOff x="770046" y="5484958"/>
            <a:chExt cx="4162458" cy="912824"/>
          </a:xfrm>
        </p:grpSpPr>
        <p:sp>
          <p:nvSpPr>
            <p:cNvPr id="13" name="모서리가 둥근 직사각형 12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841994" y="5558005"/>
              <a:ext cx="4090510" cy="741973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public final class Optional&lt;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T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&gt; {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 private final 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T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value</a:t>
              </a:r>
              <a:endParaRPr lang="ko-KR" altLang="en-US" sz="12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 ...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}</a:t>
              </a:r>
            </a:p>
          </p:txBody>
        </p:sp>
      </p:grpSp>
      <p:sp>
        <p:nvSpPr>
          <p:cNvPr id="34" name="Text Box 20"/>
          <p:cNvSpPr txBox="1">
            <a:spLocks noChangeArrowheads="1"/>
          </p:cNvSpPr>
          <p:nvPr/>
        </p:nvSpPr>
        <p:spPr bwMode="auto">
          <a:xfrm>
            <a:off x="473835" y="3239198"/>
            <a:ext cx="961162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66700" indent="-266700"/>
            <a:r>
              <a:rPr lang="en-US" altLang="ko-KR" b="1" dirty="0" smtClean="0"/>
              <a:t>▶ Optional</a:t>
            </a:r>
            <a:r>
              <a:rPr lang="ko-KR" altLang="en-US" b="1" dirty="0" smtClean="0"/>
              <a:t>객체의 값 가져오기 </a:t>
            </a:r>
            <a:r>
              <a:rPr lang="en-US" altLang="ko-KR" b="1" dirty="0" smtClean="0"/>
              <a:t>– get(</a:t>
            </a:r>
            <a:r>
              <a:rPr lang="en-US" altLang="ko-KR" sz="800" b="1" dirty="0" smtClean="0"/>
              <a:t> </a:t>
            </a:r>
            <a:r>
              <a:rPr lang="en-US" altLang="ko-KR" b="1" dirty="0" smtClean="0"/>
              <a:t>), </a:t>
            </a:r>
            <a:r>
              <a:rPr lang="en-US" altLang="ko-KR" b="1" dirty="0" err="1" smtClean="0"/>
              <a:t>orElse</a:t>
            </a:r>
            <a:r>
              <a:rPr lang="en-US" altLang="ko-KR" b="1" dirty="0" smtClean="0"/>
              <a:t>(</a:t>
            </a:r>
            <a:r>
              <a:rPr lang="en-US" altLang="ko-KR" sz="800" b="1" dirty="0" smtClean="0"/>
              <a:t> </a:t>
            </a:r>
            <a:r>
              <a:rPr lang="en-US" altLang="ko-KR" b="1" dirty="0" smtClean="0"/>
              <a:t>), </a:t>
            </a:r>
            <a:r>
              <a:rPr lang="en-US" altLang="ko-KR" b="1" dirty="0" err="1" smtClean="0"/>
              <a:t>orElseGet</a:t>
            </a:r>
            <a:r>
              <a:rPr lang="en-US" altLang="ko-KR" b="1" dirty="0" smtClean="0"/>
              <a:t>(</a:t>
            </a:r>
            <a:r>
              <a:rPr lang="en-US" altLang="ko-KR" sz="800" b="1" dirty="0" smtClean="0"/>
              <a:t> </a:t>
            </a:r>
            <a:r>
              <a:rPr lang="en-US" altLang="ko-KR" b="1" dirty="0" smtClean="0"/>
              <a:t>), </a:t>
            </a:r>
            <a:r>
              <a:rPr lang="en-US" altLang="ko-KR" b="1" dirty="0" err="1" smtClean="0"/>
              <a:t>orElseThrow</a:t>
            </a:r>
            <a:r>
              <a:rPr lang="en-US" altLang="ko-KR" b="1" dirty="0" smtClean="0"/>
              <a:t>(</a:t>
            </a:r>
            <a:r>
              <a:rPr lang="en-US" altLang="ko-KR" sz="800" b="1" dirty="0" smtClean="0"/>
              <a:t> </a:t>
            </a:r>
            <a:r>
              <a:rPr lang="en-US" altLang="ko-KR" b="1" dirty="0" smtClean="0"/>
              <a:t>)</a:t>
            </a:r>
            <a:endParaRPr lang="en-US" altLang="ko-KR" b="1" dirty="0"/>
          </a:p>
        </p:txBody>
      </p:sp>
      <p:grpSp>
        <p:nvGrpSpPr>
          <p:cNvPr id="35" name="그룹 51"/>
          <p:cNvGrpSpPr/>
          <p:nvPr/>
        </p:nvGrpSpPr>
        <p:grpSpPr>
          <a:xfrm>
            <a:off x="630161" y="3642432"/>
            <a:ext cx="8544043" cy="1131891"/>
            <a:chOff x="770046" y="5484958"/>
            <a:chExt cx="4144746" cy="912824"/>
          </a:xfrm>
        </p:grpSpPr>
        <p:sp>
          <p:nvSpPr>
            <p:cNvPr id="36" name="모서리가 둥근 직사각형 35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824282" y="5519796"/>
              <a:ext cx="4090510" cy="819091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Optional&lt;String&gt;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optVal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Optional.of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("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abc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");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String str1 =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optVal.get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();                  //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optVal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에 저장된 값을 반환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. null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이면 예외발생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String str2 =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optVal.orElse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("");             //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optVal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에 저장된 값이 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null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일 때는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, ""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를 반환</a:t>
              </a:r>
              <a:endParaRPr lang="en-US" altLang="ko-KR" sz="12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String str3 =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optVal.orElseGet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(String::new); // </a:t>
              </a:r>
              <a:r>
                <a:rPr lang="ko-KR" altLang="en-US" sz="1200" b="1" dirty="0" err="1" smtClean="0">
                  <a:latin typeface="Courier New" pitchFamily="49" charset="0"/>
                  <a:cs typeface="Courier New" pitchFamily="49" charset="0"/>
                </a:rPr>
                <a:t>람다식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 사용가능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() -&gt; new String()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String str4 =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optVal.orElseThrow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NullPointerException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::new); // 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널이면 예외발생</a:t>
              </a:r>
            </a:p>
          </p:txBody>
        </p:sp>
      </p:grpSp>
      <p:grpSp>
        <p:nvGrpSpPr>
          <p:cNvPr id="38" name="그룹 51"/>
          <p:cNvGrpSpPr/>
          <p:nvPr/>
        </p:nvGrpSpPr>
        <p:grpSpPr>
          <a:xfrm>
            <a:off x="3586149" y="4663205"/>
            <a:ext cx="5294385" cy="481906"/>
            <a:chOff x="770046" y="5344519"/>
            <a:chExt cx="4125935" cy="926745"/>
          </a:xfrm>
        </p:grpSpPr>
        <p:sp>
          <p:nvSpPr>
            <p:cNvPr id="39" name="모서리가 둥근 직사각형 38"/>
            <p:cNvSpPr/>
            <p:nvPr/>
          </p:nvSpPr>
          <p:spPr bwMode="auto">
            <a:xfrm>
              <a:off x="770046" y="5344519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805471" y="5592345"/>
              <a:ext cx="4090510" cy="678919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T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orElseGet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(Supplier&lt;? extends T&gt; other) 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T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orElseThrow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(Supplier&lt;? extends X&gt;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exceptionSupplier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) </a:t>
              </a:r>
            </a:p>
          </p:txBody>
        </p:sp>
      </p:grpSp>
      <p:grpSp>
        <p:nvGrpSpPr>
          <p:cNvPr id="43" name="그룹 42"/>
          <p:cNvGrpSpPr/>
          <p:nvPr/>
        </p:nvGrpSpPr>
        <p:grpSpPr>
          <a:xfrm>
            <a:off x="2162142" y="6094449"/>
            <a:ext cx="6681880" cy="657234"/>
            <a:chOff x="2162142" y="6094449"/>
            <a:chExt cx="6681880" cy="657234"/>
          </a:xfrm>
        </p:grpSpPr>
        <p:grpSp>
          <p:nvGrpSpPr>
            <p:cNvPr id="26" name="그룹 51"/>
            <p:cNvGrpSpPr/>
            <p:nvPr/>
          </p:nvGrpSpPr>
          <p:grpSpPr>
            <a:xfrm>
              <a:off x="2553682" y="6134244"/>
              <a:ext cx="6290340" cy="617439"/>
              <a:chOff x="752303" y="5765152"/>
              <a:chExt cx="4052636" cy="1303149"/>
            </a:xfrm>
          </p:grpSpPr>
          <p:sp>
            <p:nvSpPr>
              <p:cNvPr id="28" name="모서리가 둥근 직사각형 27"/>
              <p:cNvSpPr/>
              <p:nvPr/>
            </p:nvSpPr>
            <p:spPr bwMode="auto">
              <a:xfrm>
                <a:off x="752303" y="5765152"/>
                <a:ext cx="4052636" cy="1303149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49263" marR="0" indent="-449263" algn="l" defTabSz="914400" rtl="0" eaLnBrk="1" fontAlgn="base" latin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urier New" pitchFamily="49" charset="0"/>
                  <a:ea typeface="견명조" pitchFamily="18" charset="-127"/>
                </a:endParaRPr>
              </a:p>
            </p:txBody>
          </p:sp>
          <p:sp>
            <p:nvSpPr>
              <p:cNvPr id="29" name="직사각형 28"/>
              <p:cNvSpPr/>
              <p:nvPr/>
            </p:nvSpPr>
            <p:spPr>
              <a:xfrm>
                <a:off x="814018" y="5962606"/>
                <a:ext cx="3961531" cy="974377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>
                  <a:spcBef>
                    <a:spcPts val="0"/>
                  </a:spcBef>
                </a:pPr>
                <a:r>
                  <a:rPr lang="en-US" sz="1200" b="1" dirty="0" smtClean="0">
                    <a:latin typeface="Courier New" pitchFamily="49" charset="0"/>
                    <a:cs typeface="Courier New" pitchFamily="49" charset="0"/>
                  </a:rPr>
                  <a:t>// </a:t>
                </a:r>
                <a:r>
                  <a:rPr lang="en-US" sz="1200" b="1" dirty="0" err="1" smtClean="0">
                    <a:latin typeface="Courier New" pitchFamily="49" charset="0"/>
                    <a:cs typeface="Courier New" pitchFamily="49" charset="0"/>
                  </a:rPr>
                  <a:t>ifPresnt</a:t>
                </a:r>
                <a:r>
                  <a:rPr lang="en-US" sz="1200" b="1" dirty="0" smtClean="0">
                    <a:latin typeface="Courier New" pitchFamily="49" charset="0"/>
                    <a:cs typeface="Courier New" pitchFamily="49" charset="0"/>
                  </a:rPr>
                  <a:t>(Consumer) -</a:t>
                </a:r>
                <a:r>
                  <a:rPr lang="ko-KR" altLang="en-US" sz="1200" b="1" dirty="0" smtClean="0">
                    <a:latin typeface="Courier New" pitchFamily="49" charset="0"/>
                    <a:cs typeface="Courier New" pitchFamily="49" charset="0"/>
                  </a:rPr>
                  <a:t> 널이 아닐때만 작업 수행</a:t>
                </a:r>
                <a:r>
                  <a:rPr lang="en-US" altLang="ko-KR" sz="1200" b="1" dirty="0" smtClean="0">
                    <a:latin typeface="Courier New" pitchFamily="49" charset="0"/>
                    <a:cs typeface="Courier New" pitchFamily="49" charset="0"/>
                  </a:rPr>
                  <a:t>, </a:t>
                </a:r>
                <a:r>
                  <a:rPr lang="ko-KR" altLang="en-US" sz="1200" b="1" dirty="0" smtClean="0">
                    <a:latin typeface="Courier New" pitchFamily="49" charset="0"/>
                    <a:cs typeface="Courier New" pitchFamily="49" charset="0"/>
                  </a:rPr>
                  <a:t>널이면 아무 일도 안 함</a:t>
                </a:r>
                <a:endParaRPr lang="en-US" sz="1200" b="1" dirty="0" smtClean="0">
                  <a:latin typeface="Courier New" pitchFamily="49" charset="0"/>
                  <a:cs typeface="Courier New" pitchFamily="49" charset="0"/>
                </a:endParaRPr>
              </a:p>
              <a:p>
                <a:pPr>
                  <a:spcBef>
                    <a:spcPts val="0"/>
                  </a:spcBef>
                </a:pPr>
                <a:r>
                  <a:rPr lang="en-US" sz="1200" b="1" dirty="0" err="1" smtClean="0">
                    <a:latin typeface="Courier New" pitchFamily="49" charset="0"/>
                    <a:cs typeface="Courier New" pitchFamily="49" charset="0"/>
                  </a:rPr>
                  <a:t>Optional.ofNullable</a:t>
                </a:r>
                <a:r>
                  <a:rPr lang="en-US" sz="1200" b="1" dirty="0" smtClean="0">
                    <a:latin typeface="Courier New" pitchFamily="49" charset="0"/>
                    <a:cs typeface="Courier New" pitchFamily="49" charset="0"/>
                  </a:rPr>
                  <a:t>(</a:t>
                </a:r>
                <a:r>
                  <a:rPr lang="en-US" sz="1200" b="1" dirty="0" err="1" smtClean="0">
                    <a:latin typeface="Courier New" pitchFamily="49" charset="0"/>
                    <a:cs typeface="Courier New" pitchFamily="49" charset="0"/>
                  </a:rPr>
                  <a:t>str</a:t>
                </a:r>
                <a:r>
                  <a:rPr lang="en-US" sz="1200" b="1" dirty="0" smtClean="0">
                    <a:latin typeface="Courier New" pitchFamily="49" charset="0"/>
                    <a:cs typeface="Courier New" pitchFamily="49" charset="0"/>
                  </a:rPr>
                  <a:t>).</a:t>
                </a:r>
                <a:r>
                  <a:rPr lang="en-US" sz="1200" b="1" dirty="0" err="1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ifPresent</a:t>
                </a:r>
                <a:r>
                  <a:rPr lang="en-US" sz="1200" b="1" dirty="0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(</a:t>
                </a:r>
                <a:r>
                  <a:rPr lang="en-US" sz="1200" b="1" dirty="0" err="1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System.out</a:t>
                </a:r>
                <a:r>
                  <a:rPr lang="en-US" sz="1200" b="1" dirty="0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::</a:t>
                </a:r>
                <a:r>
                  <a:rPr lang="en-US" sz="1200" b="1" dirty="0" err="1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println</a:t>
                </a:r>
                <a:r>
                  <a:rPr lang="en-US" sz="1200" b="1" dirty="0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)</a:t>
                </a:r>
                <a:r>
                  <a:rPr lang="en-US" sz="1200" b="1" dirty="0" smtClean="0">
                    <a:latin typeface="Courier New" pitchFamily="49" charset="0"/>
                    <a:cs typeface="Courier New" pitchFamily="49" charset="0"/>
                  </a:rPr>
                  <a:t>;</a:t>
                </a:r>
              </a:p>
            </p:txBody>
          </p:sp>
        </p:grpSp>
        <p:sp>
          <p:nvSpPr>
            <p:cNvPr id="41" name="굽은 화살표 40"/>
            <p:cNvSpPr/>
            <p:nvPr/>
          </p:nvSpPr>
          <p:spPr bwMode="auto">
            <a:xfrm rot="10800000" flipH="1">
              <a:off x="2162142" y="6094449"/>
              <a:ext cx="547695" cy="474669"/>
            </a:xfrm>
            <a:prstGeom prst="bentArrow">
              <a:avLst/>
            </a:prstGeom>
            <a:solidFill>
              <a:schemeClr val="bg1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</p:grpSp>
      <p:sp>
        <p:nvSpPr>
          <p:cNvPr id="42" name="Text Box 19"/>
          <p:cNvSpPr txBox="1">
            <a:spLocks noChangeArrowheads="1"/>
          </p:cNvSpPr>
          <p:nvPr/>
        </p:nvSpPr>
        <p:spPr bwMode="auto">
          <a:xfrm>
            <a:off x="358775" y="1016000"/>
            <a:ext cx="8569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800" b="1" dirty="0" smtClean="0"/>
              <a:t>2.5  Optional&lt;T&gt;</a:t>
            </a:r>
            <a:r>
              <a:rPr lang="ko-KR" altLang="en-US" sz="2800" b="1" dirty="0" smtClean="0"/>
              <a:t>과 </a:t>
            </a:r>
            <a:r>
              <a:rPr lang="en-US" altLang="ko-KR" sz="2800" b="1" dirty="0" err="1" smtClean="0"/>
              <a:t>OptionalInt</a:t>
            </a:r>
            <a:r>
              <a:rPr lang="en-US" altLang="ko-KR" sz="2800" b="1" dirty="0" smtClean="0"/>
              <a:t>(1/2)</a:t>
            </a:r>
            <a:endParaRPr lang="en-US" altLang="ko-KR" sz="2800" b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0" grpId="0"/>
      <p:bldP spid="3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863600"/>
          </a:xfrm>
          <a:prstGeom prst="rect">
            <a:avLst/>
          </a:prstGeom>
          <a:solidFill>
            <a:srgbClr val="E4D394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576263"/>
            <a:ext cx="8388350" cy="53975"/>
          </a:xfrm>
          <a:prstGeom prst="rect">
            <a:avLst/>
          </a:prstGeom>
          <a:solidFill>
            <a:srgbClr val="81705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883525" y="42863"/>
            <a:ext cx="1368425" cy="722312"/>
            <a:chOff x="3787" y="1570"/>
            <a:chExt cx="862" cy="455"/>
          </a:xfrm>
        </p:grpSpPr>
        <p:sp>
          <p:nvSpPr>
            <p:cNvPr id="3090" name="Text Box 5"/>
            <p:cNvSpPr txBox="1">
              <a:spLocks noChangeArrowheads="1"/>
            </p:cNvSpPr>
            <p:nvPr/>
          </p:nvSpPr>
          <p:spPr bwMode="auto">
            <a:xfrm>
              <a:off x="3787" y="1570"/>
              <a:ext cx="7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2800">
                  <a:latin typeface="Elephant" pitchFamily="18" charset="0"/>
                  <a:ea typeface="굴림" charset="-127"/>
                </a:rPr>
                <a:t>Java</a:t>
              </a:r>
            </a:p>
          </p:txBody>
        </p:sp>
        <p:sp>
          <p:nvSpPr>
            <p:cNvPr id="3091" name="Text Box 6"/>
            <p:cNvSpPr txBox="1">
              <a:spLocks noChangeArrowheads="1"/>
            </p:cNvSpPr>
            <p:nvPr/>
          </p:nvSpPr>
          <p:spPr bwMode="auto">
            <a:xfrm>
              <a:off x="4308" y="1643"/>
              <a:ext cx="34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1600">
                  <a:latin typeface="HY견고딕" pitchFamily="18" charset="-127"/>
                  <a:ea typeface="HY견고딕" pitchFamily="18" charset="-127"/>
                </a:rPr>
                <a:t>의</a:t>
              </a:r>
            </a:p>
          </p:txBody>
        </p:sp>
        <p:sp>
          <p:nvSpPr>
            <p:cNvPr id="3092" name="Text Box 7"/>
            <p:cNvSpPr txBox="1">
              <a:spLocks noChangeArrowheads="1"/>
            </p:cNvSpPr>
            <p:nvPr/>
          </p:nvSpPr>
          <p:spPr bwMode="auto">
            <a:xfrm>
              <a:off x="4121" y="1775"/>
              <a:ext cx="5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2000">
                  <a:latin typeface="바탕" pitchFamily="18" charset="-127"/>
                  <a:ea typeface="HY견고딕" pitchFamily="18" charset="-127"/>
                </a:rPr>
                <a:t>정석</a:t>
              </a:r>
            </a:p>
          </p:txBody>
        </p:sp>
      </p:grp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443663" y="620713"/>
            <a:ext cx="2016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 err="1">
                <a:latin typeface="Courier New" pitchFamily="49" charset="0"/>
                <a:ea typeface="굴림" charset="-127"/>
              </a:rPr>
              <a:t>http://</a:t>
            </a:r>
            <a:r>
              <a:rPr lang="en-US" altLang="ko-KR" sz="1000" b="1" dirty="0" err="1" smtClean="0">
                <a:latin typeface="Courier New" pitchFamily="49" charset="0"/>
                <a:ea typeface="굴림" charset="-127"/>
              </a:rPr>
              <a:t>www.codechobo.com</a:t>
            </a:r>
            <a:endParaRPr lang="en-US" altLang="ko-KR" sz="1000" b="1" dirty="0">
              <a:latin typeface="Courier New" pitchFamily="49" charset="0"/>
              <a:ea typeface="굴림" charset="-127"/>
            </a:endParaRPr>
          </a:p>
        </p:txBody>
      </p:sp>
      <p:sp>
        <p:nvSpPr>
          <p:cNvPr id="3089" name="Text Box 9"/>
          <p:cNvSpPr txBox="1">
            <a:spLocks noChangeArrowheads="1"/>
          </p:cNvSpPr>
          <p:nvPr/>
        </p:nvSpPr>
        <p:spPr bwMode="auto">
          <a:xfrm>
            <a:off x="146050" y="188913"/>
            <a:ext cx="5686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Chapter 14. 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람다와 스트림</a:t>
            </a: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(Lambda &amp; Stream)</a:t>
            </a:r>
          </a:p>
        </p:txBody>
      </p:sp>
      <p:sp>
        <p:nvSpPr>
          <p:cNvPr id="14" name="Text Box 20"/>
          <p:cNvSpPr txBox="1">
            <a:spLocks noChangeArrowheads="1"/>
          </p:cNvSpPr>
          <p:nvPr/>
        </p:nvSpPr>
        <p:spPr bwMode="auto">
          <a:xfrm>
            <a:off x="336492" y="1601772"/>
            <a:ext cx="110737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smtClean="0"/>
              <a:t>기본형 값을 감싸는 </a:t>
            </a:r>
            <a:r>
              <a:rPr lang="ko-KR" altLang="en-US" b="1" dirty="0" err="1" smtClean="0"/>
              <a:t>래퍼클래스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– </a:t>
            </a:r>
            <a:r>
              <a:rPr lang="en-US" altLang="ko-KR" b="1" dirty="0" err="1" smtClean="0"/>
              <a:t>OptionalInt</a:t>
            </a:r>
            <a:r>
              <a:rPr lang="en-US" altLang="ko-KR" b="1" dirty="0" smtClean="0"/>
              <a:t>, </a:t>
            </a:r>
            <a:r>
              <a:rPr lang="en-US" altLang="ko-KR" b="1" dirty="0" err="1" smtClean="0"/>
              <a:t>OptionalLong</a:t>
            </a:r>
            <a:r>
              <a:rPr lang="en-US" altLang="ko-KR" b="1" dirty="0" smtClean="0"/>
              <a:t>, </a:t>
            </a:r>
            <a:r>
              <a:rPr lang="en-US" altLang="ko-KR" b="1" dirty="0" err="1" smtClean="0"/>
              <a:t>OptionalDouble</a:t>
            </a:r>
            <a:endParaRPr lang="en-US" altLang="ko-KR" b="1" dirty="0"/>
          </a:p>
        </p:txBody>
      </p:sp>
      <p:grpSp>
        <p:nvGrpSpPr>
          <p:cNvPr id="3" name="그룹 51"/>
          <p:cNvGrpSpPr/>
          <p:nvPr/>
        </p:nvGrpSpPr>
        <p:grpSpPr>
          <a:xfrm>
            <a:off x="492819" y="2005010"/>
            <a:ext cx="8580555" cy="1022347"/>
            <a:chOff x="770046" y="5484958"/>
            <a:chExt cx="4162458" cy="912824"/>
          </a:xfrm>
        </p:grpSpPr>
        <p:sp>
          <p:nvSpPr>
            <p:cNvPr id="13" name="모서리가 둥근 직사각형 12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841994" y="5558003"/>
              <a:ext cx="4090510" cy="741973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public final class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Optional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{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 ...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 private final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boolean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isPresent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; // 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값이 저장되어 있으면 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true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 private final 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value; //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타입의 변수</a:t>
              </a:r>
            </a:p>
          </p:txBody>
        </p:sp>
      </p:grpSp>
      <p:sp>
        <p:nvSpPr>
          <p:cNvPr id="16" name="Text Box 19"/>
          <p:cNvSpPr txBox="1">
            <a:spLocks noChangeArrowheads="1"/>
          </p:cNvSpPr>
          <p:nvPr/>
        </p:nvSpPr>
        <p:spPr bwMode="auto">
          <a:xfrm>
            <a:off x="358775" y="1016000"/>
            <a:ext cx="8569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800" b="1" dirty="0" smtClean="0"/>
              <a:t>2.5  Optional&lt;T&gt;</a:t>
            </a:r>
            <a:r>
              <a:rPr lang="ko-KR" altLang="en-US" sz="2800" b="1" dirty="0" smtClean="0"/>
              <a:t>과 </a:t>
            </a:r>
            <a:r>
              <a:rPr lang="en-US" altLang="ko-KR" sz="2800" b="1" dirty="0" err="1" smtClean="0"/>
              <a:t>OptionalInt</a:t>
            </a:r>
            <a:r>
              <a:rPr lang="en-US" altLang="ko-KR" sz="2800" b="1" dirty="0" smtClean="0"/>
              <a:t>(2/2)</a:t>
            </a:r>
            <a:endParaRPr lang="en-US" altLang="ko-KR" sz="2800" b="1" dirty="0"/>
          </a:p>
        </p:txBody>
      </p:sp>
      <p:sp>
        <p:nvSpPr>
          <p:cNvPr id="17" name="Text Box 20"/>
          <p:cNvSpPr txBox="1">
            <a:spLocks noChangeArrowheads="1"/>
          </p:cNvSpPr>
          <p:nvPr/>
        </p:nvSpPr>
        <p:spPr bwMode="auto">
          <a:xfrm>
            <a:off x="338058" y="3173409"/>
            <a:ext cx="86042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en-US" altLang="ko-KR" b="1" dirty="0" err="1" smtClean="0"/>
              <a:t>OptionalInt</a:t>
            </a:r>
            <a:r>
              <a:rPr lang="ko-KR" altLang="en-US" b="1" dirty="0" smtClean="0"/>
              <a:t>의 값 가져오기 </a:t>
            </a:r>
            <a:r>
              <a:rPr lang="en-US" altLang="ko-KR" b="1" dirty="0" smtClean="0"/>
              <a:t>–  </a:t>
            </a:r>
            <a:r>
              <a:rPr lang="en-US" altLang="ko-KR" b="1" dirty="0" err="1" smtClean="0"/>
              <a:t>int</a:t>
            </a:r>
            <a:r>
              <a:rPr lang="en-US" altLang="ko-KR" b="1" dirty="0" smtClean="0"/>
              <a:t> </a:t>
            </a:r>
            <a:r>
              <a:rPr lang="en-US" altLang="ko-KR" b="1" dirty="0" err="1" smtClean="0"/>
              <a:t>getAsInt</a:t>
            </a:r>
            <a:r>
              <a:rPr lang="en-US" altLang="ko-KR" b="1" dirty="0" smtClean="0"/>
              <a:t>(</a:t>
            </a:r>
            <a:r>
              <a:rPr lang="en-US" altLang="ko-KR" sz="800" b="1" dirty="0" smtClean="0"/>
              <a:t> </a:t>
            </a:r>
            <a:r>
              <a:rPr lang="en-US" altLang="ko-KR" b="1" dirty="0" smtClean="0"/>
              <a:t>)</a:t>
            </a:r>
            <a:endParaRPr lang="en-US" altLang="ko-KR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20112" y="3635195"/>
            <a:ext cx="3541761" cy="13273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 Box 20"/>
          <p:cNvSpPr txBox="1">
            <a:spLocks noChangeArrowheads="1"/>
          </p:cNvSpPr>
          <p:nvPr/>
        </p:nvSpPr>
        <p:spPr bwMode="auto">
          <a:xfrm>
            <a:off x="339735" y="5035574"/>
            <a:ext cx="86042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smtClean="0"/>
              <a:t>빈 </a:t>
            </a:r>
            <a:r>
              <a:rPr lang="en-US" altLang="ko-KR" b="1" dirty="0" smtClean="0"/>
              <a:t>Optional</a:t>
            </a:r>
            <a:r>
              <a:rPr lang="ko-KR" altLang="en-US" b="1" dirty="0" smtClean="0"/>
              <a:t>객체의 비교</a:t>
            </a:r>
            <a:endParaRPr lang="en-US" altLang="ko-KR" b="1" dirty="0"/>
          </a:p>
        </p:txBody>
      </p:sp>
      <p:grpSp>
        <p:nvGrpSpPr>
          <p:cNvPr id="19" name="그룹 51"/>
          <p:cNvGrpSpPr/>
          <p:nvPr/>
        </p:nvGrpSpPr>
        <p:grpSpPr>
          <a:xfrm>
            <a:off x="494384" y="5437217"/>
            <a:ext cx="8544043" cy="1241440"/>
            <a:chOff x="770046" y="5458109"/>
            <a:chExt cx="4144746" cy="912824"/>
          </a:xfrm>
        </p:grpSpPr>
        <p:sp>
          <p:nvSpPr>
            <p:cNvPr id="20" name="모서리가 둥근 직사각형 19"/>
            <p:cNvSpPr/>
            <p:nvPr/>
          </p:nvSpPr>
          <p:spPr bwMode="auto">
            <a:xfrm>
              <a:off x="770046" y="5458109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824282" y="5574434"/>
              <a:ext cx="4090510" cy="771186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OptionalInt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opt1 =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OptionalInt.of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(0);   //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OptionalInt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에 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0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을 저장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OptionalInt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opt2 =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OptionalInt.empty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(); // 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빈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OptionalInt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객체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.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OptionalInt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에 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0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이 저장됨</a:t>
              </a:r>
              <a:endParaRPr lang="en-US" altLang="ko-KR" sz="12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Optional&lt;String&gt; opt3 =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Optional.ofNullable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(null);  // null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이 저장된 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Optional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객체</a:t>
              </a:r>
              <a:endParaRPr lang="en-US" altLang="ko-KR" sz="12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Optional&lt;String&gt; opt4 =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Optional.empty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();           // 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빈 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Optional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객체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. null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이 저장됨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System.out.println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(opt1.equals(opt2)); // false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System.out.println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(opt3.equals(opt4)); // true</a:t>
              </a: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1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863600"/>
          </a:xfrm>
          <a:prstGeom prst="rect">
            <a:avLst/>
          </a:prstGeom>
          <a:solidFill>
            <a:srgbClr val="E4D394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576263"/>
            <a:ext cx="8388350" cy="53975"/>
          </a:xfrm>
          <a:prstGeom prst="rect">
            <a:avLst/>
          </a:prstGeom>
          <a:solidFill>
            <a:srgbClr val="81705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883525" y="42863"/>
            <a:ext cx="1368425" cy="722312"/>
            <a:chOff x="3787" y="1570"/>
            <a:chExt cx="862" cy="455"/>
          </a:xfrm>
        </p:grpSpPr>
        <p:sp>
          <p:nvSpPr>
            <p:cNvPr id="3090" name="Text Box 5"/>
            <p:cNvSpPr txBox="1">
              <a:spLocks noChangeArrowheads="1"/>
            </p:cNvSpPr>
            <p:nvPr/>
          </p:nvSpPr>
          <p:spPr bwMode="auto">
            <a:xfrm>
              <a:off x="3787" y="1570"/>
              <a:ext cx="7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2800">
                  <a:latin typeface="Elephant" pitchFamily="18" charset="0"/>
                  <a:ea typeface="굴림" charset="-127"/>
                </a:rPr>
                <a:t>Java</a:t>
              </a:r>
            </a:p>
          </p:txBody>
        </p:sp>
        <p:sp>
          <p:nvSpPr>
            <p:cNvPr id="3091" name="Text Box 6"/>
            <p:cNvSpPr txBox="1">
              <a:spLocks noChangeArrowheads="1"/>
            </p:cNvSpPr>
            <p:nvPr/>
          </p:nvSpPr>
          <p:spPr bwMode="auto">
            <a:xfrm>
              <a:off x="4308" y="1643"/>
              <a:ext cx="34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1600">
                  <a:latin typeface="HY견고딕" pitchFamily="18" charset="-127"/>
                  <a:ea typeface="HY견고딕" pitchFamily="18" charset="-127"/>
                </a:rPr>
                <a:t>의</a:t>
              </a:r>
            </a:p>
          </p:txBody>
        </p:sp>
        <p:sp>
          <p:nvSpPr>
            <p:cNvPr id="3092" name="Text Box 7"/>
            <p:cNvSpPr txBox="1">
              <a:spLocks noChangeArrowheads="1"/>
            </p:cNvSpPr>
            <p:nvPr/>
          </p:nvSpPr>
          <p:spPr bwMode="auto">
            <a:xfrm>
              <a:off x="4121" y="1775"/>
              <a:ext cx="5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2000">
                  <a:latin typeface="바탕" pitchFamily="18" charset="-127"/>
                  <a:ea typeface="HY견고딕" pitchFamily="18" charset="-127"/>
                </a:rPr>
                <a:t>정석</a:t>
              </a:r>
            </a:p>
          </p:txBody>
        </p:sp>
      </p:grp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443663" y="620713"/>
            <a:ext cx="2016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 err="1">
                <a:latin typeface="Courier New" pitchFamily="49" charset="0"/>
                <a:ea typeface="굴림" charset="-127"/>
              </a:rPr>
              <a:t>http://</a:t>
            </a:r>
            <a:r>
              <a:rPr lang="en-US" altLang="ko-KR" sz="1000" b="1" dirty="0" err="1" smtClean="0">
                <a:latin typeface="Courier New" pitchFamily="49" charset="0"/>
                <a:ea typeface="굴림" charset="-127"/>
              </a:rPr>
              <a:t>www.codechobo.com</a:t>
            </a:r>
            <a:endParaRPr lang="en-US" altLang="ko-KR" sz="1000" b="1" dirty="0">
              <a:latin typeface="Courier New" pitchFamily="49" charset="0"/>
              <a:ea typeface="굴림" charset="-127"/>
            </a:endParaRPr>
          </a:p>
        </p:txBody>
      </p:sp>
      <p:sp>
        <p:nvSpPr>
          <p:cNvPr id="3078" name="Text Box 19"/>
          <p:cNvSpPr txBox="1">
            <a:spLocks noChangeArrowheads="1"/>
          </p:cNvSpPr>
          <p:nvPr/>
        </p:nvSpPr>
        <p:spPr bwMode="auto">
          <a:xfrm>
            <a:off x="358775" y="1016000"/>
            <a:ext cx="8569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800" b="1" dirty="0" smtClean="0"/>
              <a:t>2.6  </a:t>
            </a:r>
            <a:r>
              <a:rPr lang="ko-KR" altLang="en-US" sz="2800" b="1" dirty="0" err="1" smtClean="0"/>
              <a:t>스트림의</a:t>
            </a:r>
            <a:r>
              <a:rPr lang="ko-KR" altLang="en-US" sz="2800" b="1" dirty="0" smtClean="0"/>
              <a:t> 최종연산</a:t>
            </a:r>
            <a:r>
              <a:rPr lang="en-US" altLang="ko-KR" sz="2800" b="1" dirty="0" smtClean="0"/>
              <a:t>(1/4)</a:t>
            </a:r>
            <a:endParaRPr lang="en-US" altLang="ko-KR" sz="2800" b="1" dirty="0"/>
          </a:p>
        </p:txBody>
      </p:sp>
      <p:sp>
        <p:nvSpPr>
          <p:cNvPr id="3089" name="Text Box 9"/>
          <p:cNvSpPr txBox="1">
            <a:spLocks noChangeArrowheads="1"/>
          </p:cNvSpPr>
          <p:nvPr/>
        </p:nvSpPr>
        <p:spPr bwMode="auto">
          <a:xfrm>
            <a:off x="146050" y="188913"/>
            <a:ext cx="5686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Chapter 14. 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람다와 스트림</a:t>
            </a: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(Lambda &amp; Stream)</a:t>
            </a:r>
          </a:p>
        </p:txBody>
      </p:sp>
      <p:grpSp>
        <p:nvGrpSpPr>
          <p:cNvPr id="3" name="그룹 51"/>
          <p:cNvGrpSpPr/>
          <p:nvPr/>
        </p:nvGrpSpPr>
        <p:grpSpPr>
          <a:xfrm>
            <a:off x="774648" y="2005007"/>
            <a:ext cx="8251938" cy="766760"/>
            <a:chOff x="770046" y="5484958"/>
            <a:chExt cx="4127033" cy="912824"/>
          </a:xfrm>
        </p:grpSpPr>
        <p:sp>
          <p:nvSpPr>
            <p:cNvPr id="12" name="모서리가 둥근 직사각형 11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806569" y="5664505"/>
              <a:ext cx="4090510" cy="54961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v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oid  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forEach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(Consumer&lt;? super T&gt; action)        // </a:t>
              </a:r>
              <a:r>
                <a:rPr lang="ko-KR" altLang="en-US" sz="1200" b="1" dirty="0" err="1" smtClean="0">
                  <a:latin typeface="Courier New" pitchFamily="49" charset="0"/>
                  <a:cs typeface="Courier New" pitchFamily="49" charset="0"/>
                </a:rPr>
                <a:t>병렬스트림인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 경우 순서가 보장되지 않음</a:t>
              </a:r>
              <a:endParaRPr lang="en-US" sz="12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v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oid  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forEach</a:t>
              </a:r>
              <a:r>
                <a:rPr lang="en-US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Ordered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(Consumer&lt;? super T&gt; action) // </a:t>
              </a:r>
              <a:r>
                <a:rPr lang="ko-KR" altLang="en-US" sz="1200" b="1" dirty="0" err="1" smtClean="0">
                  <a:latin typeface="Courier New" pitchFamily="49" charset="0"/>
                  <a:cs typeface="Courier New" pitchFamily="49" charset="0"/>
                </a:rPr>
                <a:t>병렬스트림인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 경우에도 순서가 보장됨</a:t>
              </a:r>
            </a:p>
          </p:txBody>
        </p:sp>
      </p:grpSp>
      <p:sp>
        <p:nvSpPr>
          <p:cNvPr id="14" name="Text Box 20"/>
          <p:cNvSpPr txBox="1">
            <a:spLocks noChangeArrowheads="1"/>
          </p:cNvSpPr>
          <p:nvPr/>
        </p:nvSpPr>
        <p:spPr bwMode="auto">
          <a:xfrm>
            <a:off x="472270" y="1601772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err="1" smtClean="0"/>
              <a:t>스트림의</a:t>
            </a:r>
            <a:r>
              <a:rPr lang="ko-KR" altLang="en-US" b="1" dirty="0" smtClean="0"/>
              <a:t> 모든 요소에 지정된 작업을 수행 </a:t>
            </a:r>
            <a:r>
              <a:rPr lang="en-US" altLang="ko-KR" b="1" dirty="0" smtClean="0"/>
              <a:t>–  </a:t>
            </a:r>
            <a:r>
              <a:rPr lang="en-US" altLang="ko-KR" b="1" dirty="0" err="1" smtClean="0"/>
              <a:t>forEach</a:t>
            </a:r>
            <a:r>
              <a:rPr lang="en-US" altLang="ko-KR" b="1" dirty="0" smtClean="0"/>
              <a:t>(</a:t>
            </a:r>
            <a:r>
              <a:rPr lang="en-US" altLang="ko-KR" sz="800" b="1" dirty="0" smtClean="0"/>
              <a:t> </a:t>
            </a:r>
            <a:r>
              <a:rPr lang="en-US" altLang="ko-KR" b="1" dirty="0" smtClean="0"/>
              <a:t>), </a:t>
            </a:r>
            <a:r>
              <a:rPr lang="en-US" altLang="ko-KR" b="1" dirty="0" err="1" smtClean="0"/>
              <a:t>forEachOrdered</a:t>
            </a:r>
            <a:r>
              <a:rPr lang="en-US" altLang="ko-KR" b="1" dirty="0" smtClean="0"/>
              <a:t>(</a:t>
            </a:r>
            <a:r>
              <a:rPr lang="en-US" altLang="ko-KR" sz="800" b="1" dirty="0" smtClean="0"/>
              <a:t> </a:t>
            </a:r>
            <a:r>
              <a:rPr lang="en-US" altLang="ko-KR" b="1" dirty="0" smtClean="0"/>
              <a:t>)</a:t>
            </a:r>
            <a:endParaRPr lang="en-US" altLang="ko-KR" b="1" dirty="0"/>
          </a:p>
        </p:txBody>
      </p:sp>
      <p:grpSp>
        <p:nvGrpSpPr>
          <p:cNvPr id="15" name="그룹 51"/>
          <p:cNvGrpSpPr/>
          <p:nvPr/>
        </p:nvGrpSpPr>
        <p:grpSpPr>
          <a:xfrm>
            <a:off x="774648" y="2881305"/>
            <a:ext cx="8251938" cy="620721"/>
            <a:chOff x="770046" y="5431262"/>
            <a:chExt cx="4127033" cy="912824"/>
          </a:xfrm>
        </p:grpSpPr>
        <p:sp>
          <p:nvSpPr>
            <p:cNvPr id="16" name="모서리가 둥근 직사각형 15"/>
            <p:cNvSpPr/>
            <p:nvPr/>
          </p:nvSpPr>
          <p:spPr bwMode="auto">
            <a:xfrm>
              <a:off x="770046" y="5431262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806569" y="5557777"/>
              <a:ext cx="4090510" cy="678918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IntStream.range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(1, 10).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sequential()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.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forEach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System.out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::print);        // 123456789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IntStream.range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(1, 10).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sequential()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.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forEachOrdered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System.out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::print); // 123456789</a:t>
              </a:r>
            </a:p>
          </p:txBody>
        </p:sp>
      </p:grpSp>
      <p:grpSp>
        <p:nvGrpSpPr>
          <p:cNvPr id="18" name="그룹 51"/>
          <p:cNvGrpSpPr/>
          <p:nvPr/>
        </p:nvGrpSpPr>
        <p:grpSpPr>
          <a:xfrm>
            <a:off x="774648" y="3575052"/>
            <a:ext cx="8251938" cy="620721"/>
            <a:chOff x="770046" y="5431262"/>
            <a:chExt cx="4127033" cy="912824"/>
          </a:xfrm>
        </p:grpSpPr>
        <p:sp>
          <p:nvSpPr>
            <p:cNvPr id="19" name="모서리가 둥근 직사각형 18"/>
            <p:cNvSpPr/>
            <p:nvPr/>
          </p:nvSpPr>
          <p:spPr bwMode="auto">
            <a:xfrm>
              <a:off x="770046" y="5431262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806569" y="5557777"/>
              <a:ext cx="4090510" cy="678918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IntStream.range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(1, 10).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parallel()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.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forEach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System.out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::print);          // 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683295714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IntStream.range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(1, 10).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parallel()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.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forEachOrdered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System.out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::print);   // 123456789</a:t>
              </a:r>
            </a:p>
          </p:txBody>
        </p:sp>
      </p:grpSp>
      <p:grpSp>
        <p:nvGrpSpPr>
          <p:cNvPr id="21" name="그룹 51"/>
          <p:cNvGrpSpPr/>
          <p:nvPr/>
        </p:nvGrpSpPr>
        <p:grpSpPr>
          <a:xfrm>
            <a:off x="738137" y="4853014"/>
            <a:ext cx="8178911" cy="657228"/>
            <a:chOff x="751842" y="5484958"/>
            <a:chExt cx="4090511" cy="912824"/>
          </a:xfrm>
        </p:grpSpPr>
        <p:sp>
          <p:nvSpPr>
            <p:cNvPr id="22" name="모서리가 둥근 직사각형 21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751842" y="5658825"/>
              <a:ext cx="4090511" cy="549611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Object[]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toArray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()                           // </a:t>
              </a:r>
              <a:r>
                <a:rPr lang="ko-KR" altLang="en-US" sz="1200" b="1" dirty="0" err="1" smtClean="0">
                  <a:latin typeface="Courier New" pitchFamily="49" charset="0"/>
                  <a:cs typeface="Courier New" pitchFamily="49" charset="0"/>
                </a:rPr>
                <a:t>스트림의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 모든 요소를 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Object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배열에 담아 반환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endParaRPr lang="en-US" sz="12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A[]     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toArray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IntFunction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&lt;A[]&gt; generator) // </a:t>
              </a:r>
              <a:r>
                <a:rPr lang="ko-KR" altLang="en-US" sz="1200" b="1" dirty="0" err="1" smtClean="0">
                  <a:latin typeface="Courier New" pitchFamily="49" charset="0"/>
                  <a:cs typeface="Courier New" pitchFamily="49" charset="0"/>
                </a:rPr>
                <a:t>스트림의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 모든 요소를 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A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타입의 배열에 담아 반환</a:t>
              </a:r>
            </a:p>
          </p:txBody>
        </p:sp>
      </p:grpSp>
      <p:sp>
        <p:nvSpPr>
          <p:cNvPr id="24" name="Text Box 20"/>
          <p:cNvSpPr txBox="1">
            <a:spLocks noChangeArrowheads="1"/>
          </p:cNvSpPr>
          <p:nvPr/>
        </p:nvSpPr>
        <p:spPr bwMode="auto">
          <a:xfrm>
            <a:off x="472158" y="4449785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err="1" smtClean="0"/>
              <a:t>스트림을</a:t>
            </a:r>
            <a:r>
              <a:rPr lang="ko-KR" altLang="en-US" b="1" dirty="0" smtClean="0"/>
              <a:t> 배열로 변환 </a:t>
            </a:r>
            <a:r>
              <a:rPr lang="en-US" altLang="ko-KR" b="1" dirty="0" smtClean="0"/>
              <a:t>–  </a:t>
            </a:r>
            <a:r>
              <a:rPr lang="en-US" altLang="ko-KR" b="1" dirty="0" err="1" smtClean="0"/>
              <a:t>toArray</a:t>
            </a:r>
            <a:r>
              <a:rPr lang="en-US" altLang="ko-KR" b="1" dirty="0" smtClean="0"/>
              <a:t>(</a:t>
            </a:r>
            <a:r>
              <a:rPr lang="en-US" altLang="ko-KR" sz="800" b="1" dirty="0" smtClean="0"/>
              <a:t> </a:t>
            </a:r>
            <a:r>
              <a:rPr lang="en-US" altLang="ko-KR" b="1" dirty="0" smtClean="0"/>
              <a:t>)</a:t>
            </a:r>
            <a:endParaRPr lang="en-US" altLang="ko-KR" b="1" dirty="0"/>
          </a:p>
        </p:txBody>
      </p:sp>
      <p:grpSp>
        <p:nvGrpSpPr>
          <p:cNvPr id="25" name="그룹 51"/>
          <p:cNvGrpSpPr/>
          <p:nvPr/>
        </p:nvGrpSpPr>
        <p:grpSpPr>
          <a:xfrm>
            <a:off x="774535" y="5619785"/>
            <a:ext cx="8252051" cy="803281"/>
            <a:chOff x="770046" y="5484958"/>
            <a:chExt cx="4127090" cy="912824"/>
          </a:xfrm>
        </p:grpSpPr>
        <p:sp>
          <p:nvSpPr>
            <p:cNvPr id="26" name="모서리가 둥근 직사각형 25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806625" y="5612258"/>
              <a:ext cx="4090511" cy="734471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Student[]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stuNames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studentStream.toArray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(Student[]::new); // OK. x-&gt; new Student[x]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Student[]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stuNames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studentStream.toArray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(); // </a:t>
              </a:r>
              <a:r>
                <a:rPr lang="ko-KR" altLang="en-US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에러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. 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Object[]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stuNames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studentStream.toArray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(); // OK.</a:t>
              </a: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863600"/>
          </a:xfrm>
          <a:prstGeom prst="rect">
            <a:avLst/>
          </a:prstGeom>
          <a:solidFill>
            <a:srgbClr val="E4D394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576263"/>
            <a:ext cx="8388350" cy="53975"/>
          </a:xfrm>
          <a:prstGeom prst="rect">
            <a:avLst/>
          </a:prstGeom>
          <a:solidFill>
            <a:srgbClr val="81705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883525" y="42863"/>
            <a:ext cx="1368425" cy="722312"/>
            <a:chOff x="3787" y="1570"/>
            <a:chExt cx="862" cy="455"/>
          </a:xfrm>
        </p:grpSpPr>
        <p:sp>
          <p:nvSpPr>
            <p:cNvPr id="3090" name="Text Box 5"/>
            <p:cNvSpPr txBox="1">
              <a:spLocks noChangeArrowheads="1"/>
            </p:cNvSpPr>
            <p:nvPr/>
          </p:nvSpPr>
          <p:spPr bwMode="auto">
            <a:xfrm>
              <a:off x="3787" y="1570"/>
              <a:ext cx="7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2800">
                  <a:latin typeface="Elephant" pitchFamily="18" charset="0"/>
                  <a:ea typeface="굴림" charset="-127"/>
                </a:rPr>
                <a:t>Java</a:t>
              </a:r>
            </a:p>
          </p:txBody>
        </p:sp>
        <p:sp>
          <p:nvSpPr>
            <p:cNvPr id="3091" name="Text Box 6"/>
            <p:cNvSpPr txBox="1">
              <a:spLocks noChangeArrowheads="1"/>
            </p:cNvSpPr>
            <p:nvPr/>
          </p:nvSpPr>
          <p:spPr bwMode="auto">
            <a:xfrm>
              <a:off x="4308" y="1643"/>
              <a:ext cx="34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1600">
                  <a:latin typeface="HY견고딕" pitchFamily="18" charset="-127"/>
                  <a:ea typeface="HY견고딕" pitchFamily="18" charset="-127"/>
                </a:rPr>
                <a:t>의</a:t>
              </a:r>
            </a:p>
          </p:txBody>
        </p:sp>
        <p:sp>
          <p:nvSpPr>
            <p:cNvPr id="3092" name="Text Box 7"/>
            <p:cNvSpPr txBox="1">
              <a:spLocks noChangeArrowheads="1"/>
            </p:cNvSpPr>
            <p:nvPr/>
          </p:nvSpPr>
          <p:spPr bwMode="auto">
            <a:xfrm>
              <a:off x="4121" y="1775"/>
              <a:ext cx="5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2000">
                  <a:latin typeface="바탕" pitchFamily="18" charset="-127"/>
                  <a:ea typeface="HY견고딕" pitchFamily="18" charset="-127"/>
                </a:rPr>
                <a:t>정석</a:t>
              </a:r>
            </a:p>
          </p:txBody>
        </p:sp>
      </p:grp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443663" y="620713"/>
            <a:ext cx="2016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 err="1">
                <a:latin typeface="Courier New" pitchFamily="49" charset="0"/>
                <a:ea typeface="굴림" charset="-127"/>
              </a:rPr>
              <a:t>http://</a:t>
            </a:r>
            <a:r>
              <a:rPr lang="en-US" altLang="ko-KR" sz="1000" b="1" dirty="0" err="1" smtClean="0">
                <a:latin typeface="Courier New" pitchFamily="49" charset="0"/>
                <a:ea typeface="굴림" charset="-127"/>
              </a:rPr>
              <a:t>www.codechobo.com</a:t>
            </a:r>
            <a:endParaRPr lang="en-US" altLang="ko-KR" sz="1000" b="1" dirty="0">
              <a:latin typeface="Courier New" pitchFamily="49" charset="0"/>
              <a:ea typeface="굴림" charset="-127"/>
            </a:endParaRPr>
          </a:p>
        </p:txBody>
      </p:sp>
      <p:sp>
        <p:nvSpPr>
          <p:cNvPr id="3078" name="Text Box 19"/>
          <p:cNvSpPr txBox="1">
            <a:spLocks noChangeArrowheads="1"/>
          </p:cNvSpPr>
          <p:nvPr/>
        </p:nvSpPr>
        <p:spPr bwMode="auto">
          <a:xfrm>
            <a:off x="358775" y="1016000"/>
            <a:ext cx="8569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800" b="1" dirty="0" smtClean="0"/>
              <a:t>2.6  </a:t>
            </a:r>
            <a:r>
              <a:rPr lang="ko-KR" altLang="en-US" sz="2800" b="1" dirty="0" err="1" smtClean="0"/>
              <a:t>스트림의</a:t>
            </a:r>
            <a:r>
              <a:rPr lang="ko-KR" altLang="en-US" sz="2800" b="1" dirty="0" smtClean="0"/>
              <a:t> 최종연산</a:t>
            </a:r>
            <a:r>
              <a:rPr lang="en-US" altLang="ko-KR" sz="2800" b="1" dirty="0" smtClean="0"/>
              <a:t>(2/4)</a:t>
            </a:r>
            <a:endParaRPr lang="en-US" altLang="ko-KR" sz="2800" b="1" dirty="0"/>
          </a:p>
        </p:txBody>
      </p:sp>
      <p:sp>
        <p:nvSpPr>
          <p:cNvPr id="3089" name="Text Box 9"/>
          <p:cNvSpPr txBox="1">
            <a:spLocks noChangeArrowheads="1"/>
          </p:cNvSpPr>
          <p:nvPr/>
        </p:nvSpPr>
        <p:spPr bwMode="auto">
          <a:xfrm>
            <a:off x="146050" y="188913"/>
            <a:ext cx="5686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Chapter 14. 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람다와 스트림</a:t>
            </a: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(Lambda &amp; Stream)</a:t>
            </a:r>
          </a:p>
        </p:txBody>
      </p:sp>
      <p:grpSp>
        <p:nvGrpSpPr>
          <p:cNvPr id="3" name="그룹 51"/>
          <p:cNvGrpSpPr/>
          <p:nvPr/>
        </p:nvGrpSpPr>
        <p:grpSpPr>
          <a:xfrm>
            <a:off x="628596" y="2005008"/>
            <a:ext cx="8505266" cy="766760"/>
            <a:chOff x="770046" y="5484958"/>
            <a:chExt cx="4125935" cy="912824"/>
          </a:xfrm>
        </p:grpSpPr>
        <p:sp>
          <p:nvSpPr>
            <p:cNvPr id="12" name="모서리가 둥근 직사각형 11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805471" y="5574489"/>
              <a:ext cx="4090510" cy="769454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boolean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allMatch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(Predicate&lt;? super T&gt; predicate) // 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모든 요소가 조건을 만족시키면 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true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boolean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anyMatch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(Predicate&lt;? super T&gt; predicate) // 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한 요소라도 조건을 만족시키면 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true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boolean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noneMatch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(Predicate&lt;? super T&gt; predicate) // 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모든 요소가 조건을 만족시키지 않으면 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true</a:t>
              </a:r>
            </a:p>
          </p:txBody>
        </p:sp>
      </p:grpSp>
      <p:sp>
        <p:nvSpPr>
          <p:cNvPr id="14" name="Text Box 20"/>
          <p:cNvSpPr txBox="1">
            <a:spLocks noChangeArrowheads="1"/>
          </p:cNvSpPr>
          <p:nvPr/>
        </p:nvSpPr>
        <p:spPr bwMode="auto">
          <a:xfrm>
            <a:off x="472270" y="1601772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smtClean="0"/>
              <a:t>조건 검사 </a:t>
            </a:r>
            <a:r>
              <a:rPr lang="en-US" altLang="ko-KR" b="1" dirty="0" smtClean="0"/>
              <a:t>–  </a:t>
            </a:r>
            <a:r>
              <a:rPr lang="en-US" altLang="ko-KR" b="1" dirty="0" err="1" smtClean="0"/>
              <a:t>allMatch</a:t>
            </a:r>
            <a:r>
              <a:rPr lang="en-US" altLang="ko-KR" b="1" dirty="0" smtClean="0"/>
              <a:t>(</a:t>
            </a:r>
            <a:r>
              <a:rPr lang="en-US" altLang="ko-KR" sz="800" b="1" dirty="0" smtClean="0"/>
              <a:t> </a:t>
            </a:r>
            <a:r>
              <a:rPr lang="en-US" altLang="ko-KR" b="1" dirty="0" smtClean="0"/>
              <a:t>), </a:t>
            </a:r>
            <a:r>
              <a:rPr lang="en-US" altLang="ko-KR" b="1" dirty="0" err="1" smtClean="0"/>
              <a:t>anyMatch</a:t>
            </a:r>
            <a:r>
              <a:rPr lang="en-US" altLang="ko-KR" b="1" dirty="0" smtClean="0"/>
              <a:t>(</a:t>
            </a:r>
            <a:r>
              <a:rPr lang="en-US" altLang="ko-KR" sz="800" b="1" dirty="0" smtClean="0"/>
              <a:t> </a:t>
            </a:r>
            <a:r>
              <a:rPr lang="en-US" altLang="ko-KR" b="1" dirty="0" smtClean="0"/>
              <a:t>), </a:t>
            </a:r>
            <a:r>
              <a:rPr lang="en-US" altLang="ko-KR" b="1" dirty="0" err="1" smtClean="0"/>
              <a:t>noneMatch</a:t>
            </a:r>
            <a:r>
              <a:rPr lang="en-US" altLang="ko-KR" b="1" dirty="0" smtClean="0"/>
              <a:t>(</a:t>
            </a:r>
            <a:r>
              <a:rPr lang="en-US" altLang="ko-KR" sz="800" b="1" dirty="0" smtClean="0"/>
              <a:t> </a:t>
            </a:r>
            <a:r>
              <a:rPr lang="en-US" altLang="ko-KR" b="1" dirty="0" smtClean="0"/>
              <a:t>)</a:t>
            </a:r>
            <a:endParaRPr lang="en-US" altLang="ko-KR" b="1" dirty="0"/>
          </a:p>
        </p:txBody>
      </p:sp>
      <p:grpSp>
        <p:nvGrpSpPr>
          <p:cNvPr id="21" name="그룹 51"/>
          <p:cNvGrpSpPr/>
          <p:nvPr/>
        </p:nvGrpSpPr>
        <p:grpSpPr>
          <a:xfrm>
            <a:off x="620721" y="2844792"/>
            <a:ext cx="8523279" cy="438156"/>
            <a:chOff x="770046" y="5431262"/>
            <a:chExt cx="4127033" cy="912824"/>
          </a:xfrm>
        </p:grpSpPr>
        <p:sp>
          <p:nvSpPr>
            <p:cNvPr id="22" name="모서리가 둥근 직사각형 21"/>
            <p:cNvSpPr/>
            <p:nvPr/>
          </p:nvSpPr>
          <p:spPr bwMode="auto">
            <a:xfrm>
              <a:off x="770046" y="5431262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806569" y="5583395"/>
              <a:ext cx="4090510" cy="57708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boolean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hasFailedStu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stuStream.anyMatch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(s-&gt;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s.getTotalScore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()&lt;=100); // 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낙제자가 있는지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?</a:t>
              </a:r>
            </a:p>
          </p:txBody>
        </p:sp>
      </p:grpSp>
      <p:grpSp>
        <p:nvGrpSpPr>
          <p:cNvPr id="24" name="그룹 51"/>
          <p:cNvGrpSpPr/>
          <p:nvPr/>
        </p:nvGrpSpPr>
        <p:grpSpPr>
          <a:xfrm>
            <a:off x="628596" y="4889520"/>
            <a:ext cx="8432241" cy="655641"/>
            <a:chOff x="769287" y="5484958"/>
            <a:chExt cx="4090510" cy="912824"/>
          </a:xfrm>
        </p:grpSpPr>
        <p:sp>
          <p:nvSpPr>
            <p:cNvPr id="25" name="모서리가 둥근 직사각형 24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769287" y="5586629"/>
              <a:ext cx="4090510" cy="642759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Optional&lt;Student&gt;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result = 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stuStream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.filter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(s-&gt;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s.getTotalScore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() &lt;= 100).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find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First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();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Optional&lt;Student&gt; 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result = 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parallelStream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.filter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(s-&gt;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s.getTotalScore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() &lt;= 100).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find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Any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();</a:t>
              </a:r>
            </a:p>
          </p:txBody>
        </p:sp>
      </p:grpSp>
      <p:sp>
        <p:nvSpPr>
          <p:cNvPr id="27" name="Text Box 20"/>
          <p:cNvSpPr txBox="1">
            <a:spLocks noChangeArrowheads="1"/>
          </p:cNvSpPr>
          <p:nvPr/>
        </p:nvSpPr>
        <p:spPr bwMode="auto">
          <a:xfrm>
            <a:off x="473835" y="3648078"/>
            <a:ext cx="86042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smtClean="0"/>
              <a:t>조건에 일치하는 요소 찾기 </a:t>
            </a:r>
            <a:r>
              <a:rPr lang="en-US" altLang="ko-KR" b="1" dirty="0" smtClean="0"/>
              <a:t>– </a:t>
            </a:r>
            <a:r>
              <a:rPr lang="en-US" altLang="ko-KR" b="1" dirty="0" err="1" smtClean="0"/>
              <a:t>findFirst</a:t>
            </a:r>
            <a:r>
              <a:rPr lang="en-US" altLang="ko-KR" b="1" dirty="0" smtClean="0"/>
              <a:t>(</a:t>
            </a:r>
            <a:r>
              <a:rPr lang="en-US" altLang="ko-KR" sz="800" b="1" dirty="0" smtClean="0"/>
              <a:t> </a:t>
            </a:r>
            <a:r>
              <a:rPr lang="en-US" altLang="ko-KR" b="1" dirty="0" smtClean="0"/>
              <a:t>) , </a:t>
            </a:r>
            <a:r>
              <a:rPr lang="en-US" altLang="ko-KR" b="1" dirty="0" err="1" smtClean="0"/>
              <a:t>findAny</a:t>
            </a:r>
            <a:r>
              <a:rPr lang="en-US" altLang="ko-KR" b="1" dirty="0" smtClean="0"/>
              <a:t>(</a:t>
            </a:r>
            <a:r>
              <a:rPr lang="en-US" altLang="ko-KR" sz="800" b="1" dirty="0" smtClean="0"/>
              <a:t> </a:t>
            </a:r>
            <a:r>
              <a:rPr lang="en-US" altLang="ko-KR" b="1" dirty="0" smtClean="0"/>
              <a:t>)</a:t>
            </a:r>
            <a:endParaRPr lang="en-US" altLang="ko-KR" b="1" dirty="0"/>
          </a:p>
        </p:txBody>
      </p:sp>
      <p:grpSp>
        <p:nvGrpSpPr>
          <p:cNvPr id="28" name="그룹 51"/>
          <p:cNvGrpSpPr/>
          <p:nvPr/>
        </p:nvGrpSpPr>
        <p:grpSpPr>
          <a:xfrm>
            <a:off x="628596" y="4122749"/>
            <a:ext cx="8505266" cy="620720"/>
            <a:chOff x="770046" y="5484958"/>
            <a:chExt cx="4125935" cy="912824"/>
          </a:xfrm>
        </p:grpSpPr>
        <p:sp>
          <p:nvSpPr>
            <p:cNvPr id="29" name="모서리가 둥근 직사각형 28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805471" y="5592346"/>
              <a:ext cx="4090510" cy="678919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Optional&lt;T&gt;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findFirst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()     // 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첫 번째 요소를 반환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. </a:t>
              </a:r>
              <a:r>
                <a:rPr lang="en-US" altLang="ko-KR" sz="7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순차 </a:t>
              </a:r>
              <a:r>
                <a:rPr lang="ko-KR" altLang="en-US" sz="1200" b="1" dirty="0" err="1" smtClean="0">
                  <a:latin typeface="Courier New" pitchFamily="49" charset="0"/>
                  <a:cs typeface="Courier New" pitchFamily="49" charset="0"/>
                </a:rPr>
                <a:t>스트림에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 사용</a:t>
              </a:r>
              <a:endParaRPr lang="en-US" altLang="ko-KR" sz="12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Optional&lt;T&gt;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findAny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()       // 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아무거나 하나를 반환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. 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병렬 </a:t>
              </a:r>
              <a:r>
                <a:rPr lang="ko-KR" altLang="en-US" sz="1200" b="1" dirty="0" err="1" smtClean="0">
                  <a:latin typeface="Courier New" pitchFamily="49" charset="0"/>
                  <a:cs typeface="Courier New" pitchFamily="49" charset="0"/>
                </a:rPr>
                <a:t>스트림에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 사용</a:t>
              </a:r>
              <a:endParaRPr lang="en-US" altLang="ko-KR" sz="1200" b="1" dirty="0" smtClean="0">
                <a:latin typeface="Courier New" pitchFamily="49" charset="0"/>
                <a:cs typeface="Courier New" pitchFamily="49" charset="0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863600"/>
          </a:xfrm>
          <a:prstGeom prst="rect">
            <a:avLst/>
          </a:prstGeom>
          <a:solidFill>
            <a:srgbClr val="E4D394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576263"/>
            <a:ext cx="8388350" cy="53975"/>
          </a:xfrm>
          <a:prstGeom prst="rect">
            <a:avLst/>
          </a:prstGeom>
          <a:solidFill>
            <a:srgbClr val="81705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883525" y="42863"/>
            <a:ext cx="1368425" cy="722312"/>
            <a:chOff x="3787" y="1570"/>
            <a:chExt cx="862" cy="455"/>
          </a:xfrm>
        </p:grpSpPr>
        <p:sp>
          <p:nvSpPr>
            <p:cNvPr id="3090" name="Text Box 5"/>
            <p:cNvSpPr txBox="1">
              <a:spLocks noChangeArrowheads="1"/>
            </p:cNvSpPr>
            <p:nvPr/>
          </p:nvSpPr>
          <p:spPr bwMode="auto">
            <a:xfrm>
              <a:off x="3787" y="1570"/>
              <a:ext cx="7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2800">
                  <a:latin typeface="Elephant" pitchFamily="18" charset="0"/>
                  <a:ea typeface="굴림" charset="-127"/>
                </a:rPr>
                <a:t>Java</a:t>
              </a:r>
            </a:p>
          </p:txBody>
        </p:sp>
        <p:sp>
          <p:nvSpPr>
            <p:cNvPr id="3091" name="Text Box 6"/>
            <p:cNvSpPr txBox="1">
              <a:spLocks noChangeArrowheads="1"/>
            </p:cNvSpPr>
            <p:nvPr/>
          </p:nvSpPr>
          <p:spPr bwMode="auto">
            <a:xfrm>
              <a:off x="4308" y="1643"/>
              <a:ext cx="34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1600">
                  <a:latin typeface="HY견고딕" pitchFamily="18" charset="-127"/>
                  <a:ea typeface="HY견고딕" pitchFamily="18" charset="-127"/>
                </a:rPr>
                <a:t>의</a:t>
              </a:r>
            </a:p>
          </p:txBody>
        </p:sp>
        <p:sp>
          <p:nvSpPr>
            <p:cNvPr id="3092" name="Text Box 7"/>
            <p:cNvSpPr txBox="1">
              <a:spLocks noChangeArrowheads="1"/>
            </p:cNvSpPr>
            <p:nvPr/>
          </p:nvSpPr>
          <p:spPr bwMode="auto">
            <a:xfrm>
              <a:off x="4121" y="1775"/>
              <a:ext cx="5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2000">
                  <a:latin typeface="바탕" pitchFamily="18" charset="-127"/>
                  <a:ea typeface="HY견고딕" pitchFamily="18" charset="-127"/>
                </a:rPr>
                <a:t>정석</a:t>
              </a:r>
            </a:p>
          </p:txBody>
        </p:sp>
      </p:grp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443663" y="620713"/>
            <a:ext cx="2016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 err="1">
                <a:latin typeface="Courier New" pitchFamily="49" charset="0"/>
                <a:ea typeface="굴림" charset="-127"/>
              </a:rPr>
              <a:t>http://</a:t>
            </a:r>
            <a:r>
              <a:rPr lang="en-US" altLang="ko-KR" sz="1000" b="1" dirty="0" err="1" smtClean="0">
                <a:latin typeface="Courier New" pitchFamily="49" charset="0"/>
                <a:ea typeface="굴림" charset="-127"/>
              </a:rPr>
              <a:t>www.codechobo.com</a:t>
            </a:r>
            <a:endParaRPr lang="en-US" altLang="ko-KR" sz="1000" b="1" dirty="0">
              <a:latin typeface="Courier New" pitchFamily="49" charset="0"/>
              <a:ea typeface="굴림" charset="-127"/>
            </a:endParaRPr>
          </a:p>
        </p:txBody>
      </p:sp>
      <p:sp>
        <p:nvSpPr>
          <p:cNvPr id="3078" name="Text Box 19"/>
          <p:cNvSpPr txBox="1">
            <a:spLocks noChangeArrowheads="1"/>
          </p:cNvSpPr>
          <p:nvPr/>
        </p:nvSpPr>
        <p:spPr bwMode="auto">
          <a:xfrm>
            <a:off x="358775" y="1016000"/>
            <a:ext cx="8569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800" b="1" dirty="0" smtClean="0"/>
              <a:t>2.6  </a:t>
            </a:r>
            <a:r>
              <a:rPr lang="ko-KR" altLang="en-US" sz="2800" b="1" dirty="0" err="1" smtClean="0"/>
              <a:t>스트림의</a:t>
            </a:r>
            <a:r>
              <a:rPr lang="ko-KR" altLang="en-US" sz="2800" b="1" dirty="0" smtClean="0"/>
              <a:t> 최종연산</a:t>
            </a:r>
            <a:r>
              <a:rPr lang="en-US" altLang="ko-KR" sz="2800" b="1" dirty="0" smtClean="0"/>
              <a:t>(3/4)</a:t>
            </a:r>
            <a:endParaRPr lang="en-US" altLang="ko-KR" sz="2800" b="1" dirty="0"/>
          </a:p>
        </p:txBody>
      </p:sp>
      <p:sp>
        <p:nvSpPr>
          <p:cNvPr id="3089" name="Text Box 9"/>
          <p:cNvSpPr txBox="1">
            <a:spLocks noChangeArrowheads="1"/>
          </p:cNvSpPr>
          <p:nvPr/>
        </p:nvSpPr>
        <p:spPr bwMode="auto">
          <a:xfrm>
            <a:off x="146050" y="188913"/>
            <a:ext cx="5686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Chapter 14. 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람다와 스트림</a:t>
            </a: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(Lambda &amp; Stream)</a:t>
            </a:r>
          </a:p>
        </p:txBody>
      </p:sp>
      <p:sp>
        <p:nvSpPr>
          <p:cNvPr id="14" name="Text Box 20"/>
          <p:cNvSpPr txBox="1">
            <a:spLocks noChangeArrowheads="1"/>
          </p:cNvSpPr>
          <p:nvPr/>
        </p:nvSpPr>
        <p:spPr bwMode="auto">
          <a:xfrm>
            <a:off x="472270" y="1601772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err="1" smtClean="0"/>
              <a:t>스트림에</a:t>
            </a:r>
            <a:r>
              <a:rPr lang="ko-KR" altLang="en-US" b="1" dirty="0" smtClean="0"/>
              <a:t> 대한 통계정보 제공 </a:t>
            </a:r>
            <a:r>
              <a:rPr lang="en-US" altLang="ko-KR" b="1" dirty="0" smtClean="0"/>
              <a:t>–  count(</a:t>
            </a:r>
            <a:r>
              <a:rPr lang="en-US" altLang="ko-KR" sz="800" b="1" dirty="0" smtClean="0"/>
              <a:t> </a:t>
            </a:r>
            <a:r>
              <a:rPr lang="en-US" altLang="ko-KR" b="1" dirty="0" smtClean="0"/>
              <a:t>), sum(</a:t>
            </a:r>
            <a:r>
              <a:rPr lang="en-US" altLang="ko-KR" sz="800" b="1" dirty="0" smtClean="0"/>
              <a:t> </a:t>
            </a:r>
            <a:r>
              <a:rPr lang="en-US" altLang="ko-KR" b="1" dirty="0" smtClean="0"/>
              <a:t>), average(</a:t>
            </a:r>
            <a:r>
              <a:rPr lang="en-US" altLang="ko-KR" sz="800" b="1" dirty="0" smtClean="0"/>
              <a:t> </a:t>
            </a:r>
            <a:r>
              <a:rPr lang="en-US" altLang="ko-KR" b="1" dirty="0" smtClean="0"/>
              <a:t>), max(</a:t>
            </a:r>
            <a:r>
              <a:rPr lang="en-US" altLang="ko-KR" sz="800" b="1" dirty="0" smtClean="0"/>
              <a:t> </a:t>
            </a:r>
            <a:r>
              <a:rPr lang="en-US" altLang="ko-KR" b="1" dirty="0" smtClean="0"/>
              <a:t>), min(</a:t>
            </a:r>
            <a:r>
              <a:rPr lang="en-US" altLang="ko-KR" sz="800" b="1" dirty="0" smtClean="0"/>
              <a:t> </a:t>
            </a:r>
            <a:r>
              <a:rPr lang="en-US" altLang="ko-KR" b="1" dirty="0" smtClean="0"/>
              <a:t>)</a:t>
            </a:r>
            <a:endParaRPr lang="en-US" altLang="ko-KR" b="1" dirty="0"/>
          </a:p>
        </p:txBody>
      </p:sp>
      <p:grpSp>
        <p:nvGrpSpPr>
          <p:cNvPr id="26" name="그룹 25"/>
          <p:cNvGrpSpPr/>
          <p:nvPr/>
        </p:nvGrpSpPr>
        <p:grpSpPr>
          <a:xfrm>
            <a:off x="774648" y="2041506"/>
            <a:ext cx="8251938" cy="917027"/>
            <a:chOff x="774648" y="2041506"/>
            <a:chExt cx="8251938" cy="917027"/>
          </a:xfrm>
        </p:grpSpPr>
        <p:grpSp>
          <p:nvGrpSpPr>
            <p:cNvPr id="3" name="그룹 51"/>
            <p:cNvGrpSpPr/>
            <p:nvPr/>
          </p:nvGrpSpPr>
          <p:grpSpPr>
            <a:xfrm>
              <a:off x="774648" y="2191774"/>
              <a:ext cx="8251938" cy="766759"/>
              <a:chOff x="770046" y="5484958"/>
              <a:chExt cx="4127033" cy="912824"/>
            </a:xfrm>
          </p:grpSpPr>
          <p:sp>
            <p:nvSpPr>
              <p:cNvPr id="12" name="모서리가 둥근 직사각형 11"/>
              <p:cNvSpPr/>
              <p:nvPr/>
            </p:nvSpPr>
            <p:spPr bwMode="auto">
              <a:xfrm>
                <a:off x="770046" y="5484958"/>
                <a:ext cx="4052636" cy="912824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49263" marR="0" indent="-449263" algn="l" defTabSz="914400" rtl="0" eaLnBrk="1" fontAlgn="base" latin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urier New" pitchFamily="49" charset="0"/>
                  <a:ea typeface="견명조" pitchFamily="18" charset="-127"/>
                </a:endParaRPr>
              </a:p>
            </p:txBody>
          </p:sp>
          <p:sp>
            <p:nvSpPr>
              <p:cNvPr id="13" name="직사각형 12"/>
              <p:cNvSpPr/>
              <p:nvPr/>
            </p:nvSpPr>
            <p:spPr>
              <a:xfrm>
                <a:off x="806569" y="5541396"/>
                <a:ext cx="4090510" cy="769455"/>
              </a:xfrm>
              <a:prstGeom prst="rect">
                <a:avLst/>
              </a:prstGeom>
            </p:spPr>
            <p:txBody>
              <a:bodyPr wrap="square" anchor="b">
                <a:spAutoFit/>
              </a:bodyPr>
              <a:lstStyle/>
              <a:p>
                <a:pPr>
                  <a:spcBef>
                    <a:spcPts val="0"/>
                  </a:spcBef>
                </a:pPr>
                <a:r>
                  <a:rPr lang="en-US" altLang="ko-KR" sz="1200" b="1" dirty="0" smtClean="0">
                    <a:latin typeface="Courier New" pitchFamily="49" charset="0"/>
                    <a:cs typeface="Courier New" pitchFamily="49" charset="0"/>
                  </a:rPr>
                  <a:t>long         count()</a:t>
                </a:r>
              </a:p>
              <a:p>
                <a:pPr>
                  <a:spcBef>
                    <a:spcPts val="0"/>
                  </a:spcBef>
                </a:pPr>
                <a:r>
                  <a:rPr lang="en-US" altLang="ko-KR" sz="1200" b="1" dirty="0" smtClean="0">
                    <a:latin typeface="Courier New" pitchFamily="49" charset="0"/>
                    <a:cs typeface="Courier New" pitchFamily="49" charset="0"/>
                  </a:rPr>
                  <a:t>Optional&lt;T&gt;  max(Comparator&lt;? super T&gt; comparator)</a:t>
                </a:r>
              </a:p>
              <a:p>
                <a:pPr>
                  <a:spcBef>
                    <a:spcPts val="0"/>
                  </a:spcBef>
                </a:pPr>
                <a:r>
                  <a:rPr lang="en-US" altLang="ko-KR" sz="1200" b="1" dirty="0" smtClean="0">
                    <a:latin typeface="Courier New" pitchFamily="49" charset="0"/>
                    <a:cs typeface="Courier New" pitchFamily="49" charset="0"/>
                  </a:rPr>
                  <a:t>Optional&lt;T&gt;  min(Comparator&lt;? super T&gt; comparator)</a:t>
                </a:r>
                <a:endParaRPr lang="ko-KR" altLang="en-US" sz="1200" b="1" dirty="0" smtClean="0"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  <p:sp>
          <p:nvSpPr>
            <p:cNvPr id="19" name="TextBox 18"/>
            <p:cNvSpPr txBox="1"/>
            <p:nvPr/>
          </p:nvSpPr>
          <p:spPr>
            <a:xfrm>
              <a:off x="6945345" y="2041506"/>
              <a:ext cx="1679598" cy="369332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 smtClean="0">
                  <a:latin typeface="Courier New" pitchFamily="49" charset="0"/>
                  <a:cs typeface="Courier New" pitchFamily="49" charset="0"/>
                </a:rPr>
                <a:t>Stream&lt;T&gt;</a:t>
              </a:r>
              <a:endParaRPr lang="ko-KR" altLang="en-US" b="1" dirty="0">
                <a:latin typeface="Courier New" pitchFamily="49" charset="0"/>
                <a:cs typeface="Courier New" pitchFamily="49" charset="0"/>
              </a:endParaRPr>
            </a:p>
          </p:txBody>
        </p:sp>
      </p:grpSp>
      <p:grpSp>
        <p:nvGrpSpPr>
          <p:cNvPr id="27" name="그룹 26"/>
          <p:cNvGrpSpPr/>
          <p:nvPr/>
        </p:nvGrpSpPr>
        <p:grpSpPr>
          <a:xfrm>
            <a:off x="774648" y="3136896"/>
            <a:ext cx="8251938" cy="1606575"/>
            <a:chOff x="774648" y="3136896"/>
            <a:chExt cx="8251938" cy="1606575"/>
          </a:xfrm>
        </p:grpSpPr>
        <p:grpSp>
          <p:nvGrpSpPr>
            <p:cNvPr id="15" name="그룹 51"/>
            <p:cNvGrpSpPr/>
            <p:nvPr/>
          </p:nvGrpSpPr>
          <p:grpSpPr>
            <a:xfrm>
              <a:off x="774648" y="3287169"/>
              <a:ext cx="8251938" cy="1456302"/>
              <a:chOff x="770046" y="5484958"/>
              <a:chExt cx="4127033" cy="996402"/>
            </a:xfrm>
          </p:grpSpPr>
          <p:sp>
            <p:nvSpPr>
              <p:cNvPr id="16" name="모서리가 둥근 직사각형 15"/>
              <p:cNvSpPr/>
              <p:nvPr/>
            </p:nvSpPr>
            <p:spPr bwMode="auto">
              <a:xfrm>
                <a:off x="770046" y="5484958"/>
                <a:ext cx="4052636" cy="912824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49263" marR="0" indent="-449263" algn="l" defTabSz="914400" rtl="0" eaLnBrk="1" fontAlgn="base" latin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urier New" pitchFamily="49" charset="0"/>
                  <a:ea typeface="견명조" pitchFamily="18" charset="-127"/>
                </a:endParaRPr>
              </a:p>
            </p:txBody>
          </p:sp>
          <p:sp>
            <p:nvSpPr>
              <p:cNvPr id="17" name="직사각형 16"/>
              <p:cNvSpPr/>
              <p:nvPr/>
            </p:nvSpPr>
            <p:spPr>
              <a:xfrm>
                <a:off x="806569" y="5533746"/>
                <a:ext cx="4090510" cy="947614"/>
              </a:xfrm>
              <a:prstGeom prst="rect">
                <a:avLst/>
              </a:prstGeom>
            </p:spPr>
            <p:txBody>
              <a:bodyPr wrap="square" anchor="b">
                <a:spAutoFit/>
              </a:bodyPr>
              <a:lstStyle/>
              <a:p>
                <a:pPr>
                  <a:spcBef>
                    <a:spcPts val="0"/>
                  </a:spcBef>
                </a:pPr>
                <a:r>
                  <a:rPr lang="en-US" altLang="ko-KR" sz="1200" b="1" dirty="0" smtClean="0">
                    <a:latin typeface="Courier New" pitchFamily="49" charset="0"/>
                    <a:cs typeface="Courier New" pitchFamily="49" charset="0"/>
                  </a:rPr>
                  <a:t>long                  count()</a:t>
                </a:r>
              </a:p>
              <a:p>
                <a:pPr>
                  <a:spcBef>
                    <a:spcPts val="0"/>
                  </a:spcBef>
                </a:pPr>
                <a:r>
                  <a:rPr lang="en-US" altLang="ko-KR" sz="1200" b="1" dirty="0" err="1" smtClean="0">
                    <a:latin typeface="Courier New" pitchFamily="49" charset="0"/>
                    <a:cs typeface="Courier New" pitchFamily="49" charset="0"/>
                  </a:rPr>
                  <a:t>Int</a:t>
                </a:r>
                <a:r>
                  <a:rPr lang="en-US" altLang="ko-KR" sz="1200" b="1" dirty="0" smtClean="0">
                    <a:latin typeface="Courier New" pitchFamily="49" charset="0"/>
                    <a:cs typeface="Courier New" pitchFamily="49" charset="0"/>
                  </a:rPr>
                  <a:t>	            sum()</a:t>
                </a:r>
              </a:p>
              <a:p>
                <a:pPr>
                  <a:spcBef>
                    <a:spcPts val="0"/>
                  </a:spcBef>
                </a:pPr>
                <a:r>
                  <a:rPr lang="en-US" altLang="ko-KR" sz="1200" b="1" dirty="0" err="1" smtClean="0">
                    <a:latin typeface="Courier New" pitchFamily="49" charset="0"/>
                    <a:cs typeface="Courier New" pitchFamily="49" charset="0"/>
                  </a:rPr>
                  <a:t>OptionalDouble</a:t>
                </a:r>
                <a:r>
                  <a:rPr lang="en-US" altLang="ko-KR" sz="1200" b="1" dirty="0" smtClean="0">
                    <a:latin typeface="Courier New" pitchFamily="49" charset="0"/>
                    <a:cs typeface="Courier New" pitchFamily="49" charset="0"/>
                  </a:rPr>
                  <a:t>        average()</a:t>
                </a:r>
              </a:p>
              <a:p>
                <a:pPr>
                  <a:spcBef>
                    <a:spcPts val="0"/>
                  </a:spcBef>
                </a:pPr>
                <a:r>
                  <a:rPr lang="en-US" altLang="ko-KR" sz="1200" b="1" dirty="0" err="1" smtClean="0">
                    <a:latin typeface="Courier New" pitchFamily="49" charset="0"/>
                    <a:cs typeface="Courier New" pitchFamily="49" charset="0"/>
                  </a:rPr>
                  <a:t>OptionalInt</a:t>
                </a:r>
                <a:r>
                  <a:rPr lang="en-US" altLang="ko-KR" sz="1200" b="1" dirty="0" smtClean="0">
                    <a:latin typeface="Courier New" pitchFamily="49" charset="0"/>
                    <a:cs typeface="Courier New" pitchFamily="49" charset="0"/>
                  </a:rPr>
                  <a:t>           max()</a:t>
                </a:r>
              </a:p>
              <a:p>
                <a:pPr>
                  <a:spcBef>
                    <a:spcPts val="0"/>
                  </a:spcBef>
                </a:pPr>
                <a:r>
                  <a:rPr lang="en-US" altLang="ko-KR" sz="1200" b="1" dirty="0" err="1" smtClean="0">
                    <a:latin typeface="Courier New" pitchFamily="49" charset="0"/>
                    <a:cs typeface="Courier New" pitchFamily="49" charset="0"/>
                  </a:rPr>
                  <a:t>OptionalInt</a:t>
                </a:r>
                <a:r>
                  <a:rPr lang="en-US" altLang="ko-KR" sz="1200" b="1" dirty="0" smtClean="0">
                    <a:latin typeface="Courier New" pitchFamily="49" charset="0"/>
                    <a:cs typeface="Courier New" pitchFamily="49" charset="0"/>
                  </a:rPr>
                  <a:t>           min()</a:t>
                </a:r>
              </a:p>
              <a:p>
                <a:pPr>
                  <a:spcBef>
                    <a:spcPts val="0"/>
                  </a:spcBef>
                </a:pPr>
                <a:r>
                  <a:rPr lang="en-US" altLang="ko-KR" sz="1200" b="1" dirty="0" err="1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IntSummaryStatistics</a:t>
                </a:r>
                <a:r>
                  <a:rPr lang="en-US" altLang="ko-KR" sz="1200" b="1" dirty="0" smtClean="0">
                    <a:latin typeface="Courier New" pitchFamily="49" charset="0"/>
                    <a:cs typeface="Courier New" pitchFamily="49" charset="0"/>
                  </a:rPr>
                  <a:t>  </a:t>
                </a:r>
                <a:r>
                  <a:rPr lang="en-US" altLang="ko-KR" sz="1200" b="1" dirty="0" err="1" smtClean="0">
                    <a:latin typeface="Courier New" pitchFamily="49" charset="0"/>
                    <a:cs typeface="Courier New" pitchFamily="49" charset="0"/>
                  </a:rPr>
                  <a:t>summaryStatistics</a:t>
                </a:r>
                <a:r>
                  <a:rPr lang="en-US" altLang="ko-KR" sz="1200" b="1" dirty="0" smtClean="0">
                    <a:latin typeface="Courier New" pitchFamily="49" charset="0"/>
                    <a:cs typeface="Courier New" pitchFamily="49" charset="0"/>
                  </a:rPr>
                  <a:t>()</a:t>
                </a:r>
              </a:p>
              <a:p>
                <a:pPr>
                  <a:spcBef>
                    <a:spcPts val="0"/>
                  </a:spcBef>
                </a:pPr>
                <a:endParaRPr lang="en-US" altLang="ko-KR" sz="1200" b="1" dirty="0" smtClean="0"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  <p:sp>
          <p:nvSpPr>
            <p:cNvPr id="21" name="TextBox 20"/>
            <p:cNvSpPr txBox="1"/>
            <p:nvPr/>
          </p:nvSpPr>
          <p:spPr>
            <a:xfrm>
              <a:off x="6943668" y="3136896"/>
              <a:ext cx="1679598" cy="369332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 err="1" smtClean="0">
                  <a:latin typeface="Courier New" pitchFamily="49" charset="0"/>
                  <a:cs typeface="Courier New" pitchFamily="49" charset="0"/>
                </a:rPr>
                <a:t>IntStream</a:t>
              </a:r>
              <a:endParaRPr lang="ko-KR" altLang="en-US" b="1" dirty="0">
                <a:latin typeface="Courier New" pitchFamily="49" charset="0"/>
                <a:cs typeface="Courier New" pitchFamily="49" charset="0"/>
              </a:endParaRPr>
            </a:p>
          </p:txBody>
        </p:sp>
      </p:grpSp>
      <p:grpSp>
        <p:nvGrpSpPr>
          <p:cNvPr id="28" name="그룹 27"/>
          <p:cNvGrpSpPr/>
          <p:nvPr/>
        </p:nvGrpSpPr>
        <p:grpSpPr>
          <a:xfrm>
            <a:off x="5302260" y="3903670"/>
            <a:ext cx="3432222" cy="1335875"/>
            <a:chOff x="4973643" y="3903670"/>
            <a:chExt cx="3432222" cy="1335875"/>
          </a:xfrm>
        </p:grpSpPr>
        <p:grpSp>
          <p:nvGrpSpPr>
            <p:cNvPr id="22" name="그룹 51"/>
            <p:cNvGrpSpPr/>
            <p:nvPr/>
          </p:nvGrpSpPr>
          <p:grpSpPr>
            <a:xfrm>
              <a:off x="4973643" y="3903670"/>
              <a:ext cx="3432222" cy="1168416"/>
              <a:chOff x="727859" y="5512686"/>
              <a:chExt cx="4180954" cy="912824"/>
            </a:xfrm>
          </p:grpSpPr>
          <p:sp>
            <p:nvSpPr>
              <p:cNvPr id="23" name="모서리가 둥근 직사각형 22"/>
              <p:cNvSpPr/>
              <p:nvPr/>
            </p:nvSpPr>
            <p:spPr bwMode="auto">
              <a:xfrm>
                <a:off x="727859" y="5512686"/>
                <a:ext cx="4052635" cy="912824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49263" marR="0" indent="-449263" algn="l" defTabSz="914400" rtl="0" eaLnBrk="1" fontAlgn="base" latin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urier New" pitchFamily="49" charset="0"/>
                  <a:ea typeface="견명조" pitchFamily="18" charset="-127"/>
                </a:endParaRPr>
              </a:p>
            </p:txBody>
          </p:sp>
          <p:sp>
            <p:nvSpPr>
              <p:cNvPr id="24" name="직사각형 23"/>
              <p:cNvSpPr/>
              <p:nvPr/>
            </p:nvSpPr>
            <p:spPr>
              <a:xfrm>
                <a:off x="818302" y="5705143"/>
                <a:ext cx="4090511" cy="634789"/>
              </a:xfrm>
              <a:prstGeom prst="rect">
                <a:avLst/>
              </a:prstGeom>
            </p:spPr>
            <p:txBody>
              <a:bodyPr wrap="square" anchor="b">
                <a:spAutoFit/>
              </a:bodyPr>
              <a:lstStyle/>
              <a:p>
                <a:pPr>
                  <a:spcBef>
                    <a:spcPts val="0"/>
                  </a:spcBef>
                </a:pPr>
                <a:r>
                  <a:rPr lang="en-US" altLang="ko-KR" sz="1200" b="1" dirty="0" smtClean="0">
                    <a:latin typeface="Courier New" pitchFamily="49" charset="0"/>
                    <a:cs typeface="Courier New" pitchFamily="49" charset="0"/>
                  </a:rPr>
                  <a:t>double </a:t>
                </a:r>
                <a:r>
                  <a:rPr lang="en-US" altLang="ko-KR" sz="1200" b="1" dirty="0" err="1" smtClean="0">
                    <a:latin typeface="Courier New" pitchFamily="49" charset="0"/>
                    <a:cs typeface="Courier New" pitchFamily="49" charset="0"/>
                  </a:rPr>
                  <a:t>getAverage</a:t>
                </a:r>
                <a:r>
                  <a:rPr lang="en-US" altLang="ko-KR" sz="1200" b="1" dirty="0" smtClean="0">
                    <a:latin typeface="Courier New" pitchFamily="49" charset="0"/>
                    <a:cs typeface="Courier New" pitchFamily="49" charset="0"/>
                  </a:rPr>
                  <a:t>()</a:t>
                </a:r>
              </a:p>
              <a:p>
                <a:pPr>
                  <a:spcBef>
                    <a:spcPts val="0"/>
                  </a:spcBef>
                </a:pPr>
                <a:r>
                  <a:rPr lang="en-US" altLang="ko-KR" sz="1200" b="1" dirty="0" smtClean="0">
                    <a:latin typeface="Courier New" pitchFamily="49" charset="0"/>
                    <a:cs typeface="Courier New" pitchFamily="49" charset="0"/>
                  </a:rPr>
                  <a:t>long   </a:t>
                </a:r>
                <a:r>
                  <a:rPr lang="en-US" altLang="ko-KR" sz="1200" b="1" dirty="0" err="1" smtClean="0">
                    <a:latin typeface="Courier New" pitchFamily="49" charset="0"/>
                    <a:cs typeface="Courier New" pitchFamily="49" charset="0"/>
                  </a:rPr>
                  <a:t>getCount</a:t>
                </a:r>
                <a:r>
                  <a:rPr lang="en-US" altLang="ko-KR" sz="1200" b="1" dirty="0" smtClean="0">
                    <a:latin typeface="Courier New" pitchFamily="49" charset="0"/>
                    <a:cs typeface="Courier New" pitchFamily="49" charset="0"/>
                  </a:rPr>
                  <a:t>()</a:t>
                </a:r>
              </a:p>
              <a:p>
                <a:pPr>
                  <a:spcBef>
                    <a:spcPts val="0"/>
                  </a:spcBef>
                </a:pPr>
                <a:r>
                  <a:rPr lang="en-US" altLang="ko-KR" sz="1200" b="1" dirty="0" err="1" smtClean="0">
                    <a:latin typeface="Courier New" pitchFamily="49" charset="0"/>
                    <a:cs typeface="Courier New" pitchFamily="49" charset="0"/>
                  </a:rPr>
                  <a:t>int</a:t>
                </a:r>
                <a:r>
                  <a:rPr lang="en-US" altLang="ko-KR" sz="1200" b="1" dirty="0" smtClean="0">
                    <a:latin typeface="Courier New" pitchFamily="49" charset="0"/>
                    <a:cs typeface="Courier New" pitchFamily="49" charset="0"/>
                  </a:rPr>
                  <a:t>    </a:t>
                </a:r>
                <a:r>
                  <a:rPr lang="en-US" altLang="ko-KR" sz="1200" b="1" dirty="0" err="1" smtClean="0">
                    <a:latin typeface="Courier New" pitchFamily="49" charset="0"/>
                    <a:cs typeface="Courier New" pitchFamily="49" charset="0"/>
                  </a:rPr>
                  <a:t>getMax</a:t>
                </a:r>
                <a:r>
                  <a:rPr lang="en-US" altLang="ko-KR" sz="1200" b="1" dirty="0" smtClean="0">
                    <a:latin typeface="Courier New" pitchFamily="49" charset="0"/>
                    <a:cs typeface="Courier New" pitchFamily="49" charset="0"/>
                  </a:rPr>
                  <a:t>()  </a:t>
                </a:r>
              </a:p>
              <a:p>
                <a:pPr>
                  <a:spcBef>
                    <a:spcPts val="0"/>
                  </a:spcBef>
                </a:pPr>
                <a:r>
                  <a:rPr lang="en-US" altLang="ko-KR" sz="1200" b="1" dirty="0" err="1" smtClean="0">
                    <a:latin typeface="Courier New" pitchFamily="49" charset="0"/>
                    <a:cs typeface="Courier New" pitchFamily="49" charset="0"/>
                  </a:rPr>
                  <a:t>int</a:t>
                </a:r>
                <a:r>
                  <a:rPr lang="en-US" altLang="ko-KR" sz="1200" b="1" dirty="0" smtClean="0">
                    <a:latin typeface="Courier New" pitchFamily="49" charset="0"/>
                    <a:cs typeface="Courier New" pitchFamily="49" charset="0"/>
                  </a:rPr>
                  <a:t>    </a:t>
                </a:r>
                <a:r>
                  <a:rPr lang="en-US" altLang="ko-KR" sz="1200" b="1" dirty="0" err="1" smtClean="0">
                    <a:latin typeface="Courier New" pitchFamily="49" charset="0"/>
                    <a:cs typeface="Courier New" pitchFamily="49" charset="0"/>
                  </a:rPr>
                  <a:t>getMin</a:t>
                </a:r>
                <a:r>
                  <a:rPr lang="en-US" altLang="ko-KR" sz="1200" b="1" dirty="0" smtClean="0">
                    <a:latin typeface="Courier New" pitchFamily="49" charset="0"/>
                    <a:cs typeface="Courier New" pitchFamily="49" charset="0"/>
                  </a:rPr>
                  <a:t>() </a:t>
                </a:r>
              </a:p>
              <a:p>
                <a:pPr>
                  <a:spcBef>
                    <a:spcPts val="0"/>
                  </a:spcBef>
                </a:pPr>
                <a:r>
                  <a:rPr lang="en-US" altLang="ko-KR" sz="1200" b="1" dirty="0" smtClean="0">
                    <a:latin typeface="Courier New" pitchFamily="49" charset="0"/>
                    <a:cs typeface="Courier New" pitchFamily="49" charset="0"/>
                  </a:rPr>
                  <a:t>long   </a:t>
                </a:r>
                <a:r>
                  <a:rPr lang="en-US" altLang="ko-KR" sz="1200" b="1" dirty="0" err="1" smtClean="0">
                    <a:latin typeface="Courier New" pitchFamily="49" charset="0"/>
                    <a:cs typeface="Courier New" pitchFamily="49" charset="0"/>
                  </a:rPr>
                  <a:t>getSum</a:t>
                </a:r>
                <a:r>
                  <a:rPr lang="en-US" altLang="ko-KR" sz="1200" b="1" dirty="0" smtClean="0">
                    <a:latin typeface="Courier New" pitchFamily="49" charset="0"/>
                    <a:cs typeface="Courier New" pitchFamily="49" charset="0"/>
                  </a:rPr>
                  <a:t>()</a:t>
                </a:r>
              </a:p>
            </p:txBody>
          </p:sp>
        </p:grpSp>
        <p:sp>
          <p:nvSpPr>
            <p:cNvPr id="25" name="TextBox 24"/>
            <p:cNvSpPr txBox="1"/>
            <p:nvPr/>
          </p:nvSpPr>
          <p:spPr>
            <a:xfrm>
              <a:off x="5849955" y="4962546"/>
              <a:ext cx="2227293" cy="276999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IntSummaryStatistics</a:t>
              </a:r>
              <a:endParaRPr lang="ko-KR" altLang="en-US" sz="1200" b="1" dirty="0">
                <a:latin typeface="Courier New" pitchFamily="49" charset="0"/>
                <a:cs typeface="Courier New" pitchFamily="49" charset="0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863600"/>
          </a:xfrm>
          <a:prstGeom prst="rect">
            <a:avLst/>
          </a:prstGeom>
          <a:solidFill>
            <a:srgbClr val="E4D394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576263"/>
            <a:ext cx="8388350" cy="53975"/>
          </a:xfrm>
          <a:prstGeom prst="rect">
            <a:avLst/>
          </a:prstGeom>
          <a:solidFill>
            <a:srgbClr val="81705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883525" y="42863"/>
            <a:ext cx="1368425" cy="722312"/>
            <a:chOff x="3787" y="1570"/>
            <a:chExt cx="862" cy="455"/>
          </a:xfrm>
        </p:grpSpPr>
        <p:sp>
          <p:nvSpPr>
            <p:cNvPr id="3090" name="Text Box 5"/>
            <p:cNvSpPr txBox="1">
              <a:spLocks noChangeArrowheads="1"/>
            </p:cNvSpPr>
            <p:nvPr/>
          </p:nvSpPr>
          <p:spPr bwMode="auto">
            <a:xfrm>
              <a:off x="3787" y="1570"/>
              <a:ext cx="7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2800">
                  <a:latin typeface="Elephant" pitchFamily="18" charset="0"/>
                  <a:ea typeface="굴림" charset="-127"/>
                </a:rPr>
                <a:t>Java</a:t>
              </a:r>
            </a:p>
          </p:txBody>
        </p:sp>
        <p:sp>
          <p:nvSpPr>
            <p:cNvPr id="3091" name="Text Box 6"/>
            <p:cNvSpPr txBox="1">
              <a:spLocks noChangeArrowheads="1"/>
            </p:cNvSpPr>
            <p:nvPr/>
          </p:nvSpPr>
          <p:spPr bwMode="auto">
            <a:xfrm>
              <a:off x="4308" y="1643"/>
              <a:ext cx="34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1600">
                  <a:latin typeface="HY견고딕" pitchFamily="18" charset="-127"/>
                  <a:ea typeface="HY견고딕" pitchFamily="18" charset="-127"/>
                </a:rPr>
                <a:t>의</a:t>
              </a:r>
            </a:p>
          </p:txBody>
        </p:sp>
        <p:sp>
          <p:nvSpPr>
            <p:cNvPr id="3092" name="Text Box 7"/>
            <p:cNvSpPr txBox="1">
              <a:spLocks noChangeArrowheads="1"/>
            </p:cNvSpPr>
            <p:nvPr/>
          </p:nvSpPr>
          <p:spPr bwMode="auto">
            <a:xfrm>
              <a:off x="4121" y="1775"/>
              <a:ext cx="5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2000">
                  <a:latin typeface="바탕" pitchFamily="18" charset="-127"/>
                  <a:ea typeface="HY견고딕" pitchFamily="18" charset="-127"/>
                </a:rPr>
                <a:t>정석</a:t>
              </a:r>
            </a:p>
          </p:txBody>
        </p:sp>
      </p:grp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443663" y="620713"/>
            <a:ext cx="2016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 err="1">
                <a:latin typeface="Courier New" pitchFamily="49" charset="0"/>
                <a:ea typeface="굴림" charset="-127"/>
              </a:rPr>
              <a:t>http://</a:t>
            </a:r>
            <a:r>
              <a:rPr lang="en-US" altLang="ko-KR" sz="1000" b="1" dirty="0" err="1" smtClean="0">
                <a:latin typeface="Courier New" pitchFamily="49" charset="0"/>
                <a:ea typeface="굴림" charset="-127"/>
              </a:rPr>
              <a:t>www.codechobo.com</a:t>
            </a:r>
            <a:endParaRPr lang="en-US" altLang="ko-KR" sz="1000" b="1" dirty="0">
              <a:latin typeface="Courier New" pitchFamily="49" charset="0"/>
              <a:ea typeface="굴림" charset="-127"/>
            </a:endParaRPr>
          </a:p>
        </p:txBody>
      </p:sp>
      <p:sp>
        <p:nvSpPr>
          <p:cNvPr id="3078" name="Text Box 19"/>
          <p:cNvSpPr txBox="1">
            <a:spLocks noChangeArrowheads="1"/>
          </p:cNvSpPr>
          <p:nvPr/>
        </p:nvSpPr>
        <p:spPr bwMode="auto">
          <a:xfrm>
            <a:off x="358775" y="1016000"/>
            <a:ext cx="8569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800" b="1" dirty="0" smtClean="0"/>
              <a:t>2.6  </a:t>
            </a:r>
            <a:r>
              <a:rPr lang="ko-KR" altLang="en-US" sz="2800" b="1" dirty="0" err="1" smtClean="0"/>
              <a:t>스트림의</a:t>
            </a:r>
            <a:r>
              <a:rPr lang="ko-KR" altLang="en-US" sz="2800" b="1" dirty="0" smtClean="0"/>
              <a:t> 최종연산</a:t>
            </a:r>
            <a:r>
              <a:rPr lang="en-US" altLang="ko-KR" sz="2800" b="1" dirty="0" smtClean="0"/>
              <a:t>(4/4)</a:t>
            </a:r>
            <a:endParaRPr lang="en-US" altLang="ko-KR" sz="2800" b="1" dirty="0"/>
          </a:p>
        </p:txBody>
      </p:sp>
      <p:sp>
        <p:nvSpPr>
          <p:cNvPr id="3089" name="Text Box 9"/>
          <p:cNvSpPr txBox="1">
            <a:spLocks noChangeArrowheads="1"/>
          </p:cNvSpPr>
          <p:nvPr/>
        </p:nvSpPr>
        <p:spPr bwMode="auto">
          <a:xfrm>
            <a:off x="146050" y="188913"/>
            <a:ext cx="5686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Chapter 14. 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람다와 스트림</a:t>
            </a: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(Lambda &amp; Stream)</a:t>
            </a:r>
          </a:p>
        </p:txBody>
      </p:sp>
      <p:grpSp>
        <p:nvGrpSpPr>
          <p:cNvPr id="3" name="그룹 51"/>
          <p:cNvGrpSpPr/>
          <p:nvPr/>
        </p:nvGrpSpPr>
        <p:grpSpPr>
          <a:xfrm>
            <a:off x="628596" y="2005008"/>
            <a:ext cx="8505266" cy="906201"/>
            <a:chOff x="770046" y="5484958"/>
            <a:chExt cx="4125935" cy="1078828"/>
          </a:xfrm>
        </p:grpSpPr>
        <p:sp>
          <p:nvSpPr>
            <p:cNvPr id="12" name="모서리가 둥근 직사각형 11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805471" y="5574488"/>
              <a:ext cx="4090510" cy="989298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Optional&lt;T&gt; reduce(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BinaryOperator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&lt;T&gt; accumulator)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T           reduce(T identity,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BinaryOperator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&lt;T&gt; accumulator) 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U           reduce(U identity,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BiFunction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&lt;U,T,U&gt; accumulator,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BinaryOperator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&lt;U&gt; combiner) 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</a:p>
          </p:txBody>
        </p:sp>
      </p:grpSp>
      <p:sp>
        <p:nvSpPr>
          <p:cNvPr id="14" name="Text Box 20"/>
          <p:cNvSpPr txBox="1">
            <a:spLocks noChangeArrowheads="1"/>
          </p:cNvSpPr>
          <p:nvPr/>
        </p:nvSpPr>
        <p:spPr bwMode="auto">
          <a:xfrm>
            <a:off x="472270" y="1601772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err="1" smtClean="0"/>
              <a:t>스트림의</a:t>
            </a:r>
            <a:r>
              <a:rPr lang="ko-KR" altLang="en-US" b="1" dirty="0" smtClean="0"/>
              <a:t> 요소를 하나씩 줄여가며 누적연산 수행 </a:t>
            </a:r>
            <a:r>
              <a:rPr lang="en-US" altLang="ko-KR" b="1" dirty="0" smtClean="0"/>
              <a:t>–  reduce(</a:t>
            </a:r>
            <a:r>
              <a:rPr lang="en-US" altLang="ko-KR" sz="800" b="1" dirty="0" smtClean="0"/>
              <a:t> </a:t>
            </a:r>
            <a:r>
              <a:rPr lang="en-US" altLang="ko-KR" b="1" dirty="0" smtClean="0"/>
              <a:t>)</a:t>
            </a:r>
            <a:endParaRPr lang="en-US" altLang="ko-KR" b="1" dirty="0"/>
          </a:p>
        </p:txBody>
      </p:sp>
      <p:grpSp>
        <p:nvGrpSpPr>
          <p:cNvPr id="4" name="그룹 51"/>
          <p:cNvGrpSpPr/>
          <p:nvPr/>
        </p:nvGrpSpPr>
        <p:grpSpPr>
          <a:xfrm>
            <a:off x="628596" y="3575046"/>
            <a:ext cx="8505266" cy="1131902"/>
            <a:chOff x="770046" y="5484958"/>
            <a:chExt cx="4125935" cy="912824"/>
          </a:xfrm>
        </p:grpSpPr>
        <p:sp>
          <p:nvSpPr>
            <p:cNvPr id="34" name="모서리가 둥근 직사각형 33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805471" y="5543856"/>
              <a:ext cx="4090510" cy="819083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//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reduce(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 identity,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IntBinaryOperator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 op) 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count =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intStream.reduce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(0, (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a,b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) -&gt; a + 1);                       // count() 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sum   =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intStream.reduce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(0, (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a,b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) -&gt; a + b);                       // sum()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 max   = 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intStream.reduce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Integer.MIN_VALUE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,(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a,b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)-&gt; a &gt; b ? a : b); // max()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 min   = 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intStream.reduce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Integer.MAX_VALUE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,(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a,b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)-&gt; a &lt; b ? a : b); // min()</a:t>
              </a:r>
            </a:p>
          </p:txBody>
        </p:sp>
      </p:grpSp>
      <p:grpSp>
        <p:nvGrpSpPr>
          <p:cNvPr id="5" name="그룹 51"/>
          <p:cNvGrpSpPr/>
          <p:nvPr/>
        </p:nvGrpSpPr>
        <p:grpSpPr>
          <a:xfrm>
            <a:off x="894326" y="2735251"/>
            <a:ext cx="5320759" cy="657236"/>
            <a:chOff x="770046" y="5484957"/>
            <a:chExt cx="4125935" cy="912824"/>
          </a:xfrm>
        </p:grpSpPr>
        <p:sp>
          <p:nvSpPr>
            <p:cNvPr id="37" name="모서리가 둥근 직사각형 36"/>
            <p:cNvSpPr/>
            <p:nvPr/>
          </p:nvSpPr>
          <p:spPr bwMode="auto">
            <a:xfrm>
              <a:off x="770046" y="5484957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805471" y="5535662"/>
              <a:ext cx="4090510" cy="833558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  <a:buFont typeface="Arial" pitchFamily="34" charset="0"/>
                <a:buChar char="•"/>
              </a:pPr>
              <a:r>
                <a:rPr lang="en-US" altLang="ko-KR" sz="1100" b="1" dirty="0" smtClean="0">
                  <a:latin typeface="Courier New" pitchFamily="49" charset="0"/>
                  <a:cs typeface="Courier New" pitchFamily="49" charset="0"/>
                </a:rPr>
                <a:t> identity     - </a:t>
              </a:r>
              <a:r>
                <a:rPr lang="ko-KR" altLang="en-US" sz="1100" b="1" dirty="0" smtClean="0">
                  <a:latin typeface="Courier New" pitchFamily="49" charset="0"/>
                  <a:cs typeface="Courier New" pitchFamily="49" charset="0"/>
                </a:rPr>
                <a:t>초기값</a:t>
              </a:r>
              <a:endParaRPr lang="en-US" altLang="ko-KR" sz="11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  <a:buFont typeface="Arial" pitchFamily="34" charset="0"/>
                <a:buChar char="•"/>
              </a:pPr>
              <a:r>
                <a:rPr lang="en-US" altLang="ko-KR" sz="1100" b="1" dirty="0" smtClean="0">
                  <a:latin typeface="Courier New" pitchFamily="49" charset="0"/>
                  <a:cs typeface="Courier New" pitchFamily="49" charset="0"/>
                </a:rPr>
                <a:t> accumulator  - </a:t>
              </a:r>
              <a:r>
                <a:rPr lang="ko-KR" altLang="en-US" sz="1100" b="1" dirty="0" smtClean="0">
                  <a:latin typeface="Courier New" pitchFamily="49" charset="0"/>
                  <a:cs typeface="Courier New" pitchFamily="49" charset="0"/>
                </a:rPr>
                <a:t>이전 연산결과와 </a:t>
              </a:r>
              <a:r>
                <a:rPr lang="ko-KR" altLang="en-US" sz="1100" b="1" dirty="0" err="1" smtClean="0">
                  <a:latin typeface="Courier New" pitchFamily="49" charset="0"/>
                  <a:cs typeface="Courier New" pitchFamily="49" charset="0"/>
                </a:rPr>
                <a:t>스트림의</a:t>
              </a:r>
              <a:r>
                <a:rPr lang="ko-KR" altLang="en-US" sz="1100" b="1" dirty="0" smtClean="0">
                  <a:latin typeface="Courier New" pitchFamily="49" charset="0"/>
                  <a:cs typeface="Courier New" pitchFamily="49" charset="0"/>
                </a:rPr>
                <a:t> 요소에 수행할 연산</a:t>
              </a:r>
              <a:endParaRPr lang="en-US" altLang="ko-KR" sz="11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  <a:buFont typeface="Arial" pitchFamily="34" charset="0"/>
                <a:buChar char="•"/>
              </a:pPr>
              <a:r>
                <a:rPr lang="en-US" altLang="ko-KR" sz="1100" b="1" dirty="0" smtClean="0">
                  <a:latin typeface="Courier New" pitchFamily="49" charset="0"/>
                  <a:cs typeface="Courier New" pitchFamily="49" charset="0"/>
                </a:rPr>
                <a:t> combiner     - </a:t>
              </a:r>
              <a:r>
                <a:rPr lang="ko-KR" altLang="en-US" sz="1100" b="1" dirty="0" err="1" smtClean="0">
                  <a:latin typeface="Courier New" pitchFamily="49" charset="0"/>
                  <a:cs typeface="Courier New" pitchFamily="49" charset="0"/>
                </a:rPr>
                <a:t>병렬처리된</a:t>
              </a:r>
              <a:r>
                <a:rPr lang="ko-KR" altLang="en-US" sz="1100" b="1" dirty="0" smtClean="0">
                  <a:latin typeface="Courier New" pitchFamily="49" charset="0"/>
                  <a:cs typeface="Courier New" pitchFamily="49" charset="0"/>
                </a:rPr>
                <a:t> 결과를 합치는데 사용할 연산</a:t>
              </a:r>
              <a:r>
                <a:rPr lang="en-US" altLang="ko-KR" sz="11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ko-KR" altLang="en-US" sz="1100" b="1" dirty="0" smtClean="0">
                  <a:latin typeface="Courier New" pitchFamily="49" charset="0"/>
                  <a:cs typeface="Courier New" pitchFamily="49" charset="0"/>
                </a:rPr>
                <a:t>병렬 </a:t>
              </a:r>
              <a:r>
                <a:rPr lang="ko-KR" altLang="en-US" sz="1100" b="1" dirty="0" err="1" smtClean="0">
                  <a:latin typeface="Courier New" pitchFamily="49" charset="0"/>
                  <a:cs typeface="Courier New" pitchFamily="49" charset="0"/>
                </a:rPr>
                <a:t>스트림</a:t>
              </a:r>
              <a:r>
                <a:rPr lang="en-US" altLang="ko-KR" sz="1100" b="1" dirty="0" smtClean="0">
                  <a:latin typeface="Courier New" pitchFamily="49" charset="0"/>
                  <a:cs typeface="Courier New" pitchFamily="49" charset="0"/>
                </a:rPr>
                <a:t>)</a:t>
              </a:r>
            </a:p>
          </p:txBody>
        </p:sp>
      </p:grpSp>
      <p:grpSp>
        <p:nvGrpSpPr>
          <p:cNvPr id="32" name="그룹 31"/>
          <p:cNvGrpSpPr/>
          <p:nvPr/>
        </p:nvGrpSpPr>
        <p:grpSpPr>
          <a:xfrm>
            <a:off x="630859" y="4633929"/>
            <a:ext cx="8505266" cy="1058878"/>
            <a:chOff x="630859" y="4633929"/>
            <a:chExt cx="8505266" cy="1058878"/>
          </a:xfrm>
        </p:grpSpPr>
        <p:grpSp>
          <p:nvGrpSpPr>
            <p:cNvPr id="6" name="그룹 51"/>
            <p:cNvGrpSpPr/>
            <p:nvPr/>
          </p:nvGrpSpPr>
          <p:grpSpPr>
            <a:xfrm>
              <a:off x="630859" y="4926035"/>
              <a:ext cx="8505266" cy="766772"/>
              <a:chOff x="770046" y="5484957"/>
              <a:chExt cx="4125935" cy="912824"/>
            </a:xfrm>
          </p:grpSpPr>
          <p:sp>
            <p:nvSpPr>
              <p:cNvPr id="22" name="모서리가 둥근 직사각형 21"/>
              <p:cNvSpPr/>
              <p:nvPr/>
            </p:nvSpPr>
            <p:spPr bwMode="auto">
              <a:xfrm>
                <a:off x="770046" y="5484957"/>
                <a:ext cx="4052636" cy="912824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49263" marR="0" indent="-449263" algn="l" defTabSz="914400" rtl="0" eaLnBrk="1" fontAlgn="base" latin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urier New" pitchFamily="49" charset="0"/>
                  <a:ea typeface="견명조" pitchFamily="18" charset="-127"/>
                </a:endParaRPr>
              </a:p>
            </p:txBody>
          </p:sp>
          <p:sp>
            <p:nvSpPr>
              <p:cNvPr id="23" name="직사각형 22"/>
              <p:cNvSpPr/>
              <p:nvPr/>
            </p:nvSpPr>
            <p:spPr>
              <a:xfrm>
                <a:off x="805471" y="5571890"/>
                <a:ext cx="4090510" cy="769442"/>
              </a:xfrm>
              <a:prstGeom prst="rect">
                <a:avLst/>
              </a:prstGeom>
            </p:spPr>
            <p:txBody>
              <a:bodyPr wrap="square" anchor="b">
                <a:spAutoFit/>
              </a:bodyPr>
              <a:lstStyle/>
              <a:p>
                <a:pPr>
                  <a:spcBef>
                    <a:spcPts val="0"/>
                  </a:spcBef>
                </a:pPr>
                <a:r>
                  <a:rPr lang="en-US" altLang="ko-KR" sz="1200" b="1" dirty="0" smtClean="0">
                    <a:latin typeface="Courier New" pitchFamily="49" charset="0"/>
                    <a:cs typeface="Courier New" pitchFamily="49" charset="0"/>
                  </a:rPr>
                  <a:t>// </a:t>
                </a:r>
                <a:r>
                  <a:rPr lang="en-US" altLang="ko-KR" sz="1200" b="1" dirty="0" err="1" smtClean="0">
                    <a:latin typeface="Courier New" pitchFamily="49" charset="0"/>
                    <a:cs typeface="Courier New" pitchFamily="49" charset="0"/>
                  </a:rPr>
                  <a:t>OptionalInt</a:t>
                </a:r>
                <a:r>
                  <a:rPr lang="en-US" altLang="ko-KR" sz="1200" b="1" dirty="0" smtClean="0">
                    <a:latin typeface="Courier New" pitchFamily="49" charset="0"/>
                    <a:cs typeface="Courier New" pitchFamily="49" charset="0"/>
                  </a:rPr>
                  <a:t> reduce(</a:t>
                </a:r>
                <a:r>
                  <a:rPr lang="en-US" altLang="ko-KR" sz="1200" b="1" dirty="0" err="1" smtClean="0">
                    <a:latin typeface="Courier New" pitchFamily="49" charset="0"/>
                    <a:cs typeface="Courier New" pitchFamily="49" charset="0"/>
                  </a:rPr>
                  <a:t>IntBinaryOperator</a:t>
                </a:r>
                <a:r>
                  <a:rPr lang="en-US" altLang="ko-KR" sz="1200" b="1" dirty="0" smtClean="0">
                    <a:latin typeface="Courier New" pitchFamily="49" charset="0"/>
                    <a:cs typeface="Courier New" pitchFamily="49" charset="0"/>
                  </a:rPr>
                  <a:t> accumulator)</a:t>
                </a:r>
              </a:p>
              <a:p>
                <a:pPr>
                  <a:spcBef>
                    <a:spcPts val="0"/>
                  </a:spcBef>
                </a:pPr>
                <a:r>
                  <a:rPr lang="en-US" altLang="ko-KR" sz="1200" b="1" dirty="0" err="1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OptionalInt</a:t>
                </a:r>
                <a:r>
                  <a:rPr lang="en-US" altLang="ko-KR" sz="1200" b="1" dirty="0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 max = </a:t>
                </a:r>
                <a:r>
                  <a:rPr lang="en-US" altLang="ko-KR" sz="1200" b="1" dirty="0" err="1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intStream.reduce</a:t>
                </a:r>
                <a:r>
                  <a:rPr lang="en-US" altLang="ko-KR" sz="1200" b="1" dirty="0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((</a:t>
                </a:r>
                <a:r>
                  <a:rPr lang="en-US" altLang="ko-KR" sz="1200" b="1" dirty="0" err="1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a,b</a:t>
                </a:r>
                <a:r>
                  <a:rPr lang="en-US" altLang="ko-KR" sz="1200" b="1" dirty="0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) -&gt; a &gt; b ? a : b); // max()</a:t>
                </a:r>
              </a:p>
              <a:p>
                <a:pPr>
                  <a:spcBef>
                    <a:spcPts val="0"/>
                  </a:spcBef>
                </a:pPr>
                <a:r>
                  <a:rPr lang="en-US" altLang="ko-KR" sz="1200" b="1" dirty="0" err="1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OptionalInt</a:t>
                </a:r>
                <a:r>
                  <a:rPr lang="en-US" altLang="ko-KR" sz="1200" b="1" dirty="0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 min = </a:t>
                </a:r>
                <a:r>
                  <a:rPr lang="en-US" altLang="ko-KR" sz="1200" b="1" dirty="0" err="1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intStream.reduce</a:t>
                </a:r>
                <a:r>
                  <a:rPr lang="en-US" altLang="ko-KR" sz="1200" b="1" dirty="0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((</a:t>
                </a:r>
                <a:r>
                  <a:rPr lang="en-US" altLang="ko-KR" sz="1200" b="1" dirty="0" err="1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a,b</a:t>
                </a:r>
                <a:r>
                  <a:rPr lang="en-US" altLang="ko-KR" sz="1200" b="1" dirty="0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) -&gt; a &lt; b ? a : b); // min()</a:t>
                </a:r>
              </a:p>
            </p:txBody>
          </p:sp>
        </p:grpSp>
        <p:sp>
          <p:nvSpPr>
            <p:cNvPr id="24" name="아래쪽 화살표 23"/>
            <p:cNvSpPr/>
            <p:nvPr/>
          </p:nvSpPr>
          <p:spPr bwMode="auto">
            <a:xfrm>
              <a:off x="4681539" y="4633929"/>
              <a:ext cx="365130" cy="438156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</p:grpSp>
      <p:grpSp>
        <p:nvGrpSpPr>
          <p:cNvPr id="33" name="그룹 32"/>
          <p:cNvGrpSpPr/>
          <p:nvPr/>
        </p:nvGrpSpPr>
        <p:grpSpPr>
          <a:xfrm>
            <a:off x="638734" y="5619780"/>
            <a:ext cx="8505266" cy="876312"/>
            <a:chOff x="637305" y="5619780"/>
            <a:chExt cx="8505266" cy="876312"/>
          </a:xfrm>
        </p:grpSpPr>
        <p:grpSp>
          <p:nvGrpSpPr>
            <p:cNvPr id="7" name="그룹 51"/>
            <p:cNvGrpSpPr/>
            <p:nvPr/>
          </p:nvGrpSpPr>
          <p:grpSpPr>
            <a:xfrm>
              <a:off x="637305" y="5911886"/>
              <a:ext cx="8505266" cy="584206"/>
              <a:chOff x="770046" y="5484957"/>
              <a:chExt cx="4125935" cy="912824"/>
            </a:xfrm>
          </p:grpSpPr>
          <p:sp>
            <p:nvSpPr>
              <p:cNvPr id="26" name="모서리가 둥근 직사각형 25"/>
              <p:cNvSpPr/>
              <p:nvPr/>
            </p:nvSpPr>
            <p:spPr bwMode="auto">
              <a:xfrm>
                <a:off x="770046" y="5484957"/>
                <a:ext cx="4052636" cy="912824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49263" marR="0" indent="-449263" algn="l" defTabSz="914400" rtl="0" eaLnBrk="1" fontAlgn="base" latin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urier New" pitchFamily="49" charset="0"/>
                  <a:ea typeface="견명조" pitchFamily="18" charset="-127"/>
                </a:endParaRPr>
              </a:p>
            </p:txBody>
          </p:sp>
          <p:sp>
            <p:nvSpPr>
              <p:cNvPr id="27" name="직사각형 26"/>
              <p:cNvSpPr/>
              <p:nvPr/>
            </p:nvSpPr>
            <p:spPr>
              <a:xfrm>
                <a:off x="805471" y="5599056"/>
                <a:ext cx="4090510" cy="721353"/>
              </a:xfrm>
              <a:prstGeom prst="rect">
                <a:avLst/>
              </a:prstGeom>
            </p:spPr>
            <p:txBody>
              <a:bodyPr wrap="square" anchor="b">
                <a:spAutoFit/>
              </a:bodyPr>
              <a:lstStyle/>
              <a:p>
                <a:pPr>
                  <a:spcBef>
                    <a:spcPts val="0"/>
                  </a:spcBef>
                </a:pPr>
                <a:r>
                  <a:rPr lang="en-US" altLang="ko-KR" sz="1200" b="1" dirty="0" err="1" smtClean="0">
                    <a:latin typeface="Courier New" pitchFamily="49" charset="0"/>
                    <a:cs typeface="Courier New" pitchFamily="49" charset="0"/>
                  </a:rPr>
                  <a:t>OptionalInt</a:t>
                </a:r>
                <a:r>
                  <a:rPr lang="en-US" altLang="ko-KR" sz="1200" b="1" dirty="0" smtClean="0">
                    <a:latin typeface="Courier New" pitchFamily="49" charset="0"/>
                    <a:cs typeface="Courier New" pitchFamily="49" charset="0"/>
                  </a:rPr>
                  <a:t> max = </a:t>
                </a:r>
                <a:r>
                  <a:rPr lang="en-US" altLang="ko-KR" sz="1200" b="1" dirty="0" err="1" smtClean="0">
                    <a:latin typeface="Courier New" pitchFamily="49" charset="0"/>
                    <a:cs typeface="Courier New" pitchFamily="49" charset="0"/>
                  </a:rPr>
                  <a:t>intStream.reduce</a:t>
                </a:r>
                <a:r>
                  <a:rPr lang="en-US" altLang="ko-KR" sz="1200" b="1" dirty="0" smtClean="0">
                    <a:latin typeface="Courier New" pitchFamily="49" charset="0"/>
                    <a:cs typeface="Courier New" pitchFamily="49" charset="0"/>
                  </a:rPr>
                  <a:t>(</a:t>
                </a:r>
                <a:r>
                  <a:rPr lang="en-US" altLang="ko-KR" sz="1200" b="1" dirty="0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Integer::max</a:t>
                </a:r>
                <a:r>
                  <a:rPr lang="en-US" altLang="ko-KR" sz="1200" b="1" dirty="0" smtClean="0">
                    <a:latin typeface="Courier New" pitchFamily="49" charset="0"/>
                    <a:cs typeface="Courier New" pitchFamily="49" charset="0"/>
                  </a:rPr>
                  <a:t>); // static </a:t>
                </a:r>
                <a:r>
                  <a:rPr lang="en-US" altLang="ko-KR" sz="1200" b="1" dirty="0" err="1" smtClean="0">
                    <a:latin typeface="Courier New" pitchFamily="49" charset="0"/>
                    <a:cs typeface="Courier New" pitchFamily="49" charset="0"/>
                  </a:rPr>
                  <a:t>int</a:t>
                </a:r>
                <a:r>
                  <a:rPr lang="en-US" altLang="ko-KR" sz="1200" b="1" dirty="0" smtClean="0">
                    <a:latin typeface="Courier New" pitchFamily="49" charset="0"/>
                    <a:cs typeface="Courier New" pitchFamily="49" charset="0"/>
                  </a:rPr>
                  <a:t> max(</a:t>
                </a:r>
                <a:r>
                  <a:rPr lang="en-US" altLang="ko-KR" sz="1200" b="1" dirty="0" err="1" smtClean="0">
                    <a:latin typeface="Courier New" pitchFamily="49" charset="0"/>
                    <a:cs typeface="Courier New" pitchFamily="49" charset="0"/>
                  </a:rPr>
                  <a:t>int</a:t>
                </a:r>
                <a:r>
                  <a:rPr lang="en-US" altLang="ko-KR" sz="1200" b="1" dirty="0" smtClean="0">
                    <a:latin typeface="Courier New" pitchFamily="49" charset="0"/>
                    <a:cs typeface="Courier New" pitchFamily="49" charset="0"/>
                  </a:rPr>
                  <a:t> a, </a:t>
                </a:r>
                <a:r>
                  <a:rPr lang="en-US" altLang="ko-KR" sz="1200" b="1" dirty="0" err="1" smtClean="0">
                    <a:latin typeface="Courier New" pitchFamily="49" charset="0"/>
                    <a:cs typeface="Courier New" pitchFamily="49" charset="0"/>
                  </a:rPr>
                  <a:t>int</a:t>
                </a:r>
                <a:r>
                  <a:rPr lang="en-US" altLang="ko-KR" sz="1200" b="1" dirty="0" smtClean="0">
                    <a:latin typeface="Courier New" pitchFamily="49" charset="0"/>
                    <a:cs typeface="Courier New" pitchFamily="49" charset="0"/>
                  </a:rPr>
                  <a:t> b) </a:t>
                </a:r>
              </a:p>
              <a:p>
                <a:pPr>
                  <a:spcBef>
                    <a:spcPts val="0"/>
                  </a:spcBef>
                </a:pPr>
                <a:r>
                  <a:rPr lang="en-US" altLang="ko-KR" sz="1200" b="1" dirty="0" err="1" smtClean="0">
                    <a:latin typeface="Courier New" pitchFamily="49" charset="0"/>
                    <a:cs typeface="Courier New" pitchFamily="49" charset="0"/>
                  </a:rPr>
                  <a:t>OptionalInt</a:t>
                </a:r>
                <a:r>
                  <a:rPr lang="en-US" altLang="ko-KR" sz="1200" b="1" dirty="0" smtClean="0">
                    <a:latin typeface="Courier New" pitchFamily="49" charset="0"/>
                    <a:cs typeface="Courier New" pitchFamily="49" charset="0"/>
                  </a:rPr>
                  <a:t> min = </a:t>
                </a:r>
                <a:r>
                  <a:rPr lang="en-US" altLang="ko-KR" sz="1200" b="1" dirty="0" err="1" smtClean="0">
                    <a:latin typeface="Courier New" pitchFamily="49" charset="0"/>
                    <a:cs typeface="Courier New" pitchFamily="49" charset="0"/>
                  </a:rPr>
                  <a:t>intStream.reduce</a:t>
                </a:r>
                <a:r>
                  <a:rPr lang="en-US" altLang="ko-KR" sz="1200" b="1" dirty="0" smtClean="0">
                    <a:latin typeface="Courier New" pitchFamily="49" charset="0"/>
                    <a:cs typeface="Courier New" pitchFamily="49" charset="0"/>
                  </a:rPr>
                  <a:t>(</a:t>
                </a:r>
                <a:r>
                  <a:rPr lang="en-US" altLang="ko-KR" sz="1200" b="1" dirty="0" smtClean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Integer::min</a:t>
                </a:r>
                <a:r>
                  <a:rPr lang="en-US" altLang="ko-KR" sz="1200" b="1" dirty="0" smtClean="0">
                    <a:latin typeface="Courier New" pitchFamily="49" charset="0"/>
                    <a:cs typeface="Courier New" pitchFamily="49" charset="0"/>
                  </a:rPr>
                  <a:t>); // static </a:t>
                </a:r>
                <a:r>
                  <a:rPr lang="en-US" altLang="ko-KR" sz="1200" b="1" dirty="0" err="1" smtClean="0">
                    <a:latin typeface="Courier New" pitchFamily="49" charset="0"/>
                    <a:cs typeface="Courier New" pitchFamily="49" charset="0"/>
                  </a:rPr>
                  <a:t>int</a:t>
                </a:r>
                <a:r>
                  <a:rPr lang="en-US" altLang="ko-KR" sz="1200" b="1" dirty="0" smtClean="0">
                    <a:latin typeface="Courier New" pitchFamily="49" charset="0"/>
                    <a:cs typeface="Courier New" pitchFamily="49" charset="0"/>
                  </a:rPr>
                  <a:t> min(</a:t>
                </a:r>
                <a:r>
                  <a:rPr lang="en-US" altLang="ko-KR" sz="1200" b="1" dirty="0" err="1" smtClean="0">
                    <a:latin typeface="Courier New" pitchFamily="49" charset="0"/>
                    <a:cs typeface="Courier New" pitchFamily="49" charset="0"/>
                  </a:rPr>
                  <a:t>int</a:t>
                </a:r>
                <a:r>
                  <a:rPr lang="en-US" altLang="ko-KR" sz="1200" b="1" dirty="0" smtClean="0">
                    <a:latin typeface="Courier New" pitchFamily="49" charset="0"/>
                    <a:cs typeface="Courier New" pitchFamily="49" charset="0"/>
                  </a:rPr>
                  <a:t> a, </a:t>
                </a:r>
                <a:r>
                  <a:rPr lang="en-US" altLang="ko-KR" sz="1200" b="1" dirty="0" err="1" smtClean="0">
                    <a:latin typeface="Courier New" pitchFamily="49" charset="0"/>
                    <a:cs typeface="Courier New" pitchFamily="49" charset="0"/>
                  </a:rPr>
                  <a:t>int</a:t>
                </a:r>
                <a:r>
                  <a:rPr lang="en-US" altLang="ko-KR" sz="1200" b="1" dirty="0" smtClean="0">
                    <a:latin typeface="Courier New" pitchFamily="49" charset="0"/>
                    <a:cs typeface="Courier New" pitchFamily="49" charset="0"/>
                  </a:rPr>
                  <a:t> b)</a:t>
                </a:r>
              </a:p>
            </p:txBody>
          </p:sp>
        </p:grpSp>
        <p:sp>
          <p:nvSpPr>
            <p:cNvPr id="28" name="아래쪽 화살표 27"/>
            <p:cNvSpPr/>
            <p:nvPr/>
          </p:nvSpPr>
          <p:spPr bwMode="auto">
            <a:xfrm>
              <a:off x="4687985" y="5619780"/>
              <a:ext cx="365130" cy="438156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</p:grpSp>
      <p:grpSp>
        <p:nvGrpSpPr>
          <p:cNvPr id="8" name="그룹 51"/>
          <p:cNvGrpSpPr/>
          <p:nvPr/>
        </p:nvGrpSpPr>
        <p:grpSpPr>
          <a:xfrm>
            <a:off x="6434163" y="2972330"/>
            <a:ext cx="2446371" cy="858313"/>
            <a:chOff x="764879" y="5536178"/>
            <a:chExt cx="4131102" cy="912824"/>
          </a:xfrm>
        </p:grpSpPr>
        <p:sp>
          <p:nvSpPr>
            <p:cNvPr id="30" name="모서리가 둥근 직사각형 29"/>
            <p:cNvSpPr/>
            <p:nvPr/>
          </p:nvSpPr>
          <p:spPr bwMode="auto">
            <a:xfrm>
              <a:off x="764879" y="5536178"/>
              <a:ext cx="4052637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805471" y="5591860"/>
              <a:ext cx="4090510" cy="818308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ko-KR" sz="1100" b="1" dirty="0" err="1" smtClean="0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altLang="ko-KR" sz="1100" b="1" dirty="0" smtClean="0">
                  <a:latin typeface="Courier New" pitchFamily="49" charset="0"/>
                  <a:cs typeface="Courier New" pitchFamily="49" charset="0"/>
                </a:rPr>
                <a:t> a = </a:t>
              </a:r>
              <a:r>
                <a:rPr lang="en-US" altLang="ko-KR" sz="11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identity</a:t>
              </a:r>
              <a:r>
                <a:rPr lang="en-US" altLang="ko-KR" sz="1100" b="1" dirty="0" smtClean="0">
                  <a:latin typeface="Courier New" pitchFamily="49" charset="0"/>
                  <a:cs typeface="Courier New" pitchFamily="49" charset="0"/>
                </a:rPr>
                <a:t>; </a:t>
              </a:r>
            </a:p>
            <a:p>
              <a:pPr>
                <a:spcBef>
                  <a:spcPts val="0"/>
                </a:spcBef>
              </a:pPr>
              <a:endParaRPr lang="en-US" altLang="ko-KR" sz="11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altLang="ko-KR" sz="1100" b="1" dirty="0" smtClean="0">
                  <a:latin typeface="Courier New" pitchFamily="49" charset="0"/>
                  <a:cs typeface="Courier New" pitchFamily="49" charset="0"/>
                </a:rPr>
                <a:t>for(</a:t>
              </a:r>
              <a:r>
                <a:rPr lang="en-US" altLang="ko-KR" sz="1100" b="1" dirty="0" err="1" smtClean="0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altLang="ko-KR" sz="1100" b="1" dirty="0" smtClean="0">
                  <a:latin typeface="Courier New" pitchFamily="49" charset="0"/>
                  <a:cs typeface="Courier New" pitchFamily="49" charset="0"/>
                </a:rPr>
                <a:t> b : stream)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100" b="1" dirty="0" smtClean="0">
                  <a:latin typeface="Courier New" pitchFamily="49" charset="0"/>
                  <a:cs typeface="Courier New" pitchFamily="49" charset="0"/>
                </a:rPr>
                <a:t>     a = </a:t>
              </a:r>
              <a:r>
                <a:rPr lang="en-US" altLang="ko-KR" sz="11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a + b</a:t>
              </a:r>
              <a:r>
                <a:rPr lang="en-US" altLang="ko-KR" sz="1100" b="1" dirty="0" smtClean="0">
                  <a:latin typeface="Courier New" pitchFamily="49" charset="0"/>
                  <a:cs typeface="Courier New" pitchFamily="49" charset="0"/>
                </a:rPr>
                <a:t>;  // sum()</a:t>
              </a: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863600"/>
          </a:xfrm>
          <a:prstGeom prst="rect">
            <a:avLst/>
          </a:prstGeom>
          <a:solidFill>
            <a:srgbClr val="E4D394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576263"/>
            <a:ext cx="8388350" cy="53975"/>
          </a:xfrm>
          <a:prstGeom prst="rect">
            <a:avLst/>
          </a:prstGeom>
          <a:solidFill>
            <a:srgbClr val="81705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883525" y="42863"/>
            <a:ext cx="1368425" cy="722312"/>
            <a:chOff x="3787" y="1570"/>
            <a:chExt cx="862" cy="455"/>
          </a:xfrm>
        </p:grpSpPr>
        <p:sp>
          <p:nvSpPr>
            <p:cNvPr id="3090" name="Text Box 5"/>
            <p:cNvSpPr txBox="1">
              <a:spLocks noChangeArrowheads="1"/>
            </p:cNvSpPr>
            <p:nvPr/>
          </p:nvSpPr>
          <p:spPr bwMode="auto">
            <a:xfrm>
              <a:off x="3787" y="1570"/>
              <a:ext cx="7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2800">
                  <a:latin typeface="Elephant" pitchFamily="18" charset="0"/>
                  <a:ea typeface="굴림" charset="-127"/>
                </a:rPr>
                <a:t>Java</a:t>
              </a:r>
            </a:p>
          </p:txBody>
        </p:sp>
        <p:sp>
          <p:nvSpPr>
            <p:cNvPr id="3091" name="Text Box 6"/>
            <p:cNvSpPr txBox="1">
              <a:spLocks noChangeArrowheads="1"/>
            </p:cNvSpPr>
            <p:nvPr/>
          </p:nvSpPr>
          <p:spPr bwMode="auto">
            <a:xfrm>
              <a:off x="4308" y="1643"/>
              <a:ext cx="34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1600">
                  <a:latin typeface="HY견고딕" pitchFamily="18" charset="-127"/>
                  <a:ea typeface="HY견고딕" pitchFamily="18" charset="-127"/>
                </a:rPr>
                <a:t>의</a:t>
              </a:r>
            </a:p>
          </p:txBody>
        </p:sp>
        <p:sp>
          <p:nvSpPr>
            <p:cNvPr id="3092" name="Text Box 7"/>
            <p:cNvSpPr txBox="1">
              <a:spLocks noChangeArrowheads="1"/>
            </p:cNvSpPr>
            <p:nvPr/>
          </p:nvSpPr>
          <p:spPr bwMode="auto">
            <a:xfrm>
              <a:off x="4121" y="1775"/>
              <a:ext cx="5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2000">
                  <a:latin typeface="바탕" pitchFamily="18" charset="-127"/>
                  <a:ea typeface="HY견고딕" pitchFamily="18" charset="-127"/>
                </a:rPr>
                <a:t>정석</a:t>
              </a:r>
            </a:p>
          </p:txBody>
        </p:sp>
      </p:grp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443663" y="620713"/>
            <a:ext cx="2016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 err="1">
                <a:latin typeface="Courier New" pitchFamily="49" charset="0"/>
                <a:ea typeface="굴림" charset="-127"/>
              </a:rPr>
              <a:t>http://</a:t>
            </a:r>
            <a:r>
              <a:rPr lang="en-US" altLang="ko-KR" sz="1000" b="1" dirty="0" err="1" smtClean="0">
                <a:latin typeface="Courier New" pitchFamily="49" charset="0"/>
                <a:ea typeface="굴림" charset="-127"/>
              </a:rPr>
              <a:t>www.codechobo.com</a:t>
            </a:r>
            <a:endParaRPr lang="en-US" altLang="ko-KR" sz="1000" b="1" dirty="0">
              <a:latin typeface="Courier New" pitchFamily="49" charset="0"/>
              <a:ea typeface="굴림" charset="-127"/>
            </a:endParaRPr>
          </a:p>
        </p:txBody>
      </p:sp>
      <p:sp>
        <p:nvSpPr>
          <p:cNvPr id="3078" name="Text Box 19"/>
          <p:cNvSpPr txBox="1">
            <a:spLocks noChangeArrowheads="1"/>
          </p:cNvSpPr>
          <p:nvPr/>
        </p:nvSpPr>
        <p:spPr bwMode="auto">
          <a:xfrm>
            <a:off x="358775" y="1016000"/>
            <a:ext cx="8569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800" b="1" dirty="0" smtClean="0"/>
              <a:t>2.7  collect(), Collector, Collectors</a:t>
            </a:r>
            <a:endParaRPr lang="en-US" altLang="ko-KR" sz="2800" b="1" dirty="0"/>
          </a:p>
        </p:txBody>
      </p:sp>
      <p:sp>
        <p:nvSpPr>
          <p:cNvPr id="3089" name="Text Box 9"/>
          <p:cNvSpPr txBox="1">
            <a:spLocks noChangeArrowheads="1"/>
          </p:cNvSpPr>
          <p:nvPr/>
        </p:nvSpPr>
        <p:spPr bwMode="auto">
          <a:xfrm>
            <a:off x="146050" y="188913"/>
            <a:ext cx="5686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Chapter 14. 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람다와 스트림</a:t>
            </a: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(Lambda &amp; Stream)</a:t>
            </a:r>
          </a:p>
        </p:txBody>
      </p:sp>
      <p:grpSp>
        <p:nvGrpSpPr>
          <p:cNvPr id="3" name="그룹 51"/>
          <p:cNvGrpSpPr/>
          <p:nvPr/>
        </p:nvGrpSpPr>
        <p:grpSpPr>
          <a:xfrm>
            <a:off x="628596" y="2005009"/>
            <a:ext cx="8505266" cy="657218"/>
            <a:chOff x="770046" y="5484958"/>
            <a:chExt cx="4125935" cy="912824"/>
          </a:xfrm>
        </p:grpSpPr>
        <p:sp>
          <p:nvSpPr>
            <p:cNvPr id="12" name="모서리가 둥근 직사각형 11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805471" y="5604425"/>
              <a:ext cx="4090510" cy="641216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Object collect(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Collector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collector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) // Collector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를 구현한 클래스의 객체를 매개변수로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Object collect(Supplier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supplier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BiConsumer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accumulator,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BiConsumer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combiner) //</a:t>
              </a:r>
              <a:r>
                <a:rPr lang="en-US" altLang="ko-KR" sz="8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잘</a:t>
              </a:r>
              <a:r>
                <a:rPr lang="ko-KR" altLang="en-US" sz="8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ko-KR" altLang="en-US" sz="1200" b="1" dirty="0" err="1" smtClean="0">
                  <a:latin typeface="Courier New" pitchFamily="49" charset="0"/>
                  <a:cs typeface="Courier New" pitchFamily="49" charset="0"/>
                </a:rPr>
                <a:t>안쓰임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</a:p>
          </p:txBody>
        </p:sp>
      </p:grpSp>
      <p:sp>
        <p:nvSpPr>
          <p:cNvPr id="14" name="Text Box 20"/>
          <p:cNvSpPr txBox="1">
            <a:spLocks noChangeArrowheads="1"/>
          </p:cNvSpPr>
          <p:nvPr/>
        </p:nvSpPr>
        <p:spPr bwMode="auto">
          <a:xfrm>
            <a:off x="472270" y="1601772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collect()</a:t>
            </a:r>
            <a:r>
              <a:rPr lang="ko-KR" altLang="en-US" b="1" dirty="0" smtClean="0"/>
              <a:t>는 </a:t>
            </a:r>
            <a:r>
              <a:rPr lang="en-US" altLang="ko-KR" b="1" dirty="0" smtClean="0"/>
              <a:t>Collector</a:t>
            </a:r>
            <a:r>
              <a:rPr lang="ko-KR" altLang="en-US" b="1" dirty="0" smtClean="0"/>
              <a:t>를 매개변수로 하는 </a:t>
            </a:r>
            <a:r>
              <a:rPr lang="ko-KR" altLang="en-US" b="1" dirty="0" err="1" smtClean="0"/>
              <a:t>스트림의</a:t>
            </a:r>
            <a:r>
              <a:rPr lang="ko-KR" altLang="en-US" b="1" dirty="0" smtClean="0"/>
              <a:t> 최종연산</a:t>
            </a:r>
            <a:r>
              <a:rPr lang="en-US" altLang="ko-KR" b="1" dirty="0" smtClean="0"/>
              <a:t> </a:t>
            </a:r>
            <a:endParaRPr lang="en-US" altLang="ko-KR" b="1" dirty="0"/>
          </a:p>
        </p:txBody>
      </p:sp>
      <p:grpSp>
        <p:nvGrpSpPr>
          <p:cNvPr id="15" name="그룹 51"/>
          <p:cNvGrpSpPr/>
          <p:nvPr/>
        </p:nvGrpSpPr>
        <p:grpSpPr>
          <a:xfrm>
            <a:off x="630159" y="3246435"/>
            <a:ext cx="8467190" cy="1736720"/>
            <a:chOff x="770046" y="5467444"/>
            <a:chExt cx="4107464" cy="912824"/>
          </a:xfrm>
        </p:grpSpPr>
        <p:sp>
          <p:nvSpPr>
            <p:cNvPr id="16" name="모서리가 둥근 직사각형 15"/>
            <p:cNvSpPr/>
            <p:nvPr/>
          </p:nvSpPr>
          <p:spPr bwMode="auto">
            <a:xfrm>
              <a:off x="770046" y="5467444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787000" y="5518274"/>
              <a:ext cx="4090510" cy="825017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public interface 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Collector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&lt;T, A, R&gt; {  // T(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요소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)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를 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A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에 누적한 다음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결과를 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R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로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변환해서 반환 </a:t>
              </a:r>
              <a:endParaRPr lang="en-US" altLang="ko-KR" sz="12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Supplier&lt;A&gt;          supplier();        //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StringBuilder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::new            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누적할 곳</a:t>
              </a:r>
              <a:endParaRPr lang="en-US" altLang="ko-KR" sz="12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BiConsumer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&lt;A, T&gt;     accumulator();     // (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sb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, s) -&gt;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sb.append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(s)       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누적방법</a:t>
              </a:r>
              <a:endParaRPr lang="en-US" altLang="ko-KR" sz="12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BinaryOperator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&lt;A&gt;    combiner();        // (sb1, sb2) -&gt; sb1.append(sb2) 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결합방법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병렬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)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Function&lt;A, R&gt;       finisher();        //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sb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-&gt;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sb.toString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()           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최종변환</a:t>
              </a:r>
              <a:endParaRPr lang="en-US" altLang="ko-KR" sz="12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Set&lt;Characteristics&gt; characteristics(); // </a:t>
              </a:r>
              <a:r>
                <a:rPr lang="ko-KR" altLang="en-US" sz="1200" b="1" dirty="0" err="1" smtClean="0">
                  <a:latin typeface="Courier New" pitchFamily="49" charset="0"/>
                  <a:cs typeface="Courier New" pitchFamily="49" charset="0"/>
                </a:rPr>
                <a:t>컬렉터의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 특성이 담긴 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Set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을 반환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 ...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}</a:t>
              </a:r>
            </a:p>
          </p:txBody>
        </p:sp>
      </p:grpSp>
      <p:sp>
        <p:nvSpPr>
          <p:cNvPr id="18" name="Text Box 20"/>
          <p:cNvSpPr txBox="1">
            <a:spLocks noChangeArrowheads="1"/>
          </p:cNvSpPr>
          <p:nvPr/>
        </p:nvSpPr>
        <p:spPr bwMode="auto">
          <a:xfrm>
            <a:off x="473833" y="2830383"/>
            <a:ext cx="86042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Collector</a:t>
            </a:r>
            <a:r>
              <a:rPr lang="ko-KR" altLang="en-US" b="1" dirty="0" smtClean="0"/>
              <a:t>는 수집</a:t>
            </a:r>
            <a:r>
              <a:rPr lang="en-US" altLang="ko-KR" b="1" dirty="0" smtClean="0"/>
              <a:t>(collect)</a:t>
            </a:r>
            <a:r>
              <a:rPr lang="ko-KR" altLang="en-US" b="1" dirty="0" smtClean="0"/>
              <a:t>에 필요한 메서드를 정의해 놓은 인터페이스</a:t>
            </a:r>
            <a:endParaRPr lang="en-US" altLang="ko-KR" b="1" dirty="0"/>
          </a:p>
        </p:txBody>
      </p:sp>
      <p:grpSp>
        <p:nvGrpSpPr>
          <p:cNvPr id="19" name="그룹 51"/>
          <p:cNvGrpSpPr/>
          <p:nvPr/>
        </p:nvGrpSpPr>
        <p:grpSpPr>
          <a:xfrm>
            <a:off x="630161" y="5619780"/>
            <a:ext cx="8540216" cy="1085727"/>
            <a:chOff x="770046" y="5484958"/>
            <a:chExt cx="4142889" cy="912824"/>
          </a:xfrm>
        </p:grpSpPr>
        <p:sp>
          <p:nvSpPr>
            <p:cNvPr id="20" name="모서리가 둥근 직사각형 19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822425" y="5516651"/>
              <a:ext cx="4090510" cy="853918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  <a:buFont typeface="Arial" pitchFamily="34" charset="0"/>
                <a:buChar char="•"/>
              </a:pP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 변환 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– mapping(),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toList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(),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toSet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(),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toMap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(),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toCollection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(), …</a:t>
              </a:r>
            </a:p>
            <a:p>
              <a:pPr>
                <a:spcBef>
                  <a:spcPts val="0"/>
                </a:spcBef>
                <a:buFont typeface="Arial" pitchFamily="34" charset="0"/>
                <a:buChar char="•"/>
              </a:pP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 통계 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– counting(),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summingInt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(),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averagingInt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(),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maxBy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(),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minBy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(),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summarizingInt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(), …</a:t>
              </a:r>
            </a:p>
            <a:p>
              <a:pPr>
                <a:spcBef>
                  <a:spcPts val="0"/>
                </a:spcBef>
                <a:buFont typeface="Arial" pitchFamily="34" charset="0"/>
                <a:buChar char="•"/>
              </a:pP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 문자열 결합 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– joining()</a:t>
              </a:r>
            </a:p>
            <a:p>
              <a:pPr>
                <a:spcBef>
                  <a:spcPts val="0"/>
                </a:spcBef>
                <a:buFont typeface="Arial" pitchFamily="34" charset="0"/>
                <a:buChar char="•"/>
              </a:pP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ko-KR" altLang="en-US" sz="1200" b="1" dirty="0" err="1" smtClean="0">
                  <a:latin typeface="Courier New" pitchFamily="49" charset="0"/>
                  <a:cs typeface="Courier New" pitchFamily="49" charset="0"/>
                </a:rPr>
                <a:t>리듀싱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– reducing()</a:t>
              </a:r>
            </a:p>
            <a:p>
              <a:pPr>
                <a:spcBef>
                  <a:spcPts val="0"/>
                </a:spcBef>
                <a:buFont typeface="Arial" pitchFamily="34" charset="0"/>
                <a:buChar char="•"/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그룹화와 분할 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–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groupingBy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(),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partitioningBy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(),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collectingAndThen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()</a:t>
              </a:r>
            </a:p>
          </p:txBody>
        </p:sp>
      </p:grpSp>
      <p:sp>
        <p:nvSpPr>
          <p:cNvPr id="22" name="Text Box 20"/>
          <p:cNvSpPr txBox="1">
            <a:spLocks noChangeArrowheads="1"/>
          </p:cNvSpPr>
          <p:nvPr/>
        </p:nvSpPr>
        <p:spPr bwMode="auto">
          <a:xfrm>
            <a:off x="473835" y="5186309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Collectors</a:t>
            </a:r>
            <a:r>
              <a:rPr lang="ko-KR" altLang="en-US" b="1" dirty="0" smtClean="0"/>
              <a:t>클래스는 다양한 기능의 컬렉터</a:t>
            </a:r>
            <a:r>
              <a:rPr lang="en-US" altLang="ko-KR" b="1" dirty="0" smtClean="0"/>
              <a:t>(Collector</a:t>
            </a:r>
            <a:r>
              <a:rPr lang="ko-KR" altLang="en-US" b="1" dirty="0" smtClean="0"/>
              <a:t>를 구현한 클래스</a:t>
            </a:r>
            <a:r>
              <a:rPr lang="en-US" altLang="ko-KR" b="1" dirty="0" smtClean="0"/>
              <a:t>)</a:t>
            </a:r>
            <a:r>
              <a:rPr lang="ko-KR" altLang="en-US" b="1" dirty="0" smtClean="0"/>
              <a:t>를 제공</a:t>
            </a:r>
            <a:endParaRPr lang="en-US" altLang="ko-KR" b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/>
      <p:bldP spid="2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863600"/>
          </a:xfrm>
          <a:prstGeom prst="rect">
            <a:avLst/>
          </a:prstGeom>
          <a:solidFill>
            <a:srgbClr val="E4D394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576263"/>
            <a:ext cx="8388350" cy="53975"/>
          </a:xfrm>
          <a:prstGeom prst="rect">
            <a:avLst/>
          </a:prstGeom>
          <a:solidFill>
            <a:srgbClr val="81705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883525" y="42863"/>
            <a:ext cx="1368425" cy="722312"/>
            <a:chOff x="3787" y="1570"/>
            <a:chExt cx="862" cy="455"/>
          </a:xfrm>
        </p:grpSpPr>
        <p:sp>
          <p:nvSpPr>
            <p:cNvPr id="3090" name="Text Box 5"/>
            <p:cNvSpPr txBox="1">
              <a:spLocks noChangeArrowheads="1"/>
            </p:cNvSpPr>
            <p:nvPr/>
          </p:nvSpPr>
          <p:spPr bwMode="auto">
            <a:xfrm>
              <a:off x="3787" y="1570"/>
              <a:ext cx="7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2800">
                  <a:latin typeface="Elephant" pitchFamily="18" charset="0"/>
                  <a:ea typeface="굴림" charset="-127"/>
                </a:rPr>
                <a:t>Java</a:t>
              </a:r>
            </a:p>
          </p:txBody>
        </p:sp>
        <p:sp>
          <p:nvSpPr>
            <p:cNvPr id="3091" name="Text Box 6"/>
            <p:cNvSpPr txBox="1">
              <a:spLocks noChangeArrowheads="1"/>
            </p:cNvSpPr>
            <p:nvPr/>
          </p:nvSpPr>
          <p:spPr bwMode="auto">
            <a:xfrm>
              <a:off x="4308" y="1643"/>
              <a:ext cx="34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1600">
                  <a:latin typeface="HY견고딕" pitchFamily="18" charset="-127"/>
                  <a:ea typeface="HY견고딕" pitchFamily="18" charset="-127"/>
                </a:rPr>
                <a:t>의</a:t>
              </a:r>
            </a:p>
          </p:txBody>
        </p:sp>
        <p:sp>
          <p:nvSpPr>
            <p:cNvPr id="3092" name="Text Box 7"/>
            <p:cNvSpPr txBox="1">
              <a:spLocks noChangeArrowheads="1"/>
            </p:cNvSpPr>
            <p:nvPr/>
          </p:nvSpPr>
          <p:spPr bwMode="auto">
            <a:xfrm>
              <a:off x="4121" y="1775"/>
              <a:ext cx="5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2000">
                  <a:latin typeface="바탕" pitchFamily="18" charset="-127"/>
                  <a:ea typeface="HY견고딕" pitchFamily="18" charset="-127"/>
                </a:rPr>
                <a:t>정석</a:t>
              </a:r>
            </a:p>
          </p:txBody>
        </p:sp>
      </p:grp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443663" y="620713"/>
            <a:ext cx="2016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 err="1">
                <a:latin typeface="Courier New" pitchFamily="49" charset="0"/>
                <a:ea typeface="굴림" charset="-127"/>
              </a:rPr>
              <a:t>http://</a:t>
            </a:r>
            <a:r>
              <a:rPr lang="en-US" altLang="ko-KR" sz="1000" b="1" dirty="0" err="1" smtClean="0">
                <a:latin typeface="Courier New" pitchFamily="49" charset="0"/>
                <a:ea typeface="굴림" charset="-127"/>
              </a:rPr>
              <a:t>www.codechobo.com</a:t>
            </a:r>
            <a:endParaRPr lang="en-US" altLang="ko-KR" sz="1000" b="1" dirty="0">
              <a:latin typeface="Courier New" pitchFamily="49" charset="0"/>
              <a:ea typeface="굴림" charset="-127"/>
            </a:endParaRPr>
          </a:p>
        </p:txBody>
      </p:sp>
      <p:sp>
        <p:nvSpPr>
          <p:cNvPr id="3078" name="Text Box 19"/>
          <p:cNvSpPr txBox="1">
            <a:spLocks noChangeArrowheads="1"/>
          </p:cNvSpPr>
          <p:nvPr/>
        </p:nvSpPr>
        <p:spPr bwMode="auto">
          <a:xfrm>
            <a:off x="358775" y="1016000"/>
            <a:ext cx="8569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800" b="1" dirty="0" smtClean="0"/>
              <a:t>2.8  Collectors</a:t>
            </a:r>
            <a:r>
              <a:rPr lang="ko-KR" altLang="en-US" sz="2800" b="1" dirty="0" smtClean="0"/>
              <a:t>의 메서드</a:t>
            </a:r>
            <a:r>
              <a:rPr lang="en-US" altLang="ko-KR" sz="2800" b="1" dirty="0" smtClean="0"/>
              <a:t>(1/4)</a:t>
            </a:r>
            <a:endParaRPr lang="en-US" altLang="ko-KR" sz="2800" b="1" dirty="0"/>
          </a:p>
        </p:txBody>
      </p:sp>
      <p:sp>
        <p:nvSpPr>
          <p:cNvPr id="3089" name="Text Box 9"/>
          <p:cNvSpPr txBox="1">
            <a:spLocks noChangeArrowheads="1"/>
          </p:cNvSpPr>
          <p:nvPr/>
        </p:nvSpPr>
        <p:spPr bwMode="auto">
          <a:xfrm>
            <a:off x="146050" y="188913"/>
            <a:ext cx="5686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Chapter 14. 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람다와 스트림</a:t>
            </a: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(Lambda &amp; Stream)</a:t>
            </a:r>
          </a:p>
        </p:txBody>
      </p:sp>
      <p:sp>
        <p:nvSpPr>
          <p:cNvPr id="14" name="Text Box 20"/>
          <p:cNvSpPr txBox="1">
            <a:spLocks noChangeArrowheads="1"/>
          </p:cNvSpPr>
          <p:nvPr/>
        </p:nvSpPr>
        <p:spPr bwMode="auto">
          <a:xfrm>
            <a:off x="336492" y="1601772"/>
            <a:ext cx="86042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err="1" smtClean="0"/>
              <a:t>스트림을</a:t>
            </a:r>
            <a:r>
              <a:rPr lang="ko-KR" altLang="en-US" b="1" dirty="0" smtClean="0"/>
              <a:t> 컬렉션으로 변환 </a:t>
            </a:r>
            <a:r>
              <a:rPr lang="en-US" altLang="ko-KR" b="1" dirty="0" smtClean="0"/>
              <a:t>–  </a:t>
            </a:r>
            <a:r>
              <a:rPr lang="en-US" altLang="ko-KR" b="1" dirty="0" err="1" smtClean="0"/>
              <a:t>toList</a:t>
            </a:r>
            <a:r>
              <a:rPr lang="en-US" altLang="ko-KR" b="1" dirty="0" smtClean="0"/>
              <a:t>(</a:t>
            </a:r>
            <a:r>
              <a:rPr lang="en-US" altLang="ko-KR" sz="800" b="1" dirty="0" smtClean="0"/>
              <a:t> </a:t>
            </a:r>
            <a:r>
              <a:rPr lang="en-US" altLang="ko-KR" b="1" dirty="0" smtClean="0"/>
              <a:t>), </a:t>
            </a:r>
            <a:r>
              <a:rPr lang="en-US" altLang="ko-KR" b="1" dirty="0" err="1" smtClean="0"/>
              <a:t>toSet</a:t>
            </a:r>
            <a:r>
              <a:rPr lang="en-US" altLang="ko-KR" b="1" dirty="0" smtClean="0"/>
              <a:t>(</a:t>
            </a:r>
            <a:r>
              <a:rPr lang="en-US" altLang="ko-KR" sz="800" b="1" dirty="0" smtClean="0"/>
              <a:t> </a:t>
            </a:r>
            <a:r>
              <a:rPr lang="en-US" altLang="ko-KR" b="1" dirty="0" smtClean="0"/>
              <a:t>), </a:t>
            </a:r>
            <a:r>
              <a:rPr lang="en-US" altLang="ko-KR" b="1" dirty="0" err="1" smtClean="0"/>
              <a:t>toMap</a:t>
            </a:r>
            <a:r>
              <a:rPr lang="en-US" altLang="ko-KR" b="1" dirty="0" smtClean="0"/>
              <a:t>(</a:t>
            </a:r>
            <a:r>
              <a:rPr lang="en-US" altLang="ko-KR" sz="800" b="1" dirty="0" smtClean="0"/>
              <a:t> </a:t>
            </a:r>
            <a:r>
              <a:rPr lang="en-US" altLang="ko-KR" b="1" dirty="0" smtClean="0"/>
              <a:t>), </a:t>
            </a:r>
            <a:r>
              <a:rPr lang="en-US" altLang="ko-KR" b="1" dirty="0" err="1" smtClean="0"/>
              <a:t>toCollection</a:t>
            </a:r>
            <a:r>
              <a:rPr lang="en-US" altLang="ko-KR" b="1" dirty="0" smtClean="0"/>
              <a:t>(</a:t>
            </a:r>
            <a:r>
              <a:rPr lang="en-US" altLang="ko-KR" sz="800" b="1" dirty="0" smtClean="0"/>
              <a:t> </a:t>
            </a:r>
            <a:r>
              <a:rPr lang="en-US" altLang="ko-KR" b="1" dirty="0" smtClean="0"/>
              <a:t>)</a:t>
            </a:r>
          </a:p>
        </p:txBody>
      </p:sp>
      <p:grpSp>
        <p:nvGrpSpPr>
          <p:cNvPr id="4" name="그룹 51"/>
          <p:cNvGrpSpPr/>
          <p:nvPr/>
        </p:nvGrpSpPr>
        <p:grpSpPr>
          <a:xfrm>
            <a:off x="494383" y="2041518"/>
            <a:ext cx="8503702" cy="1497021"/>
            <a:chOff x="770046" y="5484958"/>
            <a:chExt cx="4125176" cy="912824"/>
          </a:xfrm>
        </p:grpSpPr>
        <p:sp>
          <p:nvSpPr>
            <p:cNvPr id="16" name="모서리가 둥근 직사각형 15"/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804712" y="5640800"/>
              <a:ext cx="4090510" cy="727956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List&lt;String&gt;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names = stuStream.map(Student::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getName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)  // Stream&lt;Student&gt;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→Stream&lt;String&gt;</a:t>
              </a:r>
              <a:endParaRPr lang="en-US" altLang="ko-KR" sz="12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                   .collect(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Collectors.toList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()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); // Stream&lt;String&gt;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→List&lt;String&gt;</a:t>
              </a:r>
              <a:endParaRPr lang="en-US" altLang="ko-KR" sz="12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ArrayList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&lt;String&gt;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list =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names.stream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()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.collect(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Collectors.toCollection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ArrayList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::new)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); // Stream&lt;String&gt;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→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ArrayList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&lt;String&gt;</a:t>
              </a:r>
            </a:p>
            <a:p>
              <a:pPr>
                <a:spcBef>
                  <a:spcPts val="0"/>
                </a:spcBef>
              </a:pPr>
              <a:endParaRPr lang="en-US" altLang="ko-KR" sz="12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Map&lt;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String,Person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&gt; 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map =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personStream</a:t>
              </a:r>
              <a:endParaRPr lang="en-US" altLang="ko-KR" sz="12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.collect(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Collectors.toMap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(p-&gt;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p.getRegId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(), p-&gt;p)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);// Stream&lt;Person&gt;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→Map&lt;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String,Person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&gt;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</a:p>
          </p:txBody>
        </p:sp>
      </p:grpSp>
      <p:sp>
        <p:nvSpPr>
          <p:cNvPr id="19" name="Text Box 20"/>
          <p:cNvSpPr txBox="1">
            <a:spLocks noChangeArrowheads="1"/>
          </p:cNvSpPr>
          <p:nvPr/>
        </p:nvSpPr>
        <p:spPr bwMode="auto">
          <a:xfrm>
            <a:off x="338056" y="3757617"/>
            <a:ext cx="950208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err="1" smtClean="0"/>
              <a:t>스트림의</a:t>
            </a:r>
            <a:r>
              <a:rPr lang="ko-KR" altLang="en-US" b="1" dirty="0" smtClean="0"/>
              <a:t> </a:t>
            </a:r>
            <a:r>
              <a:rPr lang="ko-KR" altLang="en-US" b="1" dirty="0" err="1" smtClean="0"/>
              <a:t>통계정보</a:t>
            </a:r>
            <a:r>
              <a:rPr lang="ko-KR" altLang="en-US" b="1" dirty="0" smtClean="0"/>
              <a:t> 제공 </a:t>
            </a:r>
            <a:r>
              <a:rPr lang="en-US" altLang="ko-KR" b="1" dirty="0" smtClean="0"/>
              <a:t>– counting(</a:t>
            </a:r>
            <a:r>
              <a:rPr lang="en-US" altLang="ko-KR" sz="800" b="1" dirty="0" smtClean="0"/>
              <a:t> </a:t>
            </a:r>
            <a:r>
              <a:rPr lang="en-US" altLang="ko-KR" b="1" dirty="0" smtClean="0"/>
              <a:t>), </a:t>
            </a:r>
            <a:r>
              <a:rPr lang="en-US" altLang="ko-KR" b="1" dirty="0" err="1" smtClean="0"/>
              <a:t>summingInt</a:t>
            </a:r>
            <a:r>
              <a:rPr lang="en-US" altLang="ko-KR" b="1" dirty="0" smtClean="0"/>
              <a:t>(</a:t>
            </a:r>
            <a:r>
              <a:rPr lang="en-US" altLang="ko-KR" sz="800" b="1" dirty="0" smtClean="0"/>
              <a:t> </a:t>
            </a:r>
            <a:r>
              <a:rPr lang="en-US" altLang="ko-KR" b="1" dirty="0" smtClean="0"/>
              <a:t>), </a:t>
            </a:r>
            <a:r>
              <a:rPr lang="en-US" altLang="ko-KR" b="1" dirty="0" err="1" smtClean="0"/>
              <a:t>maxBy</a:t>
            </a:r>
            <a:r>
              <a:rPr lang="en-US" altLang="ko-KR" b="1" dirty="0" smtClean="0"/>
              <a:t>(</a:t>
            </a:r>
            <a:r>
              <a:rPr lang="en-US" altLang="ko-KR" sz="800" b="1" dirty="0" smtClean="0"/>
              <a:t> </a:t>
            </a:r>
            <a:r>
              <a:rPr lang="en-US" altLang="ko-KR" b="1" dirty="0" smtClean="0"/>
              <a:t>), </a:t>
            </a:r>
            <a:r>
              <a:rPr lang="en-US" altLang="ko-KR" b="1" dirty="0" err="1" smtClean="0"/>
              <a:t>minBy</a:t>
            </a:r>
            <a:r>
              <a:rPr lang="en-US" altLang="ko-KR" b="1" dirty="0" smtClean="0"/>
              <a:t>(</a:t>
            </a:r>
            <a:r>
              <a:rPr lang="en-US" altLang="ko-KR" sz="800" b="1" dirty="0" smtClean="0"/>
              <a:t> </a:t>
            </a:r>
            <a:r>
              <a:rPr lang="en-US" altLang="ko-KR" b="1" dirty="0" smtClean="0"/>
              <a:t>), …</a:t>
            </a:r>
          </a:p>
        </p:txBody>
      </p:sp>
      <p:grpSp>
        <p:nvGrpSpPr>
          <p:cNvPr id="23" name="그룹 51"/>
          <p:cNvGrpSpPr/>
          <p:nvPr/>
        </p:nvGrpSpPr>
        <p:grpSpPr>
          <a:xfrm>
            <a:off x="501527" y="4195775"/>
            <a:ext cx="8505266" cy="584206"/>
            <a:chOff x="770046" y="5484957"/>
            <a:chExt cx="4125935" cy="912824"/>
          </a:xfrm>
        </p:grpSpPr>
        <p:sp>
          <p:nvSpPr>
            <p:cNvPr id="24" name="모서리가 둥근 직사각형 23"/>
            <p:cNvSpPr/>
            <p:nvPr/>
          </p:nvSpPr>
          <p:spPr bwMode="auto">
            <a:xfrm>
              <a:off x="770046" y="5484957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805471" y="5599054"/>
              <a:ext cx="4090510" cy="721353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long count =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stuStream.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count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()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long count =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stuStream.collect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counting()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); //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Collectors.counting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()</a:t>
              </a:r>
            </a:p>
          </p:txBody>
        </p:sp>
      </p:grpSp>
      <p:grpSp>
        <p:nvGrpSpPr>
          <p:cNvPr id="26" name="그룹 51"/>
          <p:cNvGrpSpPr/>
          <p:nvPr/>
        </p:nvGrpSpPr>
        <p:grpSpPr>
          <a:xfrm>
            <a:off x="492818" y="4853007"/>
            <a:ext cx="8505266" cy="584206"/>
            <a:chOff x="770046" y="5484957"/>
            <a:chExt cx="4125935" cy="912824"/>
          </a:xfrm>
        </p:grpSpPr>
        <p:sp>
          <p:nvSpPr>
            <p:cNvPr id="27" name="모서리가 둥근 직사각형 26"/>
            <p:cNvSpPr/>
            <p:nvPr/>
          </p:nvSpPr>
          <p:spPr bwMode="auto">
            <a:xfrm>
              <a:off x="770046" y="5484957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805471" y="5599057"/>
              <a:ext cx="4090510" cy="721354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long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totalScore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stuStream.mapToInt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(Student::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getTotalScore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).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sum()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;  //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IntStream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의 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sum()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long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totalScore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stuStream.collect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summingInt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(Student::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getTotalScore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)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);</a:t>
              </a:r>
            </a:p>
          </p:txBody>
        </p:sp>
      </p:grpSp>
      <p:grpSp>
        <p:nvGrpSpPr>
          <p:cNvPr id="29" name="그룹 51"/>
          <p:cNvGrpSpPr/>
          <p:nvPr/>
        </p:nvGrpSpPr>
        <p:grpSpPr>
          <a:xfrm>
            <a:off x="504520" y="5546754"/>
            <a:ext cx="8493564" cy="1168415"/>
            <a:chOff x="770046" y="5484966"/>
            <a:chExt cx="4120258" cy="912826"/>
          </a:xfrm>
        </p:grpSpPr>
        <p:sp>
          <p:nvSpPr>
            <p:cNvPr id="30" name="모서리가 둥근 직사각형 29"/>
            <p:cNvSpPr/>
            <p:nvPr/>
          </p:nvSpPr>
          <p:spPr bwMode="auto">
            <a:xfrm>
              <a:off x="770046" y="5484966"/>
              <a:ext cx="4052636" cy="912826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799794" y="5571298"/>
              <a:ext cx="4090510" cy="793488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OptionalInt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topScore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studentStream.mapToInt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(Student::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getTotalScore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).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max()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Optional&lt;Student&gt;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topStudent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stuStream</a:t>
              </a:r>
              <a:endParaRPr lang="en-US" altLang="ko-KR" sz="12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                    .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max(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Comparator.comparingInt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(Student::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getTotalScore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))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Optional&lt;Student&gt;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topStudent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stuStream</a:t>
              </a:r>
              <a:endParaRPr lang="en-US" altLang="ko-KR" sz="12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         .collect(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maxBy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Comparator.comparingInt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(Student::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getTotalScore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))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);</a:t>
              </a: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863600"/>
          </a:xfrm>
          <a:prstGeom prst="rect">
            <a:avLst/>
          </a:prstGeom>
          <a:solidFill>
            <a:srgbClr val="E4D394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576263"/>
            <a:ext cx="8388350" cy="53975"/>
          </a:xfrm>
          <a:prstGeom prst="rect">
            <a:avLst/>
          </a:prstGeom>
          <a:solidFill>
            <a:srgbClr val="81705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883525" y="42863"/>
            <a:ext cx="1368425" cy="722312"/>
            <a:chOff x="3787" y="1570"/>
            <a:chExt cx="862" cy="455"/>
          </a:xfrm>
        </p:grpSpPr>
        <p:sp>
          <p:nvSpPr>
            <p:cNvPr id="3090" name="Text Box 5"/>
            <p:cNvSpPr txBox="1">
              <a:spLocks noChangeArrowheads="1"/>
            </p:cNvSpPr>
            <p:nvPr/>
          </p:nvSpPr>
          <p:spPr bwMode="auto">
            <a:xfrm>
              <a:off x="3787" y="1570"/>
              <a:ext cx="7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2800">
                  <a:latin typeface="Elephant" pitchFamily="18" charset="0"/>
                  <a:ea typeface="굴림" charset="-127"/>
                </a:rPr>
                <a:t>Java</a:t>
              </a:r>
            </a:p>
          </p:txBody>
        </p:sp>
        <p:sp>
          <p:nvSpPr>
            <p:cNvPr id="3091" name="Text Box 6"/>
            <p:cNvSpPr txBox="1">
              <a:spLocks noChangeArrowheads="1"/>
            </p:cNvSpPr>
            <p:nvPr/>
          </p:nvSpPr>
          <p:spPr bwMode="auto">
            <a:xfrm>
              <a:off x="4308" y="1643"/>
              <a:ext cx="34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1600">
                  <a:latin typeface="HY견고딕" pitchFamily="18" charset="-127"/>
                  <a:ea typeface="HY견고딕" pitchFamily="18" charset="-127"/>
                </a:rPr>
                <a:t>의</a:t>
              </a:r>
            </a:p>
          </p:txBody>
        </p:sp>
        <p:sp>
          <p:nvSpPr>
            <p:cNvPr id="3092" name="Text Box 7"/>
            <p:cNvSpPr txBox="1">
              <a:spLocks noChangeArrowheads="1"/>
            </p:cNvSpPr>
            <p:nvPr/>
          </p:nvSpPr>
          <p:spPr bwMode="auto">
            <a:xfrm>
              <a:off x="4121" y="1775"/>
              <a:ext cx="5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2000">
                  <a:latin typeface="바탕" pitchFamily="18" charset="-127"/>
                  <a:ea typeface="HY견고딕" pitchFamily="18" charset="-127"/>
                </a:rPr>
                <a:t>정석</a:t>
              </a:r>
            </a:p>
          </p:txBody>
        </p:sp>
      </p:grp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443663" y="620713"/>
            <a:ext cx="2016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 err="1">
                <a:latin typeface="Courier New" pitchFamily="49" charset="0"/>
                <a:ea typeface="굴림" charset="-127"/>
              </a:rPr>
              <a:t>http://</a:t>
            </a:r>
            <a:r>
              <a:rPr lang="en-US" altLang="ko-KR" sz="1000" b="1" dirty="0" err="1" smtClean="0">
                <a:latin typeface="Courier New" pitchFamily="49" charset="0"/>
                <a:ea typeface="굴림" charset="-127"/>
              </a:rPr>
              <a:t>www.codechobo.com</a:t>
            </a:r>
            <a:endParaRPr lang="en-US" altLang="ko-KR" sz="1000" b="1" dirty="0">
              <a:latin typeface="Courier New" pitchFamily="49" charset="0"/>
              <a:ea typeface="굴림" charset="-127"/>
            </a:endParaRPr>
          </a:p>
        </p:txBody>
      </p:sp>
      <p:sp>
        <p:nvSpPr>
          <p:cNvPr id="3078" name="Text Box 19"/>
          <p:cNvSpPr txBox="1">
            <a:spLocks noChangeArrowheads="1"/>
          </p:cNvSpPr>
          <p:nvPr/>
        </p:nvSpPr>
        <p:spPr bwMode="auto">
          <a:xfrm>
            <a:off x="358775" y="1016000"/>
            <a:ext cx="8569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800" b="1" dirty="0" smtClean="0"/>
              <a:t>2.8  Collectors</a:t>
            </a:r>
            <a:r>
              <a:rPr lang="ko-KR" altLang="en-US" sz="2800" b="1" dirty="0" smtClean="0"/>
              <a:t>의 메서드</a:t>
            </a:r>
            <a:r>
              <a:rPr lang="en-US" altLang="ko-KR" sz="2800" b="1" dirty="0" smtClean="0"/>
              <a:t>(2/4)</a:t>
            </a:r>
            <a:endParaRPr lang="en-US" altLang="ko-KR" sz="2800" b="1" dirty="0"/>
          </a:p>
        </p:txBody>
      </p:sp>
      <p:sp>
        <p:nvSpPr>
          <p:cNvPr id="3089" name="Text Box 9"/>
          <p:cNvSpPr txBox="1">
            <a:spLocks noChangeArrowheads="1"/>
          </p:cNvSpPr>
          <p:nvPr/>
        </p:nvSpPr>
        <p:spPr bwMode="auto">
          <a:xfrm>
            <a:off x="146050" y="188913"/>
            <a:ext cx="5686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Chapter 14. 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람다와 스트림</a:t>
            </a: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(Lambda &amp; Stream)</a:t>
            </a:r>
          </a:p>
        </p:txBody>
      </p:sp>
      <p:sp>
        <p:nvSpPr>
          <p:cNvPr id="14" name="Text Box 20"/>
          <p:cNvSpPr txBox="1">
            <a:spLocks noChangeArrowheads="1"/>
          </p:cNvSpPr>
          <p:nvPr/>
        </p:nvSpPr>
        <p:spPr bwMode="auto">
          <a:xfrm>
            <a:off x="472270" y="1601772"/>
            <a:ext cx="86042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err="1" smtClean="0"/>
              <a:t>스트림을</a:t>
            </a:r>
            <a:r>
              <a:rPr lang="ko-KR" altLang="en-US" b="1" dirty="0" smtClean="0"/>
              <a:t> </a:t>
            </a:r>
            <a:r>
              <a:rPr lang="ko-KR" altLang="en-US" b="1" dirty="0" err="1" smtClean="0"/>
              <a:t>리듀싱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–  reducing(</a:t>
            </a:r>
            <a:r>
              <a:rPr lang="en-US" altLang="ko-KR" sz="800" b="1" dirty="0" smtClean="0"/>
              <a:t> </a:t>
            </a:r>
            <a:r>
              <a:rPr lang="en-US" altLang="ko-KR" b="1" dirty="0" smtClean="0"/>
              <a:t>)</a:t>
            </a:r>
          </a:p>
        </p:txBody>
      </p:sp>
      <p:sp>
        <p:nvSpPr>
          <p:cNvPr id="19" name="Text Box 20"/>
          <p:cNvSpPr txBox="1">
            <a:spLocks noChangeArrowheads="1"/>
          </p:cNvSpPr>
          <p:nvPr/>
        </p:nvSpPr>
        <p:spPr bwMode="auto">
          <a:xfrm>
            <a:off x="473835" y="5359989"/>
            <a:ext cx="86042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smtClean="0"/>
              <a:t>문자열 </a:t>
            </a:r>
            <a:r>
              <a:rPr lang="ko-KR" altLang="en-US" b="1" dirty="0" err="1" smtClean="0"/>
              <a:t>스트림의</a:t>
            </a:r>
            <a:r>
              <a:rPr lang="ko-KR" altLang="en-US" b="1" dirty="0" smtClean="0"/>
              <a:t> 요소를 모두 연결 </a:t>
            </a:r>
            <a:r>
              <a:rPr lang="en-US" altLang="ko-KR" b="1" dirty="0" smtClean="0"/>
              <a:t>–  joining (</a:t>
            </a:r>
            <a:r>
              <a:rPr lang="en-US" altLang="ko-KR" sz="800" b="1" dirty="0" smtClean="0"/>
              <a:t> </a:t>
            </a:r>
            <a:r>
              <a:rPr lang="en-US" altLang="ko-KR" b="1" dirty="0" smtClean="0"/>
              <a:t>)</a:t>
            </a:r>
          </a:p>
        </p:txBody>
      </p:sp>
      <p:grpSp>
        <p:nvGrpSpPr>
          <p:cNvPr id="5" name="그룹 51"/>
          <p:cNvGrpSpPr/>
          <p:nvPr/>
        </p:nvGrpSpPr>
        <p:grpSpPr>
          <a:xfrm>
            <a:off x="628596" y="5758320"/>
            <a:ext cx="8505266" cy="920333"/>
            <a:chOff x="770046" y="5477514"/>
            <a:chExt cx="4125935" cy="912824"/>
          </a:xfrm>
        </p:grpSpPr>
        <p:sp>
          <p:nvSpPr>
            <p:cNvPr id="27" name="모서리가 둥근 직사각형 26"/>
            <p:cNvSpPr/>
            <p:nvPr/>
          </p:nvSpPr>
          <p:spPr bwMode="auto">
            <a:xfrm>
              <a:off x="770046" y="5477514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805471" y="5529910"/>
              <a:ext cx="4090510" cy="824217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String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studentNames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= stuStream.map(Student::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getName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).collect(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joining()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String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studentNames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= stuStream.map(Student::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getName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).collect(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joining(",")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); // </a:t>
              </a:r>
              <a:r>
                <a:rPr lang="ko-KR" altLang="en-US" sz="1200" b="1" dirty="0" err="1" smtClean="0">
                  <a:latin typeface="Courier New" pitchFamily="49" charset="0"/>
                  <a:cs typeface="Courier New" pitchFamily="49" charset="0"/>
                </a:rPr>
                <a:t>구분자</a:t>
              </a:r>
              <a:endParaRPr lang="en-US" altLang="ko-KR" sz="12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String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studentNames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= stuStream.map(Student::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getName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).collect(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joining(",", "[", "]")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String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studentInfo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=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stuStream.collect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joining(",")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); // Student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의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toString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()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으로 결합</a:t>
              </a:r>
              <a:endParaRPr lang="en-US" altLang="ko-KR" sz="1200" b="1" dirty="0" smtClean="0">
                <a:latin typeface="Courier New" pitchFamily="49" charset="0"/>
                <a:cs typeface="Courier New" pitchFamily="49" charset="0"/>
              </a:endParaRPr>
            </a:p>
          </p:txBody>
        </p:sp>
      </p:grpSp>
      <p:grpSp>
        <p:nvGrpSpPr>
          <p:cNvPr id="26" name="그룹 51"/>
          <p:cNvGrpSpPr/>
          <p:nvPr/>
        </p:nvGrpSpPr>
        <p:grpSpPr>
          <a:xfrm>
            <a:off x="642561" y="2881305"/>
            <a:ext cx="8493564" cy="949335"/>
            <a:chOff x="770046" y="5484975"/>
            <a:chExt cx="4120258" cy="912828"/>
          </a:xfrm>
        </p:grpSpPr>
        <p:sp>
          <p:nvSpPr>
            <p:cNvPr id="29" name="모서리가 둥근 직사각형 28"/>
            <p:cNvSpPr/>
            <p:nvPr/>
          </p:nvSpPr>
          <p:spPr bwMode="auto">
            <a:xfrm>
              <a:off x="770046" y="5484975"/>
              <a:ext cx="4052636" cy="912828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799794" y="5555190"/>
              <a:ext cx="4090510" cy="799041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IntStream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intStream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= new Random().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ints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(1,46).distinct().limit(6);</a:t>
              </a:r>
            </a:p>
            <a:p>
              <a:pPr>
                <a:spcBef>
                  <a:spcPts val="0"/>
                </a:spcBef>
              </a:pPr>
              <a:endParaRPr lang="en-US" altLang="ko-KR" sz="12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OptionalInt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   max =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intStream.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reduce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(Integer::max)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Optional&lt;Integer&gt; max =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intStream.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boxed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()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.collect(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reducing(Integer::max)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);</a:t>
              </a:r>
            </a:p>
          </p:txBody>
        </p:sp>
      </p:grpSp>
      <p:grpSp>
        <p:nvGrpSpPr>
          <p:cNvPr id="33" name="그룹 51"/>
          <p:cNvGrpSpPr/>
          <p:nvPr/>
        </p:nvGrpSpPr>
        <p:grpSpPr>
          <a:xfrm>
            <a:off x="628596" y="3903669"/>
            <a:ext cx="8505266" cy="584206"/>
            <a:chOff x="770046" y="5484957"/>
            <a:chExt cx="4125935" cy="912824"/>
          </a:xfrm>
        </p:grpSpPr>
        <p:sp>
          <p:nvSpPr>
            <p:cNvPr id="34" name="모서리가 둥근 직사각형 33"/>
            <p:cNvSpPr/>
            <p:nvPr/>
          </p:nvSpPr>
          <p:spPr bwMode="auto">
            <a:xfrm>
              <a:off x="770046" y="5484957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805471" y="5599057"/>
              <a:ext cx="4090510" cy="721354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long sum =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intStream.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reduce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(0, (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a,b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) -&gt; a + b)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long sum =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intStream.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boxed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()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.collect(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reducing(0, (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a,b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)-&gt; a + b)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);</a:t>
              </a:r>
            </a:p>
          </p:txBody>
        </p:sp>
      </p:grpSp>
      <p:grpSp>
        <p:nvGrpSpPr>
          <p:cNvPr id="25" name="그룹 51"/>
          <p:cNvGrpSpPr/>
          <p:nvPr/>
        </p:nvGrpSpPr>
        <p:grpSpPr>
          <a:xfrm>
            <a:off x="628596" y="2041505"/>
            <a:ext cx="8505266" cy="766773"/>
            <a:chOff x="770046" y="5484957"/>
            <a:chExt cx="4125935" cy="912824"/>
          </a:xfrm>
        </p:grpSpPr>
        <p:sp>
          <p:nvSpPr>
            <p:cNvPr id="36" name="모서리가 둥근 직사각형 35"/>
            <p:cNvSpPr/>
            <p:nvPr/>
          </p:nvSpPr>
          <p:spPr bwMode="auto">
            <a:xfrm>
              <a:off x="770046" y="5484957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805471" y="5599057"/>
              <a:ext cx="4090510" cy="769441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Collector reducing(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BinaryOperator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&lt;T&gt; op)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Collector reducing(T identity,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BinaryOperator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&lt;T&gt; op) 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Collector reducing(U identity, Function&lt;T,U&gt;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mapper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BinaryOperator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&lt;U&gt; op) //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map+reduce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</a:p>
          </p:txBody>
        </p:sp>
      </p:grpSp>
      <p:grpSp>
        <p:nvGrpSpPr>
          <p:cNvPr id="38" name="그룹 51"/>
          <p:cNvGrpSpPr/>
          <p:nvPr/>
        </p:nvGrpSpPr>
        <p:grpSpPr>
          <a:xfrm>
            <a:off x="630859" y="4560903"/>
            <a:ext cx="8505266" cy="584206"/>
            <a:chOff x="770046" y="5484957"/>
            <a:chExt cx="4125935" cy="912824"/>
          </a:xfrm>
        </p:grpSpPr>
        <p:sp>
          <p:nvSpPr>
            <p:cNvPr id="39" name="모서리가 둥근 직사각형 38"/>
            <p:cNvSpPr/>
            <p:nvPr/>
          </p:nvSpPr>
          <p:spPr bwMode="auto">
            <a:xfrm>
              <a:off x="770046" y="5484957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805471" y="5599059"/>
              <a:ext cx="4090510" cy="721354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grandTotal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= stuStream.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map(Student::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getTotalScore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).reduce(0, Integer::sum)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grandTotal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stuStream.collect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reducing(0, Student::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getTotalScore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, Integer::sum)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);</a:t>
              </a: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863600"/>
          </a:xfrm>
          <a:prstGeom prst="rect">
            <a:avLst/>
          </a:prstGeom>
          <a:solidFill>
            <a:srgbClr val="E4D394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576263"/>
            <a:ext cx="8388350" cy="53975"/>
          </a:xfrm>
          <a:prstGeom prst="rect">
            <a:avLst/>
          </a:prstGeom>
          <a:solidFill>
            <a:srgbClr val="81705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883525" y="42863"/>
            <a:ext cx="1368425" cy="722312"/>
            <a:chOff x="3787" y="1570"/>
            <a:chExt cx="862" cy="455"/>
          </a:xfrm>
        </p:grpSpPr>
        <p:sp>
          <p:nvSpPr>
            <p:cNvPr id="3090" name="Text Box 5"/>
            <p:cNvSpPr txBox="1">
              <a:spLocks noChangeArrowheads="1"/>
            </p:cNvSpPr>
            <p:nvPr/>
          </p:nvSpPr>
          <p:spPr bwMode="auto">
            <a:xfrm>
              <a:off x="3787" y="1570"/>
              <a:ext cx="7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2800">
                  <a:latin typeface="Elephant" pitchFamily="18" charset="0"/>
                  <a:ea typeface="굴림" charset="-127"/>
                </a:rPr>
                <a:t>Java</a:t>
              </a:r>
            </a:p>
          </p:txBody>
        </p:sp>
        <p:sp>
          <p:nvSpPr>
            <p:cNvPr id="3091" name="Text Box 6"/>
            <p:cNvSpPr txBox="1">
              <a:spLocks noChangeArrowheads="1"/>
            </p:cNvSpPr>
            <p:nvPr/>
          </p:nvSpPr>
          <p:spPr bwMode="auto">
            <a:xfrm>
              <a:off x="4308" y="1643"/>
              <a:ext cx="34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1600">
                  <a:latin typeface="HY견고딕" pitchFamily="18" charset="-127"/>
                  <a:ea typeface="HY견고딕" pitchFamily="18" charset="-127"/>
                </a:rPr>
                <a:t>의</a:t>
              </a:r>
            </a:p>
          </p:txBody>
        </p:sp>
        <p:sp>
          <p:nvSpPr>
            <p:cNvPr id="3092" name="Text Box 7"/>
            <p:cNvSpPr txBox="1">
              <a:spLocks noChangeArrowheads="1"/>
            </p:cNvSpPr>
            <p:nvPr/>
          </p:nvSpPr>
          <p:spPr bwMode="auto">
            <a:xfrm>
              <a:off x="4121" y="1775"/>
              <a:ext cx="5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2000">
                  <a:latin typeface="바탕" pitchFamily="18" charset="-127"/>
                  <a:ea typeface="HY견고딕" pitchFamily="18" charset="-127"/>
                </a:rPr>
                <a:t>정석</a:t>
              </a:r>
            </a:p>
          </p:txBody>
        </p:sp>
      </p:grp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443663" y="620713"/>
            <a:ext cx="2016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 err="1">
                <a:latin typeface="Courier New" pitchFamily="49" charset="0"/>
                <a:ea typeface="굴림" charset="-127"/>
              </a:rPr>
              <a:t>http://</a:t>
            </a:r>
            <a:r>
              <a:rPr lang="en-US" altLang="ko-KR" sz="1000" b="1" dirty="0" err="1" smtClean="0">
                <a:latin typeface="Courier New" pitchFamily="49" charset="0"/>
                <a:ea typeface="굴림" charset="-127"/>
              </a:rPr>
              <a:t>www.codechobo.com</a:t>
            </a:r>
            <a:endParaRPr lang="en-US" altLang="ko-KR" sz="1000" b="1" dirty="0">
              <a:latin typeface="Courier New" pitchFamily="49" charset="0"/>
              <a:ea typeface="굴림" charset="-127"/>
            </a:endParaRPr>
          </a:p>
        </p:txBody>
      </p:sp>
      <p:sp>
        <p:nvSpPr>
          <p:cNvPr id="3078" name="Text Box 19"/>
          <p:cNvSpPr txBox="1">
            <a:spLocks noChangeArrowheads="1"/>
          </p:cNvSpPr>
          <p:nvPr/>
        </p:nvSpPr>
        <p:spPr bwMode="auto">
          <a:xfrm>
            <a:off x="358775" y="1016000"/>
            <a:ext cx="8569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800" b="1" dirty="0" smtClean="0"/>
              <a:t>2.8  Collectors</a:t>
            </a:r>
            <a:r>
              <a:rPr lang="ko-KR" altLang="en-US" sz="2800" b="1" dirty="0" smtClean="0"/>
              <a:t>의 메서드</a:t>
            </a:r>
            <a:r>
              <a:rPr lang="en-US" altLang="ko-KR" sz="2800" b="1" dirty="0" smtClean="0"/>
              <a:t>(3/4)</a:t>
            </a:r>
            <a:endParaRPr lang="en-US" altLang="ko-KR" sz="2800" b="1" dirty="0"/>
          </a:p>
        </p:txBody>
      </p:sp>
      <p:sp>
        <p:nvSpPr>
          <p:cNvPr id="3089" name="Text Box 9"/>
          <p:cNvSpPr txBox="1">
            <a:spLocks noChangeArrowheads="1"/>
          </p:cNvSpPr>
          <p:nvPr/>
        </p:nvSpPr>
        <p:spPr bwMode="auto">
          <a:xfrm>
            <a:off x="146050" y="188913"/>
            <a:ext cx="5686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Chapter 14. 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람다와 스트림</a:t>
            </a: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(Lambda &amp; Stream)</a:t>
            </a:r>
          </a:p>
        </p:txBody>
      </p:sp>
      <p:sp>
        <p:nvSpPr>
          <p:cNvPr id="14" name="Text Box 20"/>
          <p:cNvSpPr txBox="1">
            <a:spLocks noChangeArrowheads="1"/>
          </p:cNvSpPr>
          <p:nvPr/>
        </p:nvSpPr>
        <p:spPr bwMode="auto">
          <a:xfrm>
            <a:off x="472270" y="1601772"/>
            <a:ext cx="86042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err="1" smtClean="0"/>
              <a:t>스트림의</a:t>
            </a:r>
            <a:r>
              <a:rPr lang="ko-KR" altLang="en-US" b="1" dirty="0" smtClean="0"/>
              <a:t> 요소를 </a:t>
            </a:r>
            <a:r>
              <a:rPr lang="en-US" altLang="ko-KR" b="1" dirty="0" smtClean="0"/>
              <a:t>2</a:t>
            </a:r>
            <a:r>
              <a:rPr lang="ko-KR" altLang="en-US" b="1" dirty="0" smtClean="0"/>
              <a:t>분할 </a:t>
            </a:r>
            <a:r>
              <a:rPr lang="en-US" altLang="ko-KR" b="1" dirty="0" smtClean="0"/>
              <a:t>–  </a:t>
            </a:r>
            <a:r>
              <a:rPr lang="en-US" altLang="ko-KR" b="1" dirty="0" err="1" smtClean="0"/>
              <a:t>partitioningBy</a:t>
            </a:r>
            <a:r>
              <a:rPr lang="en-US" altLang="ko-KR" b="1" dirty="0" smtClean="0"/>
              <a:t>(</a:t>
            </a:r>
            <a:r>
              <a:rPr lang="en-US" altLang="ko-KR" sz="800" b="1" dirty="0" smtClean="0"/>
              <a:t> </a:t>
            </a:r>
            <a:r>
              <a:rPr lang="en-US" altLang="ko-KR" b="1" dirty="0" smtClean="0"/>
              <a:t>)</a:t>
            </a:r>
          </a:p>
        </p:txBody>
      </p:sp>
      <p:grpSp>
        <p:nvGrpSpPr>
          <p:cNvPr id="30" name="그룹 51"/>
          <p:cNvGrpSpPr/>
          <p:nvPr/>
        </p:nvGrpSpPr>
        <p:grpSpPr>
          <a:xfrm>
            <a:off x="628596" y="1968480"/>
            <a:ext cx="8505266" cy="584206"/>
            <a:chOff x="770046" y="5484957"/>
            <a:chExt cx="4125935" cy="912824"/>
          </a:xfrm>
        </p:grpSpPr>
        <p:sp>
          <p:nvSpPr>
            <p:cNvPr id="31" name="모서리가 둥근 직사각형 30"/>
            <p:cNvSpPr/>
            <p:nvPr/>
          </p:nvSpPr>
          <p:spPr bwMode="auto">
            <a:xfrm>
              <a:off x="770046" y="5484957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805471" y="5599059"/>
              <a:ext cx="4090510" cy="721354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Collector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partitioningBy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(Predicate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predicate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) 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Collector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partitioningBy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(Predicate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predicate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, Collector downstream) </a:t>
              </a:r>
            </a:p>
          </p:txBody>
        </p:sp>
      </p:grpSp>
      <p:grpSp>
        <p:nvGrpSpPr>
          <p:cNvPr id="38" name="그룹 51"/>
          <p:cNvGrpSpPr/>
          <p:nvPr/>
        </p:nvGrpSpPr>
        <p:grpSpPr>
          <a:xfrm>
            <a:off x="619887" y="2608299"/>
            <a:ext cx="8493564" cy="949335"/>
            <a:chOff x="770046" y="5484975"/>
            <a:chExt cx="4120258" cy="912828"/>
          </a:xfrm>
        </p:grpSpPr>
        <p:sp>
          <p:nvSpPr>
            <p:cNvPr id="41" name="모서리가 둥근 직사각형 40"/>
            <p:cNvSpPr/>
            <p:nvPr/>
          </p:nvSpPr>
          <p:spPr bwMode="auto">
            <a:xfrm>
              <a:off x="770046" y="5484975"/>
              <a:ext cx="4052636" cy="912828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799794" y="5555190"/>
              <a:ext cx="4090510" cy="799041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Map&lt;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Boolean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, List&lt;Student&gt;&gt;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stuBySex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stuStream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           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                .collect(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partitioningBy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(Student::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isMale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)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); // 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학생들을 성별로 분할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List&lt;Student&gt;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maleStudent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=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stuBySex.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get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(true)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;  // Map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에서 남학생 목록을 얻는다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.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List&lt;Student&gt;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femaleStudent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stuBySex.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get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(false)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; // Map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에서 여학생 목록을 얻는다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.</a:t>
              </a:r>
            </a:p>
          </p:txBody>
        </p:sp>
      </p:grpSp>
      <p:grpSp>
        <p:nvGrpSpPr>
          <p:cNvPr id="43" name="그룹 51"/>
          <p:cNvGrpSpPr/>
          <p:nvPr/>
        </p:nvGrpSpPr>
        <p:grpSpPr>
          <a:xfrm>
            <a:off x="616434" y="3611565"/>
            <a:ext cx="8493564" cy="949335"/>
            <a:chOff x="770046" y="5484975"/>
            <a:chExt cx="4120258" cy="912828"/>
          </a:xfrm>
        </p:grpSpPr>
        <p:sp>
          <p:nvSpPr>
            <p:cNvPr id="44" name="모서리가 둥근 직사각형 43"/>
            <p:cNvSpPr/>
            <p:nvPr/>
          </p:nvSpPr>
          <p:spPr bwMode="auto">
            <a:xfrm>
              <a:off x="770046" y="5484975"/>
              <a:ext cx="4052636" cy="912828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799794" y="5555192"/>
              <a:ext cx="4090510" cy="799041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Map&lt;Boolean, 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Long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&gt;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stuNumBySex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stuStream</a:t>
              </a:r>
              <a:endParaRPr lang="en-US" altLang="ko-KR" sz="12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                .collect(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partitioningBy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(Student::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isMale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, counting())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); // 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분할 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+ 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통계</a:t>
              </a:r>
              <a:endParaRPr lang="en-US" altLang="ko-KR" sz="12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System.out.println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("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남학생 수 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:"+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stuNumBySex.get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(true));  // 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남학생 수 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:8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System.out.println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("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여학생 수 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:"+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stuNumBySex.get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(false)); // 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여학생 수 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:10</a:t>
              </a:r>
            </a:p>
          </p:txBody>
        </p:sp>
      </p:grpSp>
      <p:grpSp>
        <p:nvGrpSpPr>
          <p:cNvPr id="46" name="그룹 51"/>
          <p:cNvGrpSpPr/>
          <p:nvPr/>
        </p:nvGrpSpPr>
        <p:grpSpPr>
          <a:xfrm>
            <a:off x="621564" y="4623220"/>
            <a:ext cx="8493564" cy="1088681"/>
            <a:chOff x="770046" y="5484975"/>
            <a:chExt cx="4120258" cy="1046814"/>
          </a:xfrm>
        </p:grpSpPr>
        <p:sp>
          <p:nvSpPr>
            <p:cNvPr id="47" name="모서리가 둥근 직사각형 46"/>
            <p:cNvSpPr/>
            <p:nvPr/>
          </p:nvSpPr>
          <p:spPr bwMode="auto">
            <a:xfrm>
              <a:off x="770046" y="5484975"/>
              <a:ext cx="4052636" cy="912828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799794" y="5555185"/>
              <a:ext cx="4090510" cy="976604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Map&lt;Boolean, Optional&lt;Student&gt;&gt;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topScoreBySex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stuStream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              // 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분할 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+ 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통계</a:t>
              </a:r>
              <a:endParaRPr lang="en-US" altLang="ko-KR" sz="12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.collect(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partitioningBy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(Student::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isMale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en-US" altLang="ko-KR" sz="1200" b="1" i="1" dirty="0" err="1" smtClean="0">
                  <a:solidFill>
                    <a:srgbClr val="8342F8"/>
                  </a:solidFill>
                  <a:latin typeface="Courier New" pitchFamily="49" charset="0"/>
                  <a:cs typeface="Courier New" pitchFamily="49" charset="0"/>
                </a:rPr>
                <a:t>maxBy</a:t>
              </a:r>
              <a:r>
                <a:rPr lang="en-US" altLang="ko-KR" sz="1200" b="1" i="1" dirty="0" smtClean="0">
                  <a:solidFill>
                    <a:srgbClr val="8342F8"/>
                  </a:solidFill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altLang="ko-KR" sz="1200" b="1" i="1" dirty="0" err="1" smtClean="0">
                  <a:solidFill>
                    <a:srgbClr val="8342F8"/>
                  </a:solidFill>
                  <a:latin typeface="Courier New" pitchFamily="49" charset="0"/>
                  <a:cs typeface="Courier New" pitchFamily="49" charset="0"/>
                </a:rPr>
                <a:t>comparingInt</a:t>
              </a:r>
              <a:r>
                <a:rPr lang="en-US" altLang="ko-KR" sz="1200" b="1" i="1" dirty="0" smtClean="0">
                  <a:solidFill>
                    <a:srgbClr val="8342F8"/>
                  </a:solidFill>
                  <a:latin typeface="Courier New" pitchFamily="49" charset="0"/>
                  <a:cs typeface="Courier New" pitchFamily="49" charset="0"/>
                </a:rPr>
                <a:t>(Student::</a:t>
              </a:r>
              <a:r>
                <a:rPr lang="en-US" altLang="ko-KR" sz="1200" b="1" i="1" dirty="0" err="1" smtClean="0">
                  <a:solidFill>
                    <a:srgbClr val="8342F8"/>
                  </a:solidFill>
                  <a:latin typeface="Courier New" pitchFamily="49" charset="0"/>
                  <a:cs typeface="Courier New" pitchFamily="49" charset="0"/>
                </a:rPr>
                <a:t>getScore</a:t>
              </a:r>
              <a:r>
                <a:rPr lang="en-US" altLang="ko-KR" sz="1200" b="1" i="1" dirty="0" smtClean="0">
                  <a:solidFill>
                    <a:srgbClr val="8342F8"/>
                  </a:solidFill>
                  <a:latin typeface="Courier New" pitchFamily="49" charset="0"/>
                  <a:cs typeface="Courier New" pitchFamily="49" charset="0"/>
                </a:rPr>
                <a:t>))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)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System.out.println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("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남학생 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1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등 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:"+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topScoreBySex.get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(true)); //</a:t>
              </a:r>
              <a:r>
                <a:rPr lang="en-US" altLang="ko-KR" sz="8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ko-KR" altLang="en-US" sz="800" b="1" dirty="0" smtClean="0">
                  <a:latin typeface="Courier New" pitchFamily="49" charset="0"/>
                  <a:cs typeface="Courier New" pitchFamily="49" charset="0"/>
                </a:rPr>
                <a:t>남학생 </a:t>
              </a:r>
              <a:r>
                <a:rPr lang="en-US" altLang="ko-KR" sz="800" b="1" dirty="0" smtClean="0">
                  <a:latin typeface="Courier New" pitchFamily="49" charset="0"/>
                  <a:cs typeface="Courier New" pitchFamily="49" charset="0"/>
                </a:rPr>
                <a:t>1</a:t>
              </a:r>
              <a:r>
                <a:rPr lang="ko-KR" altLang="en-US" sz="800" b="1" dirty="0" smtClean="0">
                  <a:latin typeface="Courier New" pitchFamily="49" charset="0"/>
                  <a:cs typeface="Courier New" pitchFamily="49" charset="0"/>
                </a:rPr>
                <a:t>등 </a:t>
              </a:r>
              <a:r>
                <a:rPr lang="en-US" altLang="ko-KR" sz="800" b="1" dirty="0" smtClean="0">
                  <a:latin typeface="Courier New" pitchFamily="49" charset="0"/>
                  <a:cs typeface="Courier New" pitchFamily="49" charset="0"/>
                </a:rPr>
                <a:t>:Optional[[</a:t>
              </a:r>
              <a:r>
                <a:rPr lang="ko-KR" altLang="en-US" sz="800" b="1" dirty="0" err="1" smtClean="0">
                  <a:latin typeface="Courier New" pitchFamily="49" charset="0"/>
                  <a:cs typeface="Courier New" pitchFamily="49" charset="0"/>
                </a:rPr>
                <a:t>나자바</a:t>
              </a:r>
              <a:r>
                <a:rPr lang="en-US" altLang="ko-KR" sz="800" b="1" dirty="0" smtClean="0">
                  <a:latin typeface="Courier New" pitchFamily="49" charset="0"/>
                  <a:cs typeface="Courier New" pitchFamily="49" charset="0"/>
                </a:rPr>
                <a:t>,</a:t>
              </a:r>
              <a:r>
                <a:rPr lang="ko-KR" altLang="en-US" sz="800" b="1" dirty="0" smtClean="0">
                  <a:latin typeface="Courier New" pitchFamily="49" charset="0"/>
                  <a:cs typeface="Courier New" pitchFamily="49" charset="0"/>
                </a:rPr>
                <a:t>남</a:t>
              </a:r>
              <a:r>
                <a:rPr lang="en-US" altLang="ko-KR" sz="800" b="1" dirty="0" smtClean="0">
                  <a:latin typeface="Courier New" pitchFamily="49" charset="0"/>
                  <a:cs typeface="Courier New" pitchFamily="49" charset="0"/>
                </a:rPr>
                <a:t>, 1, 1,300]]</a:t>
              </a:r>
              <a:endParaRPr lang="en-US" altLang="ko-KR" sz="12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System.out.println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("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여학생 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1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등 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:"+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topScoreBySex.get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(false));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//</a:t>
              </a:r>
              <a:r>
                <a:rPr lang="ko-KR" altLang="en-US" sz="800" b="1" dirty="0" smtClean="0">
                  <a:latin typeface="Courier New" pitchFamily="49" charset="0"/>
                  <a:cs typeface="Courier New" pitchFamily="49" charset="0"/>
                </a:rPr>
                <a:t>여학생 </a:t>
              </a:r>
              <a:r>
                <a:rPr lang="en-US" altLang="ko-KR" sz="800" b="1" dirty="0" smtClean="0">
                  <a:latin typeface="Courier New" pitchFamily="49" charset="0"/>
                  <a:cs typeface="Courier New" pitchFamily="49" charset="0"/>
                </a:rPr>
                <a:t>1</a:t>
              </a:r>
              <a:r>
                <a:rPr lang="ko-KR" altLang="en-US" sz="800" b="1" dirty="0" smtClean="0">
                  <a:latin typeface="Courier New" pitchFamily="49" charset="0"/>
                  <a:cs typeface="Courier New" pitchFamily="49" charset="0"/>
                </a:rPr>
                <a:t>등 </a:t>
              </a:r>
              <a:r>
                <a:rPr lang="en-US" altLang="ko-KR" sz="800" b="1" dirty="0" smtClean="0">
                  <a:latin typeface="Courier New" pitchFamily="49" charset="0"/>
                  <a:cs typeface="Courier New" pitchFamily="49" charset="0"/>
                </a:rPr>
                <a:t>:Optional[[</a:t>
              </a:r>
              <a:r>
                <a:rPr lang="ko-KR" altLang="en-US" sz="800" b="1" dirty="0" smtClean="0">
                  <a:latin typeface="Courier New" pitchFamily="49" charset="0"/>
                  <a:cs typeface="Courier New" pitchFamily="49" charset="0"/>
                </a:rPr>
                <a:t>김지미</a:t>
              </a:r>
              <a:r>
                <a:rPr lang="en-US" altLang="ko-KR" sz="800" b="1" dirty="0" smtClean="0">
                  <a:latin typeface="Courier New" pitchFamily="49" charset="0"/>
                  <a:cs typeface="Courier New" pitchFamily="49" charset="0"/>
                </a:rPr>
                <a:t>,</a:t>
              </a:r>
              <a:r>
                <a:rPr lang="ko-KR" altLang="en-US" sz="800" b="1" dirty="0" smtClean="0">
                  <a:latin typeface="Courier New" pitchFamily="49" charset="0"/>
                  <a:cs typeface="Courier New" pitchFamily="49" charset="0"/>
                </a:rPr>
                <a:t>여</a:t>
              </a:r>
              <a:r>
                <a:rPr lang="en-US" altLang="ko-KR" sz="800" b="1" dirty="0" smtClean="0">
                  <a:latin typeface="Courier New" pitchFamily="49" charset="0"/>
                  <a:cs typeface="Courier New" pitchFamily="49" charset="0"/>
                </a:rPr>
                <a:t>, 1, 1,250]]</a:t>
              </a:r>
            </a:p>
            <a:p>
              <a:pPr>
                <a:spcBef>
                  <a:spcPts val="0"/>
                </a:spcBef>
              </a:pPr>
              <a:endParaRPr lang="en-US" altLang="ko-KR" sz="1200" b="1" dirty="0" smtClean="0">
                <a:latin typeface="Courier New" pitchFamily="49" charset="0"/>
                <a:cs typeface="Courier New" pitchFamily="49" charset="0"/>
              </a:endParaRPr>
            </a:p>
          </p:txBody>
        </p:sp>
      </p:grpSp>
      <p:grpSp>
        <p:nvGrpSpPr>
          <p:cNvPr id="52" name="그룹 51"/>
          <p:cNvGrpSpPr/>
          <p:nvPr/>
        </p:nvGrpSpPr>
        <p:grpSpPr>
          <a:xfrm>
            <a:off x="618210" y="5638882"/>
            <a:ext cx="8493564" cy="1095384"/>
            <a:chOff x="770046" y="5484975"/>
            <a:chExt cx="4120258" cy="915517"/>
          </a:xfrm>
        </p:grpSpPr>
        <p:sp>
          <p:nvSpPr>
            <p:cNvPr id="53" name="모서리가 둥근 직사각형 52"/>
            <p:cNvSpPr/>
            <p:nvPr/>
          </p:nvSpPr>
          <p:spPr bwMode="auto">
            <a:xfrm>
              <a:off x="770046" y="5484975"/>
              <a:ext cx="4052636" cy="912828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799794" y="5551605"/>
              <a:ext cx="4090510" cy="848887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Map&lt;Boolean, Map&lt;Boolean, List&lt;Student&gt;&gt;&gt;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failedStuBySex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stuStream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   // 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다중 분할</a:t>
              </a:r>
              <a:endParaRPr lang="en-US" altLang="ko-KR" sz="12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.collect(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partitioningBy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(Student::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isMale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,               // 1. 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성별로 분할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남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/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녀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)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      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partitioningBy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(s -&gt; 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s.getScore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() &lt; 150)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));   // 2. 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성적으로 분할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불합격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/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합격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)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List&lt;Student&gt;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failedMaleStu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=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failedStuBySex.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get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(true).get(true)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List&lt;Student&gt;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failedFemaleStu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failedStuBySex.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get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(false).get(true)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;</a:t>
              </a: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863600"/>
          </a:xfrm>
          <a:prstGeom prst="rect">
            <a:avLst/>
          </a:prstGeom>
          <a:solidFill>
            <a:srgbClr val="E4D394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576263"/>
            <a:ext cx="8388350" cy="53975"/>
          </a:xfrm>
          <a:prstGeom prst="rect">
            <a:avLst/>
          </a:prstGeom>
          <a:solidFill>
            <a:srgbClr val="81705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883525" y="42863"/>
            <a:ext cx="1368425" cy="722312"/>
            <a:chOff x="3787" y="1570"/>
            <a:chExt cx="862" cy="455"/>
          </a:xfrm>
        </p:grpSpPr>
        <p:sp>
          <p:nvSpPr>
            <p:cNvPr id="3090" name="Text Box 5"/>
            <p:cNvSpPr txBox="1">
              <a:spLocks noChangeArrowheads="1"/>
            </p:cNvSpPr>
            <p:nvPr/>
          </p:nvSpPr>
          <p:spPr bwMode="auto">
            <a:xfrm>
              <a:off x="3787" y="1570"/>
              <a:ext cx="7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2800">
                  <a:latin typeface="Elephant" pitchFamily="18" charset="0"/>
                  <a:ea typeface="굴림" charset="-127"/>
                </a:rPr>
                <a:t>Java</a:t>
              </a:r>
            </a:p>
          </p:txBody>
        </p:sp>
        <p:sp>
          <p:nvSpPr>
            <p:cNvPr id="3091" name="Text Box 6"/>
            <p:cNvSpPr txBox="1">
              <a:spLocks noChangeArrowheads="1"/>
            </p:cNvSpPr>
            <p:nvPr/>
          </p:nvSpPr>
          <p:spPr bwMode="auto">
            <a:xfrm>
              <a:off x="4308" y="1643"/>
              <a:ext cx="34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1600">
                  <a:latin typeface="HY견고딕" pitchFamily="18" charset="-127"/>
                  <a:ea typeface="HY견고딕" pitchFamily="18" charset="-127"/>
                </a:rPr>
                <a:t>의</a:t>
              </a:r>
            </a:p>
          </p:txBody>
        </p:sp>
        <p:sp>
          <p:nvSpPr>
            <p:cNvPr id="3092" name="Text Box 7"/>
            <p:cNvSpPr txBox="1">
              <a:spLocks noChangeArrowheads="1"/>
            </p:cNvSpPr>
            <p:nvPr/>
          </p:nvSpPr>
          <p:spPr bwMode="auto">
            <a:xfrm>
              <a:off x="4121" y="1775"/>
              <a:ext cx="5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2000">
                  <a:latin typeface="바탕" pitchFamily="18" charset="-127"/>
                  <a:ea typeface="HY견고딕" pitchFamily="18" charset="-127"/>
                </a:rPr>
                <a:t>정석</a:t>
              </a:r>
            </a:p>
          </p:txBody>
        </p:sp>
      </p:grp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443663" y="620713"/>
            <a:ext cx="2016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 err="1">
                <a:latin typeface="Courier New" pitchFamily="49" charset="0"/>
                <a:ea typeface="굴림" charset="-127"/>
              </a:rPr>
              <a:t>http://</a:t>
            </a:r>
            <a:r>
              <a:rPr lang="en-US" altLang="ko-KR" sz="1000" b="1" dirty="0" err="1" smtClean="0">
                <a:latin typeface="Courier New" pitchFamily="49" charset="0"/>
                <a:ea typeface="굴림" charset="-127"/>
              </a:rPr>
              <a:t>www.codechobo.com</a:t>
            </a:r>
            <a:endParaRPr lang="en-US" altLang="ko-KR" sz="1000" b="1" dirty="0">
              <a:latin typeface="Courier New" pitchFamily="49" charset="0"/>
              <a:ea typeface="굴림" charset="-127"/>
            </a:endParaRPr>
          </a:p>
        </p:txBody>
      </p:sp>
      <p:sp>
        <p:nvSpPr>
          <p:cNvPr id="3078" name="Text Box 19"/>
          <p:cNvSpPr txBox="1">
            <a:spLocks noChangeArrowheads="1"/>
          </p:cNvSpPr>
          <p:nvPr/>
        </p:nvSpPr>
        <p:spPr bwMode="auto">
          <a:xfrm>
            <a:off x="358775" y="1016000"/>
            <a:ext cx="8569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800" b="1" dirty="0" smtClean="0"/>
              <a:t>2.8  Collectors</a:t>
            </a:r>
            <a:r>
              <a:rPr lang="ko-KR" altLang="en-US" sz="2800" b="1" dirty="0" smtClean="0"/>
              <a:t>의 메서드</a:t>
            </a:r>
            <a:r>
              <a:rPr lang="en-US" altLang="ko-KR" sz="2800" b="1" dirty="0" smtClean="0"/>
              <a:t>(4/4)</a:t>
            </a:r>
            <a:endParaRPr lang="en-US" altLang="ko-KR" sz="2800" b="1" dirty="0"/>
          </a:p>
        </p:txBody>
      </p:sp>
      <p:sp>
        <p:nvSpPr>
          <p:cNvPr id="3089" name="Text Box 9"/>
          <p:cNvSpPr txBox="1">
            <a:spLocks noChangeArrowheads="1"/>
          </p:cNvSpPr>
          <p:nvPr/>
        </p:nvSpPr>
        <p:spPr bwMode="auto">
          <a:xfrm>
            <a:off x="146050" y="188913"/>
            <a:ext cx="5686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Chapter 14. 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람다와 스트림</a:t>
            </a: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(Lambda &amp; Stream)</a:t>
            </a:r>
          </a:p>
        </p:txBody>
      </p:sp>
      <p:sp>
        <p:nvSpPr>
          <p:cNvPr id="14" name="Text Box 20"/>
          <p:cNvSpPr txBox="1">
            <a:spLocks noChangeArrowheads="1"/>
          </p:cNvSpPr>
          <p:nvPr/>
        </p:nvSpPr>
        <p:spPr bwMode="auto">
          <a:xfrm>
            <a:off x="472270" y="1601772"/>
            <a:ext cx="86042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err="1" smtClean="0"/>
              <a:t>스트림의</a:t>
            </a:r>
            <a:r>
              <a:rPr lang="ko-KR" altLang="en-US" b="1" dirty="0" smtClean="0"/>
              <a:t> 요소를 그룹화 </a:t>
            </a:r>
            <a:r>
              <a:rPr lang="en-US" altLang="ko-KR" b="1" dirty="0" smtClean="0"/>
              <a:t>–  </a:t>
            </a:r>
            <a:r>
              <a:rPr lang="en-US" altLang="ko-KR" b="1" dirty="0" err="1" smtClean="0"/>
              <a:t>groupingBy</a:t>
            </a:r>
            <a:r>
              <a:rPr lang="en-US" altLang="ko-KR" b="1" dirty="0" smtClean="0"/>
              <a:t>(</a:t>
            </a:r>
            <a:r>
              <a:rPr lang="en-US" altLang="ko-KR" sz="800" b="1" dirty="0" smtClean="0"/>
              <a:t> </a:t>
            </a:r>
            <a:r>
              <a:rPr lang="en-US" altLang="ko-KR" b="1" dirty="0" smtClean="0"/>
              <a:t>)</a:t>
            </a:r>
          </a:p>
        </p:txBody>
      </p:sp>
      <p:grpSp>
        <p:nvGrpSpPr>
          <p:cNvPr id="27" name="그룹 51"/>
          <p:cNvGrpSpPr/>
          <p:nvPr/>
        </p:nvGrpSpPr>
        <p:grpSpPr>
          <a:xfrm>
            <a:off x="628596" y="2004993"/>
            <a:ext cx="8505266" cy="766773"/>
            <a:chOff x="770046" y="5484957"/>
            <a:chExt cx="4125935" cy="912824"/>
          </a:xfrm>
        </p:grpSpPr>
        <p:sp>
          <p:nvSpPr>
            <p:cNvPr id="28" name="모서리가 둥근 직사각형 27"/>
            <p:cNvSpPr/>
            <p:nvPr/>
          </p:nvSpPr>
          <p:spPr bwMode="auto">
            <a:xfrm>
              <a:off x="770046" y="5484957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805471" y="5599057"/>
              <a:ext cx="4090510" cy="769441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Collector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groupingBy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(Function classifier) 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Collector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groupingBy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(Function classifier, Collector downstream) 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Collector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groupingBy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(Function classifier, Supplier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mapFactory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, Collector downstream) </a:t>
              </a:r>
            </a:p>
          </p:txBody>
        </p:sp>
      </p:grpSp>
      <p:grpSp>
        <p:nvGrpSpPr>
          <p:cNvPr id="30" name="그룹 51"/>
          <p:cNvGrpSpPr/>
          <p:nvPr/>
        </p:nvGrpSpPr>
        <p:grpSpPr>
          <a:xfrm>
            <a:off x="628596" y="2844786"/>
            <a:ext cx="8505266" cy="584205"/>
            <a:chOff x="770046" y="5484957"/>
            <a:chExt cx="4125935" cy="912824"/>
          </a:xfrm>
        </p:grpSpPr>
        <p:sp>
          <p:nvSpPr>
            <p:cNvPr id="32" name="모서리가 둥근 직사각형 31"/>
            <p:cNvSpPr/>
            <p:nvPr/>
          </p:nvSpPr>
          <p:spPr bwMode="auto">
            <a:xfrm>
              <a:off x="770046" y="5484957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805471" y="5599065"/>
              <a:ext cx="4090510" cy="721354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Map&lt;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Integer, List&lt;Student&gt;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&gt;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stuByBan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stuStream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           // 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학생을 반별로 그룹화</a:t>
              </a:r>
              <a:endParaRPr lang="en-US" altLang="ko-KR" sz="12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          .collect(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groupingBy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(Student::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getBan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toList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())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); //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toList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()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 생략가능</a:t>
              </a:r>
            </a:p>
          </p:txBody>
        </p:sp>
      </p:grpSp>
      <p:grpSp>
        <p:nvGrpSpPr>
          <p:cNvPr id="35" name="그룹 51"/>
          <p:cNvGrpSpPr/>
          <p:nvPr/>
        </p:nvGrpSpPr>
        <p:grpSpPr>
          <a:xfrm>
            <a:off x="616434" y="3502024"/>
            <a:ext cx="8493564" cy="949334"/>
            <a:chOff x="770046" y="5484975"/>
            <a:chExt cx="4120258" cy="912828"/>
          </a:xfrm>
        </p:grpSpPr>
        <p:sp>
          <p:nvSpPr>
            <p:cNvPr id="36" name="모서리가 둥근 직사각형 35"/>
            <p:cNvSpPr/>
            <p:nvPr/>
          </p:nvSpPr>
          <p:spPr bwMode="auto">
            <a:xfrm>
              <a:off x="770046" y="5484975"/>
              <a:ext cx="4052636" cy="912828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799794" y="5555194"/>
              <a:ext cx="4090510" cy="799041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Map&lt;Integer, 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Map&lt;Integer, List&lt;Student&gt;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&gt;&gt;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stuByHakAndBan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stuStream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// 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다중 그룹화</a:t>
              </a:r>
              <a:endParaRPr lang="en-US" altLang="ko-KR" sz="12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          .collect(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groupingBy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(Student::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getHak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,                    // 1. 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학년별 그룹화</a:t>
              </a:r>
              <a:endParaRPr lang="en-US" altLang="ko-KR" sz="12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                   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groupingBy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(Student::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getBan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)                    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// 2. 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반별 그룹화</a:t>
              </a:r>
              <a:endParaRPr lang="en-US" altLang="ko-KR" sz="12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           ));</a:t>
              </a:r>
            </a:p>
          </p:txBody>
        </p:sp>
      </p:grpSp>
      <p:grpSp>
        <p:nvGrpSpPr>
          <p:cNvPr id="38" name="그룹 51"/>
          <p:cNvGrpSpPr/>
          <p:nvPr/>
        </p:nvGrpSpPr>
        <p:grpSpPr>
          <a:xfrm>
            <a:off x="628596" y="4524402"/>
            <a:ext cx="8544042" cy="2012008"/>
            <a:chOff x="770046" y="5442844"/>
            <a:chExt cx="4144745" cy="914557"/>
          </a:xfrm>
        </p:grpSpPr>
        <p:sp>
          <p:nvSpPr>
            <p:cNvPr id="39" name="모서리가 둥근 직사각형 38"/>
            <p:cNvSpPr/>
            <p:nvPr/>
          </p:nvSpPr>
          <p:spPr bwMode="auto">
            <a:xfrm>
              <a:off x="770046" y="5442844"/>
              <a:ext cx="4052636" cy="912829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824281" y="5476033"/>
              <a:ext cx="4090510" cy="881368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Map&lt;Integer, Map&lt;Integer, 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Set&lt;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Student.Level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&gt;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&gt;&gt;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stuByHakAndBan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stuStream</a:t>
              </a:r>
              <a:endParaRPr lang="en-US" altLang="ko-KR" sz="12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.collect(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 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groupingBy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(Student::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getHak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groupingBy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(Student::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getBan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,   // 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다중 그룹화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학년별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반별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)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      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mapping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(s-&gt; {   // 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성적등급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(Level)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으로 변환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.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  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List&lt;Student&gt; 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→ Set&lt;</a:t>
              </a:r>
              <a:r>
                <a:rPr lang="en-US" sz="1200" b="1" dirty="0" err="1" smtClean="0">
                  <a:latin typeface="Courier New" pitchFamily="49" charset="0"/>
                  <a:cs typeface="Courier New" pitchFamily="49" charset="0"/>
                </a:rPr>
                <a:t>Student.Level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&gt;</a:t>
              </a:r>
              <a:endParaRPr lang="en-US" altLang="ko-KR" sz="12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           if     (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s.getScore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() &gt;= 200) return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Student.Level.HIGH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           else if(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s.getScore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() &gt;= 100) return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Student.Level.MID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           else                         return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Student.Level.LOW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      } , 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toSet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()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)  // mapping()             //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enum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Level { HIGH, MID, LOW }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 ))  //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groupingBy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()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); // collect()</a:t>
              </a: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863600"/>
          </a:xfrm>
          <a:prstGeom prst="rect">
            <a:avLst/>
          </a:prstGeom>
          <a:solidFill>
            <a:srgbClr val="E4D394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576263"/>
            <a:ext cx="8388350" cy="53975"/>
          </a:xfrm>
          <a:prstGeom prst="rect">
            <a:avLst/>
          </a:prstGeom>
          <a:solidFill>
            <a:srgbClr val="81705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883525" y="42863"/>
            <a:ext cx="1368425" cy="722312"/>
            <a:chOff x="3787" y="1570"/>
            <a:chExt cx="862" cy="455"/>
          </a:xfrm>
        </p:grpSpPr>
        <p:sp>
          <p:nvSpPr>
            <p:cNvPr id="3090" name="Text Box 5"/>
            <p:cNvSpPr txBox="1">
              <a:spLocks noChangeArrowheads="1"/>
            </p:cNvSpPr>
            <p:nvPr/>
          </p:nvSpPr>
          <p:spPr bwMode="auto">
            <a:xfrm>
              <a:off x="3787" y="1570"/>
              <a:ext cx="7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2800">
                  <a:latin typeface="Elephant" pitchFamily="18" charset="0"/>
                  <a:ea typeface="굴림" charset="-127"/>
                </a:rPr>
                <a:t>Java</a:t>
              </a:r>
            </a:p>
          </p:txBody>
        </p:sp>
        <p:sp>
          <p:nvSpPr>
            <p:cNvPr id="3091" name="Text Box 6"/>
            <p:cNvSpPr txBox="1">
              <a:spLocks noChangeArrowheads="1"/>
            </p:cNvSpPr>
            <p:nvPr/>
          </p:nvSpPr>
          <p:spPr bwMode="auto">
            <a:xfrm>
              <a:off x="4308" y="1643"/>
              <a:ext cx="34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1600">
                  <a:latin typeface="HY견고딕" pitchFamily="18" charset="-127"/>
                  <a:ea typeface="HY견고딕" pitchFamily="18" charset="-127"/>
                </a:rPr>
                <a:t>의</a:t>
              </a:r>
            </a:p>
          </p:txBody>
        </p:sp>
        <p:sp>
          <p:nvSpPr>
            <p:cNvPr id="3092" name="Text Box 7"/>
            <p:cNvSpPr txBox="1">
              <a:spLocks noChangeArrowheads="1"/>
            </p:cNvSpPr>
            <p:nvPr/>
          </p:nvSpPr>
          <p:spPr bwMode="auto">
            <a:xfrm>
              <a:off x="4121" y="1775"/>
              <a:ext cx="5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2000">
                  <a:latin typeface="바탕" pitchFamily="18" charset="-127"/>
                  <a:ea typeface="HY견고딕" pitchFamily="18" charset="-127"/>
                </a:rPr>
                <a:t>정석</a:t>
              </a:r>
            </a:p>
          </p:txBody>
        </p:sp>
      </p:grp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443663" y="620713"/>
            <a:ext cx="2016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 err="1">
                <a:latin typeface="Courier New" pitchFamily="49" charset="0"/>
                <a:ea typeface="굴림" charset="-127"/>
              </a:rPr>
              <a:t>http://</a:t>
            </a:r>
            <a:r>
              <a:rPr lang="en-US" altLang="ko-KR" sz="1000" b="1" dirty="0" err="1" smtClean="0">
                <a:latin typeface="Courier New" pitchFamily="49" charset="0"/>
                <a:ea typeface="굴림" charset="-127"/>
              </a:rPr>
              <a:t>www.codechobo.com</a:t>
            </a:r>
            <a:endParaRPr lang="en-US" altLang="ko-KR" sz="1000" b="1" dirty="0">
              <a:latin typeface="Courier New" pitchFamily="49" charset="0"/>
              <a:ea typeface="굴림" charset="-127"/>
            </a:endParaRPr>
          </a:p>
        </p:txBody>
      </p:sp>
      <p:sp>
        <p:nvSpPr>
          <p:cNvPr id="3078" name="Text Box 19"/>
          <p:cNvSpPr txBox="1">
            <a:spLocks noChangeArrowheads="1"/>
          </p:cNvSpPr>
          <p:nvPr/>
        </p:nvSpPr>
        <p:spPr bwMode="auto">
          <a:xfrm>
            <a:off x="358775" y="1016000"/>
            <a:ext cx="8569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800" b="1" dirty="0" smtClean="0"/>
              <a:t>2.9  Collector</a:t>
            </a:r>
            <a:r>
              <a:rPr lang="ko-KR" altLang="en-US" sz="2800" b="1" dirty="0" smtClean="0"/>
              <a:t> 구현하기</a:t>
            </a:r>
            <a:endParaRPr lang="en-US" altLang="ko-KR" sz="2800" b="1" dirty="0"/>
          </a:p>
        </p:txBody>
      </p:sp>
      <p:sp>
        <p:nvSpPr>
          <p:cNvPr id="3089" name="Text Box 9"/>
          <p:cNvSpPr txBox="1">
            <a:spLocks noChangeArrowheads="1"/>
          </p:cNvSpPr>
          <p:nvPr/>
        </p:nvSpPr>
        <p:spPr bwMode="auto">
          <a:xfrm>
            <a:off x="146050" y="188913"/>
            <a:ext cx="5686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Chapter 14. 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람다와 스트림</a:t>
            </a: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(Lambda &amp; Stream)</a:t>
            </a:r>
          </a:p>
        </p:txBody>
      </p:sp>
      <p:sp>
        <p:nvSpPr>
          <p:cNvPr id="14" name="Text Box 20"/>
          <p:cNvSpPr txBox="1">
            <a:spLocks noChangeArrowheads="1"/>
          </p:cNvSpPr>
          <p:nvPr/>
        </p:nvSpPr>
        <p:spPr bwMode="auto">
          <a:xfrm>
            <a:off x="472270" y="1601772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Collector</a:t>
            </a:r>
            <a:r>
              <a:rPr lang="ko-KR" altLang="en-US" b="1" dirty="0" smtClean="0"/>
              <a:t>인터페이스를 구현하는 클래스를 작성</a:t>
            </a:r>
            <a:endParaRPr lang="en-US" altLang="ko-KR" b="1" dirty="0"/>
          </a:p>
        </p:txBody>
      </p:sp>
      <p:grpSp>
        <p:nvGrpSpPr>
          <p:cNvPr id="15" name="그룹 51"/>
          <p:cNvGrpSpPr/>
          <p:nvPr/>
        </p:nvGrpSpPr>
        <p:grpSpPr>
          <a:xfrm>
            <a:off x="630159" y="2041506"/>
            <a:ext cx="8467190" cy="1736720"/>
            <a:chOff x="770046" y="5467444"/>
            <a:chExt cx="4107464" cy="912824"/>
          </a:xfrm>
        </p:grpSpPr>
        <p:sp>
          <p:nvSpPr>
            <p:cNvPr id="16" name="모서리가 둥근 직사각형 15"/>
            <p:cNvSpPr/>
            <p:nvPr/>
          </p:nvSpPr>
          <p:spPr bwMode="auto">
            <a:xfrm>
              <a:off x="770046" y="5467444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787000" y="5518274"/>
              <a:ext cx="4090510" cy="841194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public interface 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Collector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&lt;T, A, R&gt; {  // T(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요소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)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를 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A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에 누적한 다음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결과를 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R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로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변환해서 반환 </a:t>
              </a:r>
              <a:endParaRPr lang="en-US" altLang="ko-KR" sz="12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Supplier&lt;A&gt;          supplier();        // 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결과를 저장할 공간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(A)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을 제공</a:t>
              </a:r>
              <a:endParaRPr lang="en-US" altLang="ko-KR" sz="12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BiConsumer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&lt;A, T&gt;     accumulator();     // </a:t>
              </a:r>
              <a:r>
                <a:rPr lang="ko-KR" altLang="en-US" sz="1200" b="1" dirty="0" err="1" smtClean="0">
                  <a:latin typeface="Courier New" pitchFamily="49" charset="0"/>
                  <a:cs typeface="Courier New" pitchFamily="49" charset="0"/>
                </a:rPr>
                <a:t>스트림의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 요소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(T)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를 수집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(collect)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할 방법을 제공</a:t>
              </a:r>
              <a:endParaRPr lang="en-US" altLang="ko-KR" sz="12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BinaryOperator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&lt;A&gt;    combiner();        // 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두 저장공간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(A)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을 병합할 방법을 제공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병렬 </a:t>
              </a:r>
              <a:r>
                <a:rPr lang="ko-KR" altLang="en-US" sz="1200" b="1" dirty="0" err="1" smtClean="0">
                  <a:latin typeface="Courier New" pitchFamily="49" charset="0"/>
                  <a:cs typeface="Courier New" pitchFamily="49" charset="0"/>
                </a:rPr>
                <a:t>스트림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)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Function&lt;A, R&gt;       finisher();        // 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최종변환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(A </a:t>
              </a:r>
              <a:r>
                <a:rPr lang="en-US" sz="1200" b="1" dirty="0" smtClean="0">
                  <a:latin typeface="Courier New" pitchFamily="49" charset="0"/>
                  <a:cs typeface="Courier New" pitchFamily="49" charset="0"/>
                </a:rPr>
                <a:t>→ R). 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변환할 필요가 없는 경우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, x-&gt;x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Set&lt;Characteristics&gt; characteristics(); // </a:t>
              </a:r>
              <a:r>
                <a:rPr lang="ko-KR" altLang="en-US" sz="1200" b="1" dirty="0" err="1" smtClean="0">
                  <a:latin typeface="Courier New" pitchFamily="49" charset="0"/>
                  <a:cs typeface="Courier New" pitchFamily="49" charset="0"/>
                </a:rPr>
                <a:t>컬렉터의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 특성이 담긴 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Set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을 반환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 ...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}</a:t>
              </a:r>
            </a:p>
          </p:txBody>
        </p:sp>
      </p:grpSp>
      <p:sp>
        <p:nvSpPr>
          <p:cNvPr id="18" name="Text Box 20"/>
          <p:cNvSpPr txBox="1">
            <a:spLocks noChangeArrowheads="1"/>
          </p:cNvSpPr>
          <p:nvPr/>
        </p:nvSpPr>
        <p:spPr bwMode="auto">
          <a:xfrm>
            <a:off x="473835" y="3975113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err="1" smtClean="0"/>
              <a:t>컬렉터가</a:t>
            </a:r>
            <a:r>
              <a:rPr lang="ko-KR" altLang="en-US" b="1" dirty="0" smtClean="0"/>
              <a:t> 수행할 작업의 속성 정보를 제공 </a:t>
            </a:r>
            <a:r>
              <a:rPr lang="en-US" altLang="ko-KR" b="1" dirty="0" smtClean="0"/>
              <a:t>– characteristics()</a:t>
            </a:r>
            <a:endParaRPr lang="en-US" altLang="ko-KR" b="1" dirty="0"/>
          </a:p>
        </p:txBody>
      </p:sp>
      <p:grpSp>
        <p:nvGrpSpPr>
          <p:cNvPr id="19" name="그룹 51"/>
          <p:cNvGrpSpPr/>
          <p:nvPr/>
        </p:nvGrpSpPr>
        <p:grpSpPr>
          <a:xfrm>
            <a:off x="630859" y="4379920"/>
            <a:ext cx="8505266" cy="766773"/>
            <a:chOff x="770046" y="5484957"/>
            <a:chExt cx="4125935" cy="912824"/>
          </a:xfrm>
        </p:grpSpPr>
        <p:sp>
          <p:nvSpPr>
            <p:cNvPr id="20" name="모서리가 둥근 직사각형 19"/>
            <p:cNvSpPr/>
            <p:nvPr/>
          </p:nvSpPr>
          <p:spPr bwMode="auto">
            <a:xfrm>
              <a:off x="770046" y="5484957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805471" y="5528426"/>
              <a:ext cx="4090510" cy="769441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Characteristics.CONCURRENT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     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병렬로 처리할 수 있는 작업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Characteristics.UNORDERED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      </a:t>
              </a:r>
              <a:r>
                <a:rPr lang="ko-KR" altLang="en-US" sz="1200" b="1" dirty="0" err="1" smtClean="0">
                  <a:latin typeface="Courier New" pitchFamily="49" charset="0"/>
                  <a:cs typeface="Courier New" pitchFamily="49" charset="0"/>
                </a:rPr>
                <a:t>스트림의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 요소의 순서가 유지될 필요가 없는 작업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Characteristics.IDENTITY_FINISH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finisher()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가 항등 함수인 작업</a:t>
              </a:r>
            </a:p>
          </p:txBody>
        </p:sp>
      </p:grpSp>
      <p:grpSp>
        <p:nvGrpSpPr>
          <p:cNvPr id="22" name="그룹 51"/>
          <p:cNvGrpSpPr/>
          <p:nvPr/>
        </p:nvGrpSpPr>
        <p:grpSpPr>
          <a:xfrm>
            <a:off x="628596" y="5219722"/>
            <a:ext cx="8493564" cy="1114386"/>
            <a:chOff x="770046" y="5484975"/>
            <a:chExt cx="4120258" cy="912828"/>
          </a:xfrm>
        </p:grpSpPr>
        <p:sp>
          <p:nvSpPr>
            <p:cNvPr id="23" name="모서리가 둥근 직사각형 22"/>
            <p:cNvSpPr/>
            <p:nvPr/>
          </p:nvSpPr>
          <p:spPr bwMode="auto">
            <a:xfrm>
              <a:off x="770046" y="5484975"/>
              <a:ext cx="4052636" cy="912828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799794" y="5550279"/>
              <a:ext cx="4090510" cy="831961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public Set&lt;Characteristics&gt; characteristics() {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 return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Collections.unmodifiableSet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EnumSet.of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          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Collector.Characteristics.CONCURRENT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Collector.Characteristics.UNORDERED</a:t>
              </a:r>
              <a:endParaRPr lang="en-US" altLang="ko-KR" sz="12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        ));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}</a:t>
              </a:r>
            </a:p>
          </p:txBody>
        </p:sp>
      </p:grpSp>
      <p:grpSp>
        <p:nvGrpSpPr>
          <p:cNvPr id="25" name="그룹 51"/>
          <p:cNvGrpSpPr/>
          <p:nvPr/>
        </p:nvGrpSpPr>
        <p:grpSpPr>
          <a:xfrm>
            <a:off x="2673324" y="5986493"/>
            <a:ext cx="6499314" cy="728678"/>
            <a:chOff x="770046" y="5484957"/>
            <a:chExt cx="4125935" cy="912824"/>
          </a:xfrm>
        </p:grpSpPr>
        <p:sp>
          <p:nvSpPr>
            <p:cNvPr id="26" name="모서리가 둥근 직사각형 25"/>
            <p:cNvSpPr/>
            <p:nvPr/>
          </p:nvSpPr>
          <p:spPr bwMode="auto">
            <a:xfrm>
              <a:off x="770046" y="5484957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805471" y="5571893"/>
              <a:ext cx="4090510" cy="798723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Set&lt;Characteristics&gt; characteristics() {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return 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Collections.emptySet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()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; // 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지정할 특성이 없으면 빈 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Set</a:t>
              </a:r>
              <a:r>
                <a:rPr lang="ko-KR" altLang="en-US" sz="1200" b="1" dirty="0" smtClean="0">
                  <a:latin typeface="Courier New" pitchFamily="49" charset="0"/>
                  <a:cs typeface="Courier New" pitchFamily="49" charset="0"/>
                </a:rPr>
                <a:t>을 반환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}</a:t>
              </a: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863600"/>
          </a:xfrm>
          <a:prstGeom prst="rect">
            <a:avLst/>
          </a:prstGeom>
          <a:solidFill>
            <a:srgbClr val="E4D394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576263"/>
            <a:ext cx="8388350" cy="53975"/>
          </a:xfrm>
          <a:prstGeom prst="rect">
            <a:avLst/>
          </a:prstGeom>
          <a:solidFill>
            <a:srgbClr val="81705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883525" y="42863"/>
            <a:ext cx="1368425" cy="722312"/>
            <a:chOff x="3787" y="1570"/>
            <a:chExt cx="862" cy="455"/>
          </a:xfrm>
        </p:grpSpPr>
        <p:sp>
          <p:nvSpPr>
            <p:cNvPr id="3090" name="Text Box 5"/>
            <p:cNvSpPr txBox="1">
              <a:spLocks noChangeArrowheads="1"/>
            </p:cNvSpPr>
            <p:nvPr/>
          </p:nvSpPr>
          <p:spPr bwMode="auto">
            <a:xfrm>
              <a:off x="3787" y="1570"/>
              <a:ext cx="7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2800">
                  <a:latin typeface="Elephant" pitchFamily="18" charset="0"/>
                  <a:ea typeface="굴림" charset="-127"/>
                </a:rPr>
                <a:t>Java</a:t>
              </a:r>
            </a:p>
          </p:txBody>
        </p:sp>
        <p:sp>
          <p:nvSpPr>
            <p:cNvPr id="3091" name="Text Box 6"/>
            <p:cNvSpPr txBox="1">
              <a:spLocks noChangeArrowheads="1"/>
            </p:cNvSpPr>
            <p:nvPr/>
          </p:nvSpPr>
          <p:spPr bwMode="auto">
            <a:xfrm>
              <a:off x="4308" y="1643"/>
              <a:ext cx="34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1600">
                  <a:latin typeface="HY견고딕" pitchFamily="18" charset="-127"/>
                  <a:ea typeface="HY견고딕" pitchFamily="18" charset="-127"/>
                </a:rPr>
                <a:t>의</a:t>
              </a:r>
            </a:p>
          </p:txBody>
        </p:sp>
        <p:sp>
          <p:nvSpPr>
            <p:cNvPr id="3092" name="Text Box 7"/>
            <p:cNvSpPr txBox="1">
              <a:spLocks noChangeArrowheads="1"/>
            </p:cNvSpPr>
            <p:nvPr/>
          </p:nvSpPr>
          <p:spPr bwMode="auto">
            <a:xfrm>
              <a:off x="4121" y="1775"/>
              <a:ext cx="5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2000">
                  <a:latin typeface="바탕" pitchFamily="18" charset="-127"/>
                  <a:ea typeface="HY견고딕" pitchFamily="18" charset="-127"/>
                </a:rPr>
                <a:t>정석</a:t>
              </a:r>
            </a:p>
          </p:txBody>
        </p:sp>
      </p:grp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443663" y="620713"/>
            <a:ext cx="2016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 err="1">
                <a:latin typeface="Courier New" pitchFamily="49" charset="0"/>
                <a:ea typeface="굴림" charset="-127"/>
              </a:rPr>
              <a:t>http://</a:t>
            </a:r>
            <a:r>
              <a:rPr lang="en-US" altLang="ko-KR" sz="1000" b="1" dirty="0" err="1" smtClean="0">
                <a:latin typeface="Courier New" pitchFamily="49" charset="0"/>
                <a:ea typeface="굴림" charset="-127"/>
              </a:rPr>
              <a:t>www.codechobo.com</a:t>
            </a:r>
            <a:endParaRPr lang="en-US" altLang="ko-KR" sz="1000" b="1" dirty="0">
              <a:latin typeface="Courier New" pitchFamily="49" charset="0"/>
              <a:ea typeface="굴림" charset="-127"/>
            </a:endParaRPr>
          </a:p>
        </p:txBody>
      </p:sp>
      <p:sp>
        <p:nvSpPr>
          <p:cNvPr id="3078" name="Text Box 19"/>
          <p:cNvSpPr txBox="1">
            <a:spLocks noChangeArrowheads="1"/>
          </p:cNvSpPr>
          <p:nvPr/>
        </p:nvSpPr>
        <p:spPr bwMode="auto">
          <a:xfrm>
            <a:off x="358775" y="1016000"/>
            <a:ext cx="8569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800" b="1" dirty="0" smtClean="0"/>
              <a:t>2.9  Collector</a:t>
            </a:r>
            <a:r>
              <a:rPr lang="ko-KR" altLang="en-US" sz="2800" b="1" dirty="0" smtClean="0"/>
              <a:t> 구현하기 </a:t>
            </a:r>
            <a:r>
              <a:rPr lang="en-US" altLang="ko-KR" sz="2800" b="1" dirty="0" smtClean="0"/>
              <a:t>– example</a:t>
            </a:r>
            <a:endParaRPr lang="en-US" altLang="ko-KR" sz="2800" b="1" dirty="0"/>
          </a:p>
        </p:txBody>
      </p:sp>
      <p:sp>
        <p:nvSpPr>
          <p:cNvPr id="3089" name="Text Box 9"/>
          <p:cNvSpPr txBox="1">
            <a:spLocks noChangeArrowheads="1"/>
          </p:cNvSpPr>
          <p:nvPr/>
        </p:nvSpPr>
        <p:spPr bwMode="auto">
          <a:xfrm>
            <a:off x="146050" y="188913"/>
            <a:ext cx="5686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Chapter 14. 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람다와 스트림</a:t>
            </a: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(Lambda &amp; Stream)</a:t>
            </a:r>
          </a:p>
        </p:txBody>
      </p:sp>
      <p:sp>
        <p:nvSpPr>
          <p:cNvPr id="14" name="Text Box 20"/>
          <p:cNvSpPr txBox="1">
            <a:spLocks noChangeArrowheads="1"/>
          </p:cNvSpPr>
          <p:nvPr/>
        </p:nvSpPr>
        <p:spPr bwMode="auto">
          <a:xfrm>
            <a:off x="472270" y="1601772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 smtClean="0"/>
              <a:t>▶ </a:t>
            </a:r>
            <a:r>
              <a:rPr lang="ko-KR" altLang="en-US" b="1" dirty="0" smtClean="0"/>
              <a:t>문자열 </a:t>
            </a:r>
            <a:r>
              <a:rPr lang="ko-KR" altLang="en-US" b="1" dirty="0" err="1" smtClean="0"/>
              <a:t>스트림의</a:t>
            </a:r>
            <a:r>
              <a:rPr lang="ko-KR" altLang="en-US" b="1" dirty="0" smtClean="0"/>
              <a:t> 모든 요소를 연결하는 </a:t>
            </a:r>
            <a:r>
              <a:rPr lang="ko-KR" altLang="en-US" b="1" dirty="0" err="1" smtClean="0"/>
              <a:t>컬렉터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- </a:t>
            </a:r>
            <a:r>
              <a:rPr lang="en-US" altLang="ko-KR" b="1" dirty="0" err="1" smtClean="0"/>
              <a:t>ConcatCollector</a:t>
            </a:r>
            <a:endParaRPr lang="en-US" altLang="ko-KR" b="1" dirty="0"/>
          </a:p>
        </p:txBody>
      </p:sp>
      <p:grpSp>
        <p:nvGrpSpPr>
          <p:cNvPr id="15" name="그룹 51"/>
          <p:cNvGrpSpPr/>
          <p:nvPr/>
        </p:nvGrpSpPr>
        <p:grpSpPr>
          <a:xfrm>
            <a:off x="373005" y="2004993"/>
            <a:ext cx="8505965" cy="3870365"/>
            <a:chOff x="770046" y="5467443"/>
            <a:chExt cx="4126274" cy="912824"/>
          </a:xfrm>
        </p:grpSpPr>
        <p:sp>
          <p:nvSpPr>
            <p:cNvPr id="16" name="모서리가 둥근 직사각형 15"/>
            <p:cNvSpPr/>
            <p:nvPr/>
          </p:nvSpPr>
          <p:spPr bwMode="auto">
            <a:xfrm>
              <a:off x="770046" y="5467443"/>
              <a:ext cx="4052636" cy="912824"/>
            </a:xfrm>
            <a:prstGeom prst="roundRect">
              <a:avLst>
                <a:gd name="adj" fmla="val 7477"/>
              </a:avLst>
            </a:prstGeom>
            <a:ln>
              <a:headEnd type="none" w="med" len="med"/>
              <a:tailEnd type="none" w="med" len="med"/>
            </a:ln>
            <a:effectLst>
              <a:outerShdw blurRad="40000" dist="20000" dir="1200000" rotWithShape="0">
                <a:srgbClr val="000000">
                  <a:alpha val="38000"/>
                </a:srgbClr>
              </a:outerShdw>
            </a:effectLst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805810" y="5494772"/>
              <a:ext cx="4090510" cy="868272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class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ConcatCollector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implements 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Collector&lt;String, 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StringBuilder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, String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&gt; {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 public Supplier&lt;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StringBuilder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&gt; supplier() {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	return () -&gt; new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StringBuilder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();  // return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StringBuilder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::new;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 }</a:t>
              </a:r>
            </a:p>
            <a:p>
              <a:pPr>
                <a:spcBef>
                  <a:spcPts val="0"/>
                </a:spcBef>
              </a:pPr>
              <a:endParaRPr lang="en-US" altLang="ko-KR" sz="8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 public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BiConsumer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&lt;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StringBuilder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, String&gt; accumulator() {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	return (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sb,s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) -&gt;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sb.append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(s);  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 }</a:t>
              </a:r>
            </a:p>
            <a:p>
              <a:pPr>
                <a:spcBef>
                  <a:spcPts val="0"/>
                </a:spcBef>
              </a:pPr>
              <a:endParaRPr lang="en-US" altLang="ko-KR" sz="8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 public Function&lt;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StringBuilder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, String&gt; finisher() {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	return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sb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-&gt;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sb.toString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();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 }</a:t>
              </a:r>
            </a:p>
            <a:p>
              <a:pPr>
                <a:spcBef>
                  <a:spcPts val="0"/>
                </a:spcBef>
              </a:pPr>
              <a:endParaRPr lang="en-US" altLang="ko-KR" sz="12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 public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BinaryOperator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&lt;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StringBuilder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&gt; combiner() {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	return (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sb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, sb2) -&gt;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sb.append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(sb2);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 }</a:t>
              </a:r>
            </a:p>
            <a:p>
              <a:pPr>
                <a:spcBef>
                  <a:spcPts val="0"/>
                </a:spcBef>
              </a:pPr>
              <a:endParaRPr lang="en-US" altLang="ko-KR" sz="8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 public Set&lt;Characteristics&gt; characteristics() {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	return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Collections.emptySet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();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 }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}</a:t>
              </a:r>
            </a:p>
          </p:txBody>
        </p:sp>
      </p:grpSp>
      <p:grpSp>
        <p:nvGrpSpPr>
          <p:cNvPr id="21" name="그룹 51"/>
          <p:cNvGrpSpPr/>
          <p:nvPr/>
        </p:nvGrpSpPr>
        <p:grpSpPr>
          <a:xfrm>
            <a:off x="2928915" y="5473734"/>
            <a:ext cx="6169134" cy="1204923"/>
            <a:chOff x="770046" y="5398979"/>
            <a:chExt cx="4155516" cy="912824"/>
          </a:xfrm>
        </p:grpSpPr>
        <p:sp>
          <p:nvSpPr>
            <p:cNvPr id="22" name="모서리가 둥근 직사각형 21"/>
            <p:cNvSpPr/>
            <p:nvPr/>
          </p:nvSpPr>
          <p:spPr bwMode="auto">
            <a:xfrm>
              <a:off x="770046" y="5398979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835052" y="5402457"/>
              <a:ext cx="4090510" cy="909343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public static void main(String[]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args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) {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String[]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strArr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= { "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aaa","bbb","ccc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" };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Stream&lt;String&gt;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strStream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Stream.of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strArr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String result =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strStream.collect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new 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ConcatCollector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()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    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System.out.println</a:t>
              </a: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("result="+result); // result=</a:t>
              </a:r>
              <a:r>
                <a:rPr lang="en-US" altLang="ko-KR" sz="1200" b="1" dirty="0" err="1" smtClean="0">
                  <a:latin typeface="Courier New" pitchFamily="49" charset="0"/>
                  <a:cs typeface="Courier New" pitchFamily="49" charset="0"/>
                </a:rPr>
                <a:t>aaabbbccc</a:t>
              </a:r>
              <a:endParaRPr lang="en-US" altLang="ko-KR" sz="12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altLang="ko-KR" sz="1200" b="1" dirty="0" smtClean="0">
                  <a:latin typeface="Courier New" pitchFamily="49" charset="0"/>
                  <a:cs typeface="Courier New" pitchFamily="49" charset="0"/>
                </a:rPr>
                <a:t>}</a:t>
              </a:r>
            </a:p>
          </p:txBody>
        </p:sp>
      </p:grpSp>
      <p:grpSp>
        <p:nvGrpSpPr>
          <p:cNvPr id="24" name="그룹 51"/>
          <p:cNvGrpSpPr/>
          <p:nvPr/>
        </p:nvGrpSpPr>
        <p:grpSpPr>
          <a:xfrm>
            <a:off x="5849955" y="3282948"/>
            <a:ext cx="3140118" cy="1679595"/>
            <a:chOff x="700813" y="5379135"/>
            <a:chExt cx="4159743" cy="912824"/>
          </a:xfrm>
        </p:grpSpPr>
        <p:sp>
          <p:nvSpPr>
            <p:cNvPr id="25" name="모서리가 둥근 직사각형 24"/>
            <p:cNvSpPr/>
            <p:nvPr/>
          </p:nvSpPr>
          <p:spPr bwMode="auto">
            <a:xfrm>
              <a:off x="700813" y="5379135"/>
              <a:ext cx="4052636" cy="91282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770046" y="5398979"/>
              <a:ext cx="4090510" cy="853077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ko-KR" sz="1200" b="1" spc="-150" dirty="0" smtClean="0">
                  <a:latin typeface="Courier New" pitchFamily="49" charset="0"/>
                  <a:cs typeface="Courier New" pitchFamily="49" charset="0"/>
                </a:rPr>
                <a:t>String[] </a:t>
              </a:r>
              <a:r>
                <a:rPr lang="en-US" altLang="ko-KR" sz="1200" b="1" spc="-150" dirty="0" err="1" smtClean="0">
                  <a:latin typeface="Courier New" pitchFamily="49" charset="0"/>
                  <a:cs typeface="Courier New" pitchFamily="49" charset="0"/>
                </a:rPr>
                <a:t>strArr</a:t>
              </a:r>
              <a:r>
                <a:rPr lang="en-US" altLang="ko-KR" sz="1200" b="1" spc="-150" dirty="0" smtClean="0">
                  <a:latin typeface="Courier New" pitchFamily="49" charset="0"/>
                  <a:cs typeface="Courier New" pitchFamily="49" charset="0"/>
                </a:rPr>
                <a:t> = {"</a:t>
              </a:r>
              <a:r>
                <a:rPr lang="en-US" altLang="ko-KR" sz="1200" b="1" spc="-150" dirty="0" err="1" smtClean="0">
                  <a:latin typeface="Courier New" pitchFamily="49" charset="0"/>
                  <a:cs typeface="Courier New" pitchFamily="49" charset="0"/>
                </a:rPr>
                <a:t>aaa","bbb","ccc</a:t>
              </a:r>
              <a:r>
                <a:rPr lang="en-US" altLang="ko-KR" sz="1200" b="1" spc="-150" dirty="0" smtClean="0">
                  <a:latin typeface="Courier New" pitchFamily="49" charset="0"/>
                  <a:cs typeface="Courier New" pitchFamily="49" charset="0"/>
                </a:rPr>
                <a:t>" };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spc="-150" dirty="0" smtClean="0">
                  <a:latin typeface="Courier New" pitchFamily="49" charset="0"/>
                  <a:cs typeface="Courier New" pitchFamily="49" charset="0"/>
                </a:rPr>
                <a:t>// supplier()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spc="-150" dirty="0" err="1" smtClean="0">
                  <a:latin typeface="Courier New" pitchFamily="49" charset="0"/>
                  <a:cs typeface="Courier New" pitchFamily="49" charset="0"/>
                </a:rPr>
                <a:t>StringBuffer</a:t>
              </a:r>
              <a:r>
                <a:rPr lang="en-US" altLang="ko-KR" sz="1200" b="1" spc="-150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altLang="ko-KR" sz="1200" b="1" spc="-150" dirty="0" err="1" smtClean="0">
                  <a:latin typeface="Courier New" pitchFamily="49" charset="0"/>
                  <a:cs typeface="Courier New" pitchFamily="49" charset="0"/>
                </a:rPr>
                <a:t>sb</a:t>
              </a:r>
              <a:r>
                <a:rPr lang="en-US" altLang="ko-KR" sz="1200" b="1" spc="-150" dirty="0" smtClean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altLang="ko-KR" sz="1200" b="1" spc="-150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new </a:t>
              </a:r>
              <a:r>
                <a:rPr lang="en-US" altLang="ko-KR" sz="1200" b="1" spc="-150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StringBuffer</a:t>
              </a:r>
              <a:r>
                <a:rPr lang="en-US" altLang="ko-KR" sz="1200" b="1" spc="-150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()</a:t>
              </a:r>
              <a:r>
                <a:rPr lang="en-US" altLang="ko-KR" sz="1200" b="1" spc="-150" dirty="0" smtClean="0">
                  <a:latin typeface="Courier New" pitchFamily="49" charset="0"/>
                  <a:cs typeface="Courier New" pitchFamily="49" charset="0"/>
                </a:rPr>
                <a:t>; </a:t>
              </a:r>
              <a:endParaRPr lang="ko-KR" altLang="en-US" sz="1200" b="1" spc="-150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endParaRPr lang="en-US" altLang="ko-KR" sz="1200" b="1" spc="-150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altLang="ko-KR" sz="1200" b="1" spc="-150" dirty="0" smtClean="0">
                  <a:latin typeface="Courier New" pitchFamily="49" charset="0"/>
                  <a:cs typeface="Courier New" pitchFamily="49" charset="0"/>
                </a:rPr>
                <a:t>for(String </a:t>
              </a:r>
              <a:r>
                <a:rPr lang="en-US" altLang="ko-KR" sz="1200" b="1" spc="-150" dirty="0" err="1" smtClean="0">
                  <a:latin typeface="Courier New" pitchFamily="49" charset="0"/>
                  <a:cs typeface="Courier New" pitchFamily="49" charset="0"/>
                </a:rPr>
                <a:t>tmp</a:t>
              </a:r>
              <a:r>
                <a:rPr lang="en-US" altLang="ko-KR" sz="1200" b="1" spc="-150" dirty="0" smtClean="0">
                  <a:latin typeface="Courier New" pitchFamily="49" charset="0"/>
                  <a:cs typeface="Courier New" pitchFamily="49" charset="0"/>
                </a:rPr>
                <a:t> : </a:t>
              </a:r>
              <a:r>
                <a:rPr lang="en-US" altLang="ko-KR" sz="1200" b="1" spc="-150" dirty="0" err="1" smtClean="0">
                  <a:latin typeface="Courier New" pitchFamily="49" charset="0"/>
                  <a:cs typeface="Courier New" pitchFamily="49" charset="0"/>
                </a:rPr>
                <a:t>strArr</a:t>
              </a:r>
              <a:r>
                <a:rPr lang="en-US" altLang="ko-KR" sz="1200" b="1" spc="-150" dirty="0" smtClean="0">
                  <a:latin typeface="Courier New" pitchFamily="49" charset="0"/>
                  <a:cs typeface="Courier New" pitchFamily="49" charset="0"/>
                </a:rPr>
                <a:t>) 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spc="-150" dirty="0" smtClean="0">
                  <a:latin typeface="Courier New" pitchFamily="49" charset="0"/>
                  <a:cs typeface="Courier New" pitchFamily="49" charset="0"/>
                </a:rPr>
                <a:t>     </a:t>
              </a:r>
              <a:r>
                <a:rPr lang="en-US" altLang="ko-KR" sz="1200" b="1" spc="-150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sb.append</a:t>
              </a:r>
              <a:r>
                <a:rPr lang="en-US" altLang="ko-KR" sz="1200" b="1" spc="-150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altLang="ko-KR" sz="1200" b="1" spc="-150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tmp</a:t>
              </a:r>
              <a:r>
                <a:rPr lang="en-US" altLang="ko-KR" sz="1200" b="1" spc="-150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)</a:t>
              </a:r>
              <a:r>
                <a:rPr lang="en-US" altLang="ko-KR" sz="1200" b="1" spc="-150" dirty="0" smtClean="0">
                  <a:latin typeface="Courier New" pitchFamily="49" charset="0"/>
                  <a:cs typeface="Courier New" pitchFamily="49" charset="0"/>
                </a:rPr>
                <a:t>; // accumulator()</a:t>
              </a:r>
              <a:endParaRPr lang="ko-KR" altLang="en-US" sz="1200" b="1" spc="-150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altLang="ko-KR" sz="1200" b="1" spc="-150" dirty="0" smtClean="0">
                  <a:latin typeface="Courier New" pitchFamily="49" charset="0"/>
                  <a:cs typeface="Courier New" pitchFamily="49" charset="0"/>
                </a:rPr>
                <a:t>// finisher()</a:t>
              </a:r>
            </a:p>
            <a:p>
              <a:pPr>
                <a:spcBef>
                  <a:spcPts val="0"/>
                </a:spcBef>
              </a:pPr>
              <a:r>
                <a:rPr lang="en-US" altLang="ko-KR" sz="1200" b="1" spc="-150" dirty="0" smtClean="0">
                  <a:latin typeface="Courier New" pitchFamily="49" charset="0"/>
                  <a:cs typeface="Courier New" pitchFamily="49" charset="0"/>
                </a:rPr>
                <a:t>String result = </a:t>
              </a:r>
              <a:r>
                <a:rPr lang="en-US" altLang="ko-KR" sz="1200" b="1" spc="-150" dirty="0" err="1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sb.toString</a:t>
              </a:r>
              <a:r>
                <a:rPr lang="en-US" altLang="ko-KR" sz="1200" b="1" spc="-150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()</a:t>
              </a:r>
              <a:r>
                <a:rPr lang="en-US" altLang="ko-KR" sz="1200" b="1" spc="-150" dirty="0" smtClean="0">
                  <a:latin typeface="Courier New" pitchFamily="49" charset="0"/>
                  <a:cs typeface="Courier New" pitchFamily="49" charset="0"/>
                </a:rPr>
                <a:t>; </a:t>
              </a:r>
              <a:endParaRPr lang="ko-KR" altLang="en-US" sz="1200" b="1" spc="-150" dirty="0" smtClean="0">
                <a:latin typeface="Courier New" pitchFamily="49" charset="0"/>
                <a:cs typeface="Courier New" pitchFamily="49" charset="0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863600"/>
          </a:xfrm>
          <a:prstGeom prst="rect">
            <a:avLst/>
          </a:prstGeom>
          <a:solidFill>
            <a:srgbClr val="E4D394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576263"/>
            <a:ext cx="8388350" cy="53975"/>
          </a:xfrm>
          <a:prstGeom prst="rect">
            <a:avLst/>
          </a:prstGeom>
          <a:solidFill>
            <a:srgbClr val="81705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883525" y="42863"/>
            <a:ext cx="1368425" cy="722312"/>
            <a:chOff x="3787" y="1570"/>
            <a:chExt cx="862" cy="455"/>
          </a:xfrm>
        </p:grpSpPr>
        <p:sp>
          <p:nvSpPr>
            <p:cNvPr id="3090" name="Text Box 5"/>
            <p:cNvSpPr txBox="1">
              <a:spLocks noChangeArrowheads="1"/>
            </p:cNvSpPr>
            <p:nvPr/>
          </p:nvSpPr>
          <p:spPr bwMode="auto">
            <a:xfrm>
              <a:off x="3787" y="1570"/>
              <a:ext cx="7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2800">
                  <a:latin typeface="Elephant" pitchFamily="18" charset="0"/>
                  <a:ea typeface="굴림" charset="-127"/>
                </a:rPr>
                <a:t>Java</a:t>
              </a:r>
            </a:p>
          </p:txBody>
        </p:sp>
        <p:sp>
          <p:nvSpPr>
            <p:cNvPr id="3091" name="Text Box 6"/>
            <p:cNvSpPr txBox="1">
              <a:spLocks noChangeArrowheads="1"/>
            </p:cNvSpPr>
            <p:nvPr/>
          </p:nvSpPr>
          <p:spPr bwMode="auto">
            <a:xfrm>
              <a:off x="4308" y="1643"/>
              <a:ext cx="34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1600">
                  <a:latin typeface="HY견고딕" pitchFamily="18" charset="-127"/>
                  <a:ea typeface="HY견고딕" pitchFamily="18" charset="-127"/>
                </a:rPr>
                <a:t>의</a:t>
              </a:r>
            </a:p>
          </p:txBody>
        </p:sp>
        <p:sp>
          <p:nvSpPr>
            <p:cNvPr id="3092" name="Text Box 7"/>
            <p:cNvSpPr txBox="1">
              <a:spLocks noChangeArrowheads="1"/>
            </p:cNvSpPr>
            <p:nvPr/>
          </p:nvSpPr>
          <p:spPr bwMode="auto">
            <a:xfrm>
              <a:off x="4121" y="1775"/>
              <a:ext cx="5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2000">
                  <a:latin typeface="바탕" pitchFamily="18" charset="-127"/>
                  <a:ea typeface="HY견고딕" pitchFamily="18" charset="-127"/>
                </a:rPr>
                <a:t>정석</a:t>
              </a:r>
            </a:p>
          </p:txBody>
        </p:sp>
      </p:grp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443663" y="620713"/>
            <a:ext cx="2016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 err="1">
                <a:latin typeface="Courier New" pitchFamily="49" charset="0"/>
                <a:ea typeface="굴림" charset="-127"/>
              </a:rPr>
              <a:t>http://</a:t>
            </a:r>
            <a:r>
              <a:rPr lang="en-US" altLang="ko-KR" sz="1000" b="1" dirty="0" err="1" smtClean="0">
                <a:latin typeface="Courier New" pitchFamily="49" charset="0"/>
                <a:ea typeface="굴림" charset="-127"/>
              </a:rPr>
              <a:t>www.codechobo.com</a:t>
            </a:r>
            <a:endParaRPr lang="en-US" altLang="ko-KR" sz="1000" b="1" dirty="0">
              <a:latin typeface="Courier New" pitchFamily="49" charset="0"/>
              <a:ea typeface="굴림" charset="-127"/>
            </a:endParaRPr>
          </a:p>
        </p:txBody>
      </p:sp>
      <p:sp>
        <p:nvSpPr>
          <p:cNvPr id="3078" name="Text Box 19"/>
          <p:cNvSpPr txBox="1">
            <a:spLocks noChangeArrowheads="1"/>
          </p:cNvSpPr>
          <p:nvPr/>
        </p:nvSpPr>
        <p:spPr bwMode="auto">
          <a:xfrm>
            <a:off x="358775" y="1016000"/>
            <a:ext cx="8569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800" b="1" dirty="0" smtClean="0"/>
              <a:t>2.10  </a:t>
            </a:r>
            <a:r>
              <a:rPr lang="ko-KR" altLang="en-US" sz="2800" b="1" dirty="0" err="1" smtClean="0"/>
              <a:t>스트림의</a:t>
            </a:r>
            <a:r>
              <a:rPr lang="ko-KR" altLang="en-US" sz="2800" b="1" dirty="0" smtClean="0"/>
              <a:t> 변환</a:t>
            </a:r>
            <a:r>
              <a:rPr lang="en-US" altLang="ko-KR" sz="2800" b="1" dirty="0" smtClean="0"/>
              <a:t>(1/2)</a:t>
            </a:r>
            <a:endParaRPr lang="en-US" altLang="ko-KR" sz="2800" b="1" dirty="0"/>
          </a:p>
        </p:txBody>
      </p:sp>
      <p:sp>
        <p:nvSpPr>
          <p:cNvPr id="3089" name="Text Box 9"/>
          <p:cNvSpPr txBox="1">
            <a:spLocks noChangeArrowheads="1"/>
          </p:cNvSpPr>
          <p:nvPr/>
        </p:nvSpPr>
        <p:spPr bwMode="auto">
          <a:xfrm>
            <a:off x="146050" y="188913"/>
            <a:ext cx="5686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Chapter 14. 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람다와 스트림</a:t>
            </a: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(Lambda &amp; Stream)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41421" y="1638829"/>
            <a:ext cx="6061158" cy="5003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863600"/>
          </a:xfrm>
          <a:prstGeom prst="rect">
            <a:avLst/>
          </a:prstGeom>
          <a:solidFill>
            <a:srgbClr val="E4D394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576263"/>
            <a:ext cx="8388350" cy="53975"/>
          </a:xfrm>
          <a:prstGeom prst="rect">
            <a:avLst/>
          </a:prstGeom>
          <a:solidFill>
            <a:srgbClr val="81705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883525" y="42863"/>
            <a:ext cx="1368425" cy="722312"/>
            <a:chOff x="3787" y="1570"/>
            <a:chExt cx="862" cy="455"/>
          </a:xfrm>
        </p:grpSpPr>
        <p:sp>
          <p:nvSpPr>
            <p:cNvPr id="3090" name="Text Box 5"/>
            <p:cNvSpPr txBox="1">
              <a:spLocks noChangeArrowheads="1"/>
            </p:cNvSpPr>
            <p:nvPr/>
          </p:nvSpPr>
          <p:spPr bwMode="auto">
            <a:xfrm>
              <a:off x="3787" y="1570"/>
              <a:ext cx="7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2800">
                  <a:latin typeface="Elephant" pitchFamily="18" charset="0"/>
                  <a:ea typeface="굴림" charset="-127"/>
                </a:rPr>
                <a:t>Java</a:t>
              </a:r>
            </a:p>
          </p:txBody>
        </p:sp>
        <p:sp>
          <p:nvSpPr>
            <p:cNvPr id="3091" name="Text Box 6"/>
            <p:cNvSpPr txBox="1">
              <a:spLocks noChangeArrowheads="1"/>
            </p:cNvSpPr>
            <p:nvPr/>
          </p:nvSpPr>
          <p:spPr bwMode="auto">
            <a:xfrm>
              <a:off x="4308" y="1643"/>
              <a:ext cx="34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1600">
                  <a:latin typeface="HY견고딕" pitchFamily="18" charset="-127"/>
                  <a:ea typeface="HY견고딕" pitchFamily="18" charset="-127"/>
                </a:rPr>
                <a:t>의</a:t>
              </a:r>
            </a:p>
          </p:txBody>
        </p:sp>
        <p:sp>
          <p:nvSpPr>
            <p:cNvPr id="3092" name="Text Box 7"/>
            <p:cNvSpPr txBox="1">
              <a:spLocks noChangeArrowheads="1"/>
            </p:cNvSpPr>
            <p:nvPr/>
          </p:nvSpPr>
          <p:spPr bwMode="auto">
            <a:xfrm>
              <a:off x="4121" y="1775"/>
              <a:ext cx="5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2000">
                  <a:latin typeface="바탕" pitchFamily="18" charset="-127"/>
                  <a:ea typeface="HY견고딕" pitchFamily="18" charset="-127"/>
                </a:rPr>
                <a:t>정석</a:t>
              </a:r>
            </a:p>
          </p:txBody>
        </p:sp>
      </p:grp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443663" y="620713"/>
            <a:ext cx="2016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 err="1">
                <a:latin typeface="Courier New" pitchFamily="49" charset="0"/>
                <a:ea typeface="굴림" charset="-127"/>
              </a:rPr>
              <a:t>http://</a:t>
            </a:r>
            <a:r>
              <a:rPr lang="en-US" altLang="ko-KR" sz="1000" b="1" dirty="0" err="1" smtClean="0">
                <a:latin typeface="Courier New" pitchFamily="49" charset="0"/>
                <a:ea typeface="굴림" charset="-127"/>
              </a:rPr>
              <a:t>www.codechobo.com</a:t>
            </a:r>
            <a:endParaRPr lang="en-US" altLang="ko-KR" sz="1000" b="1" dirty="0">
              <a:latin typeface="Courier New" pitchFamily="49" charset="0"/>
              <a:ea typeface="굴림" charset="-127"/>
            </a:endParaRPr>
          </a:p>
        </p:txBody>
      </p:sp>
      <p:sp>
        <p:nvSpPr>
          <p:cNvPr id="3078" name="Text Box 19"/>
          <p:cNvSpPr txBox="1">
            <a:spLocks noChangeArrowheads="1"/>
          </p:cNvSpPr>
          <p:nvPr/>
        </p:nvSpPr>
        <p:spPr bwMode="auto">
          <a:xfrm>
            <a:off x="358775" y="1016000"/>
            <a:ext cx="8569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800" b="1" dirty="0" smtClean="0"/>
              <a:t>2.10  </a:t>
            </a:r>
            <a:r>
              <a:rPr lang="ko-KR" altLang="en-US" sz="2800" b="1" dirty="0" err="1" smtClean="0"/>
              <a:t>스트림의</a:t>
            </a:r>
            <a:r>
              <a:rPr lang="ko-KR" altLang="en-US" sz="2800" b="1" dirty="0" smtClean="0"/>
              <a:t> 변환</a:t>
            </a:r>
            <a:r>
              <a:rPr lang="en-US" altLang="ko-KR" sz="2800" b="1" dirty="0" smtClean="0"/>
              <a:t>(2/2)</a:t>
            </a:r>
            <a:endParaRPr lang="en-US" altLang="ko-KR" sz="2800" b="1" dirty="0"/>
          </a:p>
        </p:txBody>
      </p:sp>
      <p:sp>
        <p:nvSpPr>
          <p:cNvPr id="3089" name="Text Box 9"/>
          <p:cNvSpPr txBox="1">
            <a:spLocks noChangeArrowheads="1"/>
          </p:cNvSpPr>
          <p:nvPr/>
        </p:nvSpPr>
        <p:spPr bwMode="auto">
          <a:xfrm>
            <a:off x="146050" y="188913"/>
            <a:ext cx="5686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Chapter 14. 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람다와 스트림</a:t>
            </a: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(Lambda &amp; Stream)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41421" y="1603350"/>
            <a:ext cx="6112934" cy="4837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863600"/>
          </a:xfrm>
          <a:prstGeom prst="rect">
            <a:avLst/>
          </a:prstGeom>
          <a:solidFill>
            <a:srgbClr val="E4D394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576263"/>
            <a:ext cx="8388350" cy="53975"/>
          </a:xfrm>
          <a:prstGeom prst="rect">
            <a:avLst/>
          </a:prstGeom>
          <a:solidFill>
            <a:srgbClr val="81705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1400">
              <a:latin typeface="Courier New" pitchFamily="49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883525" y="42863"/>
            <a:ext cx="1368425" cy="722312"/>
            <a:chOff x="3787" y="1570"/>
            <a:chExt cx="862" cy="455"/>
          </a:xfrm>
        </p:grpSpPr>
        <p:sp>
          <p:nvSpPr>
            <p:cNvPr id="3090" name="Text Box 5"/>
            <p:cNvSpPr txBox="1">
              <a:spLocks noChangeArrowheads="1"/>
            </p:cNvSpPr>
            <p:nvPr/>
          </p:nvSpPr>
          <p:spPr bwMode="auto">
            <a:xfrm>
              <a:off x="3787" y="1570"/>
              <a:ext cx="7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2800">
                  <a:latin typeface="Elephant" pitchFamily="18" charset="0"/>
                  <a:ea typeface="굴림" charset="-127"/>
                </a:rPr>
                <a:t>Java</a:t>
              </a:r>
            </a:p>
          </p:txBody>
        </p:sp>
        <p:sp>
          <p:nvSpPr>
            <p:cNvPr id="3091" name="Text Box 6"/>
            <p:cNvSpPr txBox="1">
              <a:spLocks noChangeArrowheads="1"/>
            </p:cNvSpPr>
            <p:nvPr/>
          </p:nvSpPr>
          <p:spPr bwMode="auto">
            <a:xfrm>
              <a:off x="4308" y="1643"/>
              <a:ext cx="34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1600">
                  <a:latin typeface="HY견고딕" pitchFamily="18" charset="-127"/>
                  <a:ea typeface="HY견고딕" pitchFamily="18" charset="-127"/>
                </a:rPr>
                <a:t>의</a:t>
              </a:r>
            </a:p>
          </p:txBody>
        </p:sp>
        <p:sp>
          <p:nvSpPr>
            <p:cNvPr id="3092" name="Text Box 7"/>
            <p:cNvSpPr txBox="1">
              <a:spLocks noChangeArrowheads="1"/>
            </p:cNvSpPr>
            <p:nvPr/>
          </p:nvSpPr>
          <p:spPr bwMode="auto">
            <a:xfrm>
              <a:off x="4121" y="1775"/>
              <a:ext cx="5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ko-KR" altLang="en-US" sz="2000">
                  <a:latin typeface="바탕" pitchFamily="18" charset="-127"/>
                  <a:ea typeface="HY견고딕" pitchFamily="18" charset="-127"/>
                </a:rPr>
                <a:t>정석</a:t>
              </a:r>
            </a:p>
          </p:txBody>
        </p:sp>
      </p:grp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443663" y="620713"/>
            <a:ext cx="2016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 err="1">
                <a:latin typeface="Courier New" pitchFamily="49" charset="0"/>
                <a:ea typeface="굴림" charset="-127"/>
              </a:rPr>
              <a:t>http://</a:t>
            </a:r>
            <a:r>
              <a:rPr lang="en-US" altLang="ko-KR" sz="1000" b="1" dirty="0" err="1" smtClean="0">
                <a:latin typeface="Courier New" pitchFamily="49" charset="0"/>
                <a:ea typeface="굴림" charset="-127"/>
              </a:rPr>
              <a:t>www.codechobo.com</a:t>
            </a:r>
            <a:endParaRPr lang="en-US" altLang="ko-KR" sz="1000" b="1" dirty="0">
              <a:latin typeface="Courier New" pitchFamily="49" charset="0"/>
              <a:ea typeface="굴림" charset="-127"/>
            </a:endParaRPr>
          </a:p>
        </p:txBody>
      </p:sp>
      <p:sp>
        <p:nvSpPr>
          <p:cNvPr id="3089" name="Text Box 9"/>
          <p:cNvSpPr txBox="1">
            <a:spLocks noChangeArrowheads="1"/>
          </p:cNvSpPr>
          <p:nvPr/>
        </p:nvSpPr>
        <p:spPr bwMode="auto">
          <a:xfrm>
            <a:off x="146050" y="188913"/>
            <a:ext cx="5686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Chapter 14. 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람다와 스트림</a:t>
            </a: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(Lambda &amp; Stream)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1376406" y="1457298"/>
            <a:ext cx="6372225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ko-KR" altLang="en-US" sz="6000" dirty="0" smtClean="0"/>
              <a:t> 감사합니다</a:t>
            </a:r>
            <a:r>
              <a:rPr lang="en-US" altLang="ko-KR" sz="9600" dirty="0" smtClean="0"/>
              <a:t>.</a:t>
            </a:r>
            <a:endParaRPr lang="en-US" altLang="ko-KR" sz="9600" dirty="0"/>
          </a:p>
        </p:txBody>
      </p:sp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1376406" y="2991243"/>
            <a:ext cx="6372225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ko-KR" sz="9600" dirty="0" smtClean="0"/>
              <a:t>Q &amp; A</a:t>
            </a:r>
            <a:endParaRPr lang="en-US" altLang="ko-KR" sz="9600" dirty="0"/>
          </a:p>
        </p:txBody>
      </p:sp>
      <p:sp>
        <p:nvSpPr>
          <p:cNvPr id="12" name="Text Box 13"/>
          <p:cNvSpPr txBox="1">
            <a:spLocks noChangeArrowheads="1"/>
          </p:cNvSpPr>
          <p:nvPr/>
        </p:nvSpPr>
        <p:spPr bwMode="auto">
          <a:xfrm>
            <a:off x="1376406" y="4702186"/>
            <a:ext cx="6372225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ko-KR" sz="2000" dirty="0" smtClean="0">
                <a:hlinkClick r:id="rId3"/>
              </a:rPr>
              <a:t>castello@naver.com</a:t>
            </a:r>
            <a:endParaRPr lang="en-US" altLang="ko-KR" sz="2000" dirty="0" smtClean="0"/>
          </a:p>
          <a:p>
            <a:pPr algn="ctr"/>
            <a:r>
              <a:rPr lang="en-US" altLang="ko-KR" sz="2400" dirty="0" err="1" smtClean="0"/>
              <a:t>www.codechobo.com</a:t>
            </a:r>
            <a:endParaRPr lang="en-US" altLang="ko-KR" sz="24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66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449263" marR="0" indent="-449263" algn="l" defTabSz="914400" rtl="0" eaLnBrk="1" fontAlgn="base" latinLnBrk="1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urier New" pitchFamily="49" charset="0"/>
            <a:ea typeface="견명조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66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449263" marR="0" indent="-449263" algn="l" defTabSz="914400" rtl="0" eaLnBrk="1" fontAlgn="base" latinLnBrk="1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urier New" pitchFamily="49" charset="0"/>
            <a:ea typeface="견명조" pitchFamily="18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만추</Template>
  <TotalTime>40931</TotalTime>
  <Words>6536</Words>
  <Application>Microsoft Office PowerPoint</Application>
  <PresentationFormat>화면 슬라이드 쇼(4:3)</PresentationFormat>
  <Paragraphs>1012</Paragraphs>
  <Slides>48</Slides>
  <Notes>48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48</vt:i4>
      </vt:variant>
    </vt:vector>
  </HeadingPairs>
  <TitlesOfParts>
    <vt:vector size="57" baseType="lpstr">
      <vt:lpstr>HY견고딕</vt:lpstr>
      <vt:lpstr>견명조</vt:lpstr>
      <vt:lpstr>굴림</vt:lpstr>
      <vt:lpstr>바탕</vt:lpstr>
      <vt:lpstr>Arial</vt:lpstr>
      <vt:lpstr>Courier New</vt:lpstr>
      <vt:lpstr>Elephant</vt:lpstr>
      <vt:lpstr>Microsoft Yi Baiti</vt:lpstr>
      <vt:lpstr>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Korea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Korean</dc:creator>
  <cp:lastModifiedBy>005</cp:lastModifiedBy>
  <cp:revision>3791</cp:revision>
  <dcterms:created xsi:type="dcterms:W3CDTF">2008-04-13T16:14:11Z</dcterms:created>
  <dcterms:modified xsi:type="dcterms:W3CDTF">2023-07-27T07:37:52Z</dcterms:modified>
</cp:coreProperties>
</file>